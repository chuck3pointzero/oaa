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210" d="100"/>
          <a:sy n="210" d="100"/>
        </p:scale>
        <p:origin x="292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2850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OAA is a file-and-directory convention for organizing multi-agent systems the way companies are organized: agents fill roles, roles require skills, skills use tools, and bounded authority composes automatically down the chain. Host-agnostic — works with Claude Code, Cursor, Copilot, any MCP-compatible host.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analogy is the entry point for non-technical stakeholders. A new hire gets a role — not unlimited access to every system. The role defines what they own, what they decide autonomously, and what they escalate. OAA applies the same model to agents. The escalation default is the key insight: classical allow/deny has two states; OAA has three — permitted, forbidden, and escalate. The third state is what makes agents behave like employees rather than scripts.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all four kinds share one schema, the parser, discovery walk, manifest format, and authority validator are written once and apply to everything. Two valid file forms: directory node (ROLE.md inside a named folder) and flat-file (name.role.md for self-contained nodes). A complex skill that grows sub-skills becomes an agent by changing one frontmatter field.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chain is AGENT→ROLE→SKILL→TOOL→implementation. requires is the only edge and always flows downward. Deduplication: the same skill node required by multiple roles appears once in the lockfile. agents use fills as a semantic alias; skills use allowed-tools. Both resolve identically.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authority block unifies guardrails (tool never), ownership statements (role owns), and escalation thresholds — all in one vocabulary. Place each constraint at the ONE layer that owns it. The "unlisted defaults to escalate" rule prevents vacuum-filling and permission-waiting simultaneously — the third verdict that classical allow/deny systems lack.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correction from earlier versions of this deck: "reorganize freely" was wrong. Moving a role or skill requires updating every requires field that points to it. agents.lock keys are resolved URIs (file://./roles/budget-steward/ROLE.md) not declared names. CLAUDE.md at the root is the OAA entry point — it tells AI assistants the convention for everything below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ontology is optional — most OAA graphs work without it. It becomes valuable when multiple roles need to agree on what "UnderachievingCampaign" means, or when a role needs query results without repeating API calls. Skills write entities. Roles query concepts. Never the other way around — this separates data access from decision-making. The SQLite store lives at memory/ontology.db, excluded from agents.lock hashing. Requires Node 22.5+ (--experimental-sqlite).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onboarding mistake: opening AGENTS.md and editing it directly. The next compile_agent call overwrites those edits silently. AGENTS.md is output, not input. CLAUDE.md IS the OAA skill — installed via npx skills add, not authored by the user. It is what makes an AI assistant aware of OAA and able to compile agents. The compact rewrite (Pass 2): when models:[tiny] is set, compile_agent writes AGENTS.orig.md as the full narrative backup, then get_compact_prompt_template drives a rewrite that strips rationale while keeping every tool name and env var verbatim. COMPANY.md is the prompt intended for humans, not LLMs.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compile_agent produces both AGENTS.md (the LLM system prompt payload) AND mcp-config.json (the tool configuration). Both are required to run an agent correctly. The agents.lock key format changed in v0.4.0 from declared names to resolved URI paths — delete old lockfile and re-run compile_agent when upgrading. run_agent reads AGENTS.md and passes it as the system prompt, so you can test immediately from the MCP interface. CI recommended: gate on validate_graph before merging any node changes.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Meta Ads example exercises every OAA pattern: shared skill (performance-audit), watcher role (account-sentinel with decides:[]), named tool (all never rules consolidated at the tool layer), and the authority intersection in action. Three roles because spending money, making creative, and watching the account escalate to DIFFERENT humans. The "new geography" case demonstrates default escalation — an unlisted action that routes to decisions/ log.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node is the only kind with these six top-level fields. The key insight about the absent authority block: it is the design. Splitting an agent (different schedules, different models, different reviewing humans) is trivially a one-line fills change because the agent carries none of the policy. models:[tiny] triggers Pass 2 compact rewriting — the goal is a smaller AGENTS.md footprint without dropping any tool names, env vars, or never rules.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non-negotiables are the core of the v0.4.0 release — OAA now documents these remote-executor constraints explicitly. For teams evaluating executor: remote: the gateway question is the first evaluation criterion. If the tool infrastructure does not enforce never rules at the call level, executor: remote provides behavioral guidelines, not guarantees. models:[tiny] + executor: remote = compact prompts on small-context or cost-optimized models — compile_agent fires Pass 2 before dispatch.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AGENTS.md is not a record of the compile — it IS the payload. One trigger → one payload → one autonomous run → exit. mcp-config.json is compiler-generated by merging server/mcp.json from every required tool in the chain — never hand-authored. Scheduling (cron, GitHub Actions, Windows Task Scheduler) is out of scope for OAA; any host that can run the command on schedule satisfies the contract.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65A82"/>
          </a:solidFill>
          <a:ln/>
        </p:spPr>
      </p:sp>
      <p:sp>
        <p:nvSpPr>
          <p:cNvPr id="3" name="Text 1"/>
          <p:cNvSpPr/>
          <p:nvPr/>
        </p:nvSpPr>
        <p:spPr>
          <a:xfrm>
            <a:off x="5669280" y="45720"/>
            <a:ext cx="3291840" cy="1828800"/>
          </a:xfrm>
          <a:prstGeom prst="rect">
            <a:avLst/>
          </a:prstGeom>
          <a:noFill/>
          <a:ln/>
        </p:spPr>
        <p:txBody>
          <a:bodyPr wrap="square" lIns="0" tIns="0" rIns="0" bIns="0" rtlCol="0" anchor="ctr"/>
          <a:lstStyle/>
          <a:p>
            <a:pPr marL="0" indent="0" algn="r">
              <a:buNone/>
            </a:pPr>
            <a:r>
              <a:rPr lang="en-US" sz="11000" b="1" dirty="0">
                <a:solidFill>
                  <a:srgbClr val="0A3D5C">
                    <a:alpha val="60000"/>
                  </a:srgbClr>
                </a:solidFill>
                <a:latin typeface="Cambria" pitchFamily="34" charset="0"/>
                <a:ea typeface="Cambria" pitchFamily="34" charset="-122"/>
                <a:cs typeface="Cambria" pitchFamily="34" charset="-120"/>
              </a:rPr>
              <a:t>OAA</a:t>
            </a:r>
            <a:endParaRPr lang="en-US" sz="11000" dirty="0"/>
          </a:p>
        </p:txBody>
      </p:sp>
      <p:sp>
        <p:nvSpPr>
          <p:cNvPr id="4" name="Text 2"/>
          <p:cNvSpPr/>
          <p:nvPr/>
        </p:nvSpPr>
        <p:spPr>
          <a:xfrm>
            <a:off x="502920" y="914400"/>
            <a:ext cx="7772400" cy="2194560"/>
          </a:xfrm>
          <a:prstGeom prst="rect">
            <a:avLst/>
          </a:prstGeom>
          <a:noFill/>
          <a:ln/>
        </p:spPr>
        <p:txBody>
          <a:bodyPr wrap="square" lIns="0" tIns="0" rIns="0" bIns="0" rtlCol="0" anchor="ctr"/>
          <a:lstStyle/>
          <a:p>
            <a:pPr marL="0" indent="0" algn="l">
              <a:lnSpc>
                <a:spcPct val="115000"/>
              </a:lnSpc>
              <a:buNone/>
            </a:pPr>
            <a:r>
              <a:rPr lang="en-US" sz="4600" b="1" dirty="0">
                <a:solidFill>
                  <a:srgbClr val="FFFFFF"/>
                </a:solidFill>
                <a:latin typeface="Cambria" pitchFamily="34" charset="0"/>
                <a:ea typeface="Cambria" pitchFamily="34" charset="-122"/>
                <a:cs typeface="Cambria" pitchFamily="34" charset="-120"/>
              </a:rPr>
              <a:t>Organizational</a:t>
            </a:r>
            <a:endParaRPr lang="en-US" sz="4600" dirty="0"/>
          </a:p>
          <a:p>
            <a:pPr marL="0" indent="0" algn="l">
              <a:lnSpc>
                <a:spcPct val="115000"/>
              </a:lnSpc>
              <a:buNone/>
            </a:pPr>
            <a:r>
              <a:rPr lang="en-US" sz="4600" b="1" dirty="0">
                <a:solidFill>
                  <a:srgbClr val="FFFFFF"/>
                </a:solidFill>
                <a:latin typeface="Cambria" pitchFamily="34" charset="0"/>
                <a:ea typeface="Cambria" pitchFamily="34" charset="-122"/>
                <a:cs typeface="Cambria" pitchFamily="34" charset="-120"/>
              </a:rPr>
              <a:t>Agent Architecture</a:t>
            </a:r>
            <a:endParaRPr lang="en-US" sz="4600" dirty="0"/>
          </a:p>
        </p:txBody>
      </p:sp>
      <p:sp>
        <p:nvSpPr>
          <p:cNvPr id="5" name="Text 3"/>
          <p:cNvSpPr/>
          <p:nvPr/>
        </p:nvSpPr>
        <p:spPr>
          <a:xfrm>
            <a:off x="502920" y="3246120"/>
            <a:ext cx="7315200" cy="502920"/>
          </a:xfrm>
          <a:prstGeom prst="rect">
            <a:avLst/>
          </a:prstGeom>
          <a:noFill/>
          <a:ln/>
        </p:spPr>
        <p:txBody>
          <a:bodyPr wrap="square" lIns="0" tIns="0" rIns="0" bIns="0" rtlCol="0" anchor="ctr"/>
          <a:lstStyle/>
          <a:p>
            <a:pPr marL="0" indent="0" algn="l">
              <a:buNone/>
            </a:pPr>
            <a:r>
              <a:rPr lang="en-US" sz="1800" i="1" dirty="0">
                <a:solidFill>
                  <a:srgbClr val="02C39A"/>
                </a:solidFill>
                <a:latin typeface="Calibri" pitchFamily="34" charset="0"/>
                <a:ea typeface="Calibri" pitchFamily="34" charset="-122"/>
                <a:cs typeface="Calibri" pitchFamily="34" charset="-120"/>
              </a:rPr>
              <a:t>Structure your agents like you structure your company</a:t>
            </a:r>
            <a:endParaRPr lang="en-US" sz="1800" dirty="0"/>
          </a:p>
        </p:txBody>
      </p:sp>
      <p:sp>
        <p:nvSpPr>
          <p:cNvPr id="6" name="Shape 4"/>
          <p:cNvSpPr/>
          <p:nvPr/>
        </p:nvSpPr>
        <p:spPr>
          <a:xfrm>
            <a:off x="6400800" y="3931920"/>
            <a:ext cx="2468880" cy="868680"/>
          </a:xfrm>
          <a:prstGeom prst="rect">
            <a:avLst/>
          </a:prstGeom>
          <a:solidFill>
            <a:srgbClr val="043F5D"/>
          </a:solidFill>
          <a:ln/>
        </p:spPr>
        <p:txBody>
          <a:bodyPr/>
          <a:lstStyle/>
          <a:p>
            <a:endParaRPr lang="en-US" dirty="0"/>
          </a:p>
        </p:txBody>
      </p:sp>
      <p:sp>
        <p:nvSpPr>
          <p:cNvPr id="7" name="Text 5"/>
          <p:cNvSpPr/>
          <p:nvPr/>
        </p:nvSpPr>
        <p:spPr>
          <a:xfrm>
            <a:off x="6446520" y="3977640"/>
            <a:ext cx="2377440" cy="274320"/>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Developed by</a:t>
            </a:r>
            <a:endParaRPr lang="en-US" sz="1100" dirty="0"/>
          </a:p>
        </p:txBody>
      </p:sp>
      <p:sp>
        <p:nvSpPr>
          <p:cNvPr id="8" name="Text 6"/>
          <p:cNvSpPr/>
          <p:nvPr/>
        </p:nvSpPr>
        <p:spPr>
          <a:xfrm>
            <a:off x="6446520" y="4251960"/>
            <a:ext cx="2377440" cy="256032"/>
          </a:xfrm>
          <a:prstGeom prst="rect">
            <a:avLst/>
          </a:prstGeom>
          <a:noFill/>
          <a:ln/>
        </p:spPr>
        <p:txBody>
          <a:bodyPr wrap="square" lIns="0" tIns="0" rIns="0" bIns="0" rtlCol="0" anchor="ctr"/>
          <a:lstStyle/>
          <a:p>
            <a:pPr marL="0" indent="0">
              <a:buNone/>
            </a:pPr>
            <a:r>
              <a:rPr lang="en-US" sz="900" dirty="0">
                <a:solidFill>
                  <a:srgbClr val="6B8FAE"/>
                </a:solidFill>
                <a:latin typeface="Calibri" pitchFamily="34" charset="0"/>
                <a:ea typeface="Calibri" pitchFamily="34" charset="-122"/>
                <a:cs typeface="Calibri" pitchFamily="34" charset="-120"/>
              </a:rPr>
              <a:t>	Chuck Kosta, D. Sc.</a:t>
            </a:r>
            <a:endParaRPr lang="en-US" sz="900" dirty="0"/>
          </a:p>
        </p:txBody>
      </p:sp>
      <p:sp>
        <p:nvSpPr>
          <p:cNvPr id="9" name="Text 7"/>
          <p:cNvSpPr/>
          <p:nvPr/>
        </p:nvSpPr>
        <p:spPr>
          <a:xfrm>
            <a:off x="7955280" y="4892040"/>
            <a:ext cx="914400" cy="182880"/>
          </a:xfrm>
          <a:prstGeom prst="rect">
            <a:avLst/>
          </a:prstGeom>
          <a:noFill/>
          <a:ln/>
        </p:spPr>
        <p:txBody>
          <a:bodyPr wrap="square" lIns="0" tIns="0" rIns="0" bIns="0" rtlCol="0" anchor="ctr"/>
          <a:lstStyle/>
          <a:p>
            <a:pPr marL="0" indent="0" algn="r">
              <a:buNone/>
            </a:pPr>
            <a:r>
              <a:rPr lang="en-US" sz="900" dirty="0">
                <a:solidFill>
                  <a:srgbClr val="6B8FAE"/>
                </a:solidFill>
                <a:latin typeface="Calibri" pitchFamily="34" charset="0"/>
                <a:ea typeface="Calibri" pitchFamily="34" charset="-122"/>
                <a:cs typeface="Calibri" pitchFamily="34" charset="-120"/>
              </a:rPr>
              <a:t>v0.4.0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FF6FB"/>
          </a:solidFill>
          <a:ln/>
        </p:spPr>
      </p:sp>
      <p:sp>
        <p:nvSpPr>
          <p:cNvPr id="3" name="Text 1"/>
          <p:cNvSpPr/>
          <p:nvPr/>
        </p:nvSpPr>
        <p:spPr>
          <a:xfrm>
            <a:off x="457200" y="256032"/>
            <a:ext cx="8229600" cy="594360"/>
          </a:xfrm>
          <a:prstGeom prst="rect">
            <a:avLst/>
          </a:prstGeom>
          <a:noFill/>
          <a:ln/>
        </p:spPr>
        <p:txBody>
          <a:bodyPr wrap="square" lIns="0" tIns="0" rIns="0" bIns="0" rtlCol="0" anchor="ctr"/>
          <a:lstStyle/>
          <a:p>
            <a:pPr marL="0" indent="0" algn="l">
              <a:buNone/>
            </a:pPr>
            <a:r>
              <a:rPr lang="en-US" sz="3600" b="1" dirty="0">
                <a:solidFill>
                  <a:srgbClr val="065A82"/>
                </a:solidFill>
                <a:latin typeface="Cambria" pitchFamily="34" charset="0"/>
                <a:ea typeface="Cambria" pitchFamily="34" charset="-122"/>
                <a:cs typeface="Cambria" pitchFamily="34" charset="-120"/>
              </a:rPr>
              <a:t>Structuring Your Business</a:t>
            </a:r>
            <a:endParaRPr lang="en-US" sz="3600" dirty="0"/>
          </a:p>
        </p:txBody>
      </p:sp>
      <p:sp>
        <p:nvSpPr>
          <p:cNvPr id="4" name="Text 2"/>
          <p:cNvSpPr/>
          <p:nvPr/>
        </p:nvSpPr>
        <p:spPr>
          <a:xfrm>
            <a:off x="457200" y="886968"/>
            <a:ext cx="8229600" cy="274320"/>
          </a:xfrm>
          <a:prstGeom prst="rect">
            <a:avLst/>
          </a:prstGeom>
          <a:noFill/>
          <a:ln/>
        </p:spPr>
        <p:txBody>
          <a:bodyPr wrap="square" lIns="0" tIns="0" rIns="0" bIns="0" rtlCol="0" anchor="ctr"/>
          <a:lstStyle/>
          <a:p>
            <a:pPr marL="0" indent="0">
              <a:buNone/>
            </a:pPr>
            <a:r>
              <a:rPr lang="en-US" sz="1300" i="1" dirty="0">
                <a:solidFill>
                  <a:srgbClr val="1C7293"/>
                </a:solidFill>
                <a:latin typeface="Calibri" pitchFamily="34" charset="0"/>
                <a:ea typeface="Calibri" pitchFamily="34" charset="-122"/>
                <a:cs typeface="Calibri" pitchFamily="34" charset="-120"/>
              </a:rPr>
              <a:t>Workers fill roles. Roles require skills. You already know this model.</a:t>
            </a:r>
            <a:endParaRPr lang="en-US" sz="1300" dirty="0"/>
          </a:p>
        </p:txBody>
      </p:sp>
      <p:sp>
        <p:nvSpPr>
          <p:cNvPr id="5" name="Text 3"/>
          <p:cNvSpPr/>
          <p:nvPr/>
        </p:nvSpPr>
        <p:spPr>
          <a:xfrm>
            <a:off x="457200" y="1261872"/>
            <a:ext cx="2926080" cy="274320"/>
          </a:xfrm>
          <a:prstGeom prst="rect">
            <a:avLst/>
          </a:prstGeom>
          <a:noFill/>
          <a:ln/>
        </p:spPr>
        <p:txBody>
          <a:bodyPr wrap="square" lIns="0" tIns="0" rIns="0" bIns="0"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In your business</a:t>
            </a:r>
            <a:endParaRPr lang="en-US" sz="1200" dirty="0"/>
          </a:p>
        </p:txBody>
      </p:sp>
      <p:sp>
        <p:nvSpPr>
          <p:cNvPr id="6" name="Text 4"/>
          <p:cNvSpPr/>
          <p:nvPr/>
        </p:nvSpPr>
        <p:spPr>
          <a:xfrm>
            <a:off x="3931920" y="1261872"/>
            <a:ext cx="2926080" cy="274320"/>
          </a:xfrm>
          <a:prstGeom prst="rect">
            <a:avLst/>
          </a:prstGeom>
          <a:noFill/>
          <a:ln/>
        </p:spPr>
        <p:txBody>
          <a:bodyPr wrap="square" lIns="0" tIns="0" rIns="0" bIns="0"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In OAA</a:t>
            </a:r>
            <a:endParaRPr lang="en-US" sz="1200" dirty="0"/>
          </a:p>
        </p:txBody>
      </p:sp>
      <p:sp>
        <p:nvSpPr>
          <p:cNvPr id="7" name="Shape 5"/>
          <p:cNvSpPr/>
          <p:nvPr/>
        </p:nvSpPr>
        <p:spPr>
          <a:xfrm>
            <a:off x="457200" y="1609344"/>
            <a:ext cx="2926080" cy="347472"/>
          </a:xfrm>
          <a:prstGeom prst="rect">
            <a:avLst/>
          </a:prstGeom>
          <a:solidFill>
            <a:srgbClr val="065A82"/>
          </a:solidFill>
          <a:ln/>
        </p:spPr>
      </p:sp>
      <p:sp>
        <p:nvSpPr>
          <p:cNvPr id="8" name="Text 6"/>
          <p:cNvSpPr/>
          <p:nvPr/>
        </p:nvSpPr>
        <p:spPr>
          <a:xfrm>
            <a:off x="548640" y="1609344"/>
            <a:ext cx="274320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Worker</a:t>
            </a:r>
            <a:endParaRPr lang="en-US" sz="1200" dirty="0"/>
          </a:p>
        </p:txBody>
      </p:sp>
      <p:sp>
        <p:nvSpPr>
          <p:cNvPr id="9" name="Text 7"/>
          <p:cNvSpPr/>
          <p:nvPr/>
        </p:nvSpPr>
        <p:spPr>
          <a:xfrm>
            <a:off x="3429000" y="1609344"/>
            <a:ext cx="457200" cy="347472"/>
          </a:xfrm>
          <a:prstGeom prst="rect">
            <a:avLst/>
          </a:prstGeom>
          <a:noFill/>
          <a:ln/>
        </p:spPr>
        <p:txBody>
          <a:bodyPr wrap="square" lIns="0" tIns="0" rIns="0" bIns="0" rtlCol="0" anchor="ctr"/>
          <a:lstStyle/>
          <a:p>
            <a:pPr marL="0" indent="0" algn="ctr">
              <a:buNone/>
            </a:pPr>
            <a:r>
              <a:rPr lang="en-US" sz="1800" dirty="0">
                <a:solidFill>
                  <a:srgbClr val="6B8FAE"/>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3931920" y="1609344"/>
            <a:ext cx="2926080" cy="347472"/>
          </a:xfrm>
          <a:prstGeom prst="rect">
            <a:avLst/>
          </a:prstGeom>
          <a:solidFill>
            <a:srgbClr val="065A82"/>
          </a:solidFill>
          <a:ln/>
        </p:spPr>
      </p:sp>
      <p:sp>
        <p:nvSpPr>
          <p:cNvPr id="11" name="Text 9"/>
          <p:cNvSpPr/>
          <p:nvPr/>
        </p:nvSpPr>
        <p:spPr>
          <a:xfrm>
            <a:off x="4023360" y="1609344"/>
            <a:ext cx="2743200" cy="347472"/>
          </a:xfrm>
          <a:prstGeom prst="rect">
            <a:avLst/>
          </a:prstGeom>
          <a:noFill/>
          <a:ln/>
        </p:spPr>
        <p:txBody>
          <a:bodyPr wrap="square" lIns="0" tIns="0" rIns="0" bIns="0" rtlCol="0" anchor="ctr"/>
          <a:lstStyle/>
          <a:p>
            <a:pPr marL="0" indent="0">
              <a:buNone/>
            </a:pPr>
            <a:r>
              <a:rPr lang="en-US" sz="1200" b="1" dirty="0">
                <a:solidFill>
                  <a:srgbClr val="FFFFFF"/>
                </a:solidFill>
                <a:latin typeface="Courier New" pitchFamily="34" charset="0"/>
                <a:ea typeface="Courier New" pitchFamily="34" charset="-122"/>
                <a:cs typeface="Courier New" pitchFamily="34" charset="-120"/>
              </a:rPr>
              <a:t>Agent</a:t>
            </a:r>
            <a:endParaRPr lang="en-US" sz="1200" dirty="0"/>
          </a:p>
        </p:txBody>
      </p:sp>
      <p:sp>
        <p:nvSpPr>
          <p:cNvPr id="12" name="Shape 10"/>
          <p:cNvSpPr/>
          <p:nvPr/>
        </p:nvSpPr>
        <p:spPr>
          <a:xfrm>
            <a:off x="457200" y="2084832"/>
            <a:ext cx="2926080" cy="347472"/>
          </a:xfrm>
          <a:prstGeom prst="rect">
            <a:avLst/>
          </a:prstGeom>
          <a:solidFill>
            <a:srgbClr val="1C7293"/>
          </a:solidFill>
          <a:ln/>
        </p:spPr>
      </p:sp>
      <p:sp>
        <p:nvSpPr>
          <p:cNvPr id="13" name="Text 11"/>
          <p:cNvSpPr/>
          <p:nvPr/>
        </p:nvSpPr>
        <p:spPr>
          <a:xfrm>
            <a:off x="548640" y="2084832"/>
            <a:ext cx="274320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Role</a:t>
            </a:r>
            <a:endParaRPr lang="en-US" sz="1200" dirty="0"/>
          </a:p>
        </p:txBody>
      </p:sp>
      <p:sp>
        <p:nvSpPr>
          <p:cNvPr id="14" name="Text 12"/>
          <p:cNvSpPr/>
          <p:nvPr/>
        </p:nvSpPr>
        <p:spPr>
          <a:xfrm>
            <a:off x="3429000" y="2084832"/>
            <a:ext cx="457200" cy="347472"/>
          </a:xfrm>
          <a:prstGeom prst="rect">
            <a:avLst/>
          </a:prstGeom>
          <a:noFill/>
          <a:ln/>
        </p:spPr>
        <p:txBody>
          <a:bodyPr wrap="square" lIns="0" tIns="0" rIns="0" bIns="0" rtlCol="0" anchor="ctr"/>
          <a:lstStyle/>
          <a:p>
            <a:pPr marL="0" indent="0" algn="ctr">
              <a:buNone/>
            </a:pPr>
            <a:r>
              <a:rPr lang="en-US" sz="1800" dirty="0">
                <a:solidFill>
                  <a:srgbClr val="6B8FAE"/>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3931920" y="2084832"/>
            <a:ext cx="2926080" cy="347472"/>
          </a:xfrm>
          <a:prstGeom prst="rect">
            <a:avLst/>
          </a:prstGeom>
          <a:solidFill>
            <a:srgbClr val="1C7293"/>
          </a:solidFill>
          <a:ln/>
        </p:spPr>
      </p:sp>
      <p:sp>
        <p:nvSpPr>
          <p:cNvPr id="16" name="Text 14"/>
          <p:cNvSpPr/>
          <p:nvPr/>
        </p:nvSpPr>
        <p:spPr>
          <a:xfrm>
            <a:off x="4023360" y="2084832"/>
            <a:ext cx="2743200" cy="347472"/>
          </a:xfrm>
          <a:prstGeom prst="rect">
            <a:avLst/>
          </a:prstGeom>
          <a:noFill/>
          <a:ln/>
        </p:spPr>
        <p:txBody>
          <a:bodyPr wrap="square" lIns="0" tIns="0" rIns="0" bIns="0" rtlCol="0" anchor="ctr"/>
          <a:lstStyle/>
          <a:p>
            <a:pPr marL="0" indent="0">
              <a:buNone/>
            </a:pPr>
            <a:r>
              <a:rPr lang="en-US" sz="1200" b="1" dirty="0">
                <a:solidFill>
                  <a:srgbClr val="FFFFFF"/>
                </a:solidFill>
                <a:latin typeface="Courier New" pitchFamily="34" charset="0"/>
                <a:ea typeface="Courier New" pitchFamily="34" charset="-122"/>
                <a:cs typeface="Courier New" pitchFamily="34" charset="-120"/>
              </a:rPr>
              <a:t>ROLE.md</a:t>
            </a:r>
            <a:endParaRPr lang="en-US" sz="1200" dirty="0"/>
          </a:p>
        </p:txBody>
      </p:sp>
      <p:sp>
        <p:nvSpPr>
          <p:cNvPr id="17" name="Shape 15"/>
          <p:cNvSpPr/>
          <p:nvPr/>
        </p:nvSpPr>
        <p:spPr>
          <a:xfrm>
            <a:off x="457200" y="2560320"/>
            <a:ext cx="2926080" cy="347472"/>
          </a:xfrm>
          <a:prstGeom prst="rect">
            <a:avLst/>
          </a:prstGeom>
          <a:solidFill>
            <a:srgbClr val="028090"/>
          </a:solidFill>
          <a:ln/>
        </p:spPr>
      </p:sp>
      <p:sp>
        <p:nvSpPr>
          <p:cNvPr id="18" name="Text 16"/>
          <p:cNvSpPr/>
          <p:nvPr/>
        </p:nvSpPr>
        <p:spPr>
          <a:xfrm>
            <a:off x="548640" y="2560320"/>
            <a:ext cx="274320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Skill</a:t>
            </a:r>
            <a:endParaRPr lang="en-US" sz="1200" dirty="0"/>
          </a:p>
        </p:txBody>
      </p:sp>
      <p:sp>
        <p:nvSpPr>
          <p:cNvPr id="19" name="Text 17"/>
          <p:cNvSpPr/>
          <p:nvPr/>
        </p:nvSpPr>
        <p:spPr>
          <a:xfrm>
            <a:off x="3429000" y="2560320"/>
            <a:ext cx="457200" cy="347472"/>
          </a:xfrm>
          <a:prstGeom prst="rect">
            <a:avLst/>
          </a:prstGeom>
          <a:noFill/>
          <a:ln/>
        </p:spPr>
        <p:txBody>
          <a:bodyPr wrap="square" lIns="0" tIns="0" rIns="0" bIns="0" rtlCol="0" anchor="ctr"/>
          <a:lstStyle/>
          <a:p>
            <a:pPr marL="0" indent="0" algn="ctr">
              <a:buNone/>
            </a:pPr>
            <a:r>
              <a:rPr lang="en-US" sz="1800" dirty="0">
                <a:solidFill>
                  <a:srgbClr val="6B8FAE"/>
                </a:solidFill>
                <a:latin typeface="Calibri" pitchFamily="34" charset="0"/>
                <a:ea typeface="Calibri" pitchFamily="34" charset="-122"/>
                <a:cs typeface="Calibri" pitchFamily="34" charset="-120"/>
              </a:rPr>
              <a:t>→</a:t>
            </a:r>
            <a:endParaRPr lang="en-US" sz="1800" dirty="0"/>
          </a:p>
        </p:txBody>
      </p:sp>
      <p:sp>
        <p:nvSpPr>
          <p:cNvPr id="20" name="Shape 18"/>
          <p:cNvSpPr/>
          <p:nvPr/>
        </p:nvSpPr>
        <p:spPr>
          <a:xfrm>
            <a:off x="3931920" y="2560320"/>
            <a:ext cx="2926080" cy="347472"/>
          </a:xfrm>
          <a:prstGeom prst="rect">
            <a:avLst/>
          </a:prstGeom>
          <a:solidFill>
            <a:srgbClr val="028090"/>
          </a:solidFill>
          <a:ln/>
        </p:spPr>
      </p:sp>
      <p:sp>
        <p:nvSpPr>
          <p:cNvPr id="21" name="Text 19"/>
          <p:cNvSpPr/>
          <p:nvPr/>
        </p:nvSpPr>
        <p:spPr>
          <a:xfrm>
            <a:off x="4023360" y="2560320"/>
            <a:ext cx="2743200" cy="347472"/>
          </a:xfrm>
          <a:prstGeom prst="rect">
            <a:avLst/>
          </a:prstGeom>
          <a:noFill/>
          <a:ln/>
        </p:spPr>
        <p:txBody>
          <a:bodyPr wrap="square" lIns="0" tIns="0" rIns="0" bIns="0" rtlCol="0" anchor="ctr"/>
          <a:lstStyle/>
          <a:p>
            <a:pPr marL="0" indent="0">
              <a:buNone/>
            </a:pPr>
            <a:r>
              <a:rPr lang="en-US" sz="1200" b="1" dirty="0">
                <a:solidFill>
                  <a:srgbClr val="FFFFFF"/>
                </a:solidFill>
                <a:latin typeface="Courier New" pitchFamily="34" charset="0"/>
                <a:ea typeface="Courier New" pitchFamily="34" charset="-122"/>
                <a:cs typeface="Courier New" pitchFamily="34" charset="-120"/>
              </a:rPr>
              <a:t>SKILL.md</a:t>
            </a:r>
            <a:endParaRPr lang="en-US" sz="1200" dirty="0"/>
          </a:p>
        </p:txBody>
      </p:sp>
      <p:sp>
        <p:nvSpPr>
          <p:cNvPr id="22" name="Shape 20"/>
          <p:cNvSpPr/>
          <p:nvPr/>
        </p:nvSpPr>
        <p:spPr>
          <a:xfrm>
            <a:off x="457200" y="3035808"/>
            <a:ext cx="2926080" cy="347472"/>
          </a:xfrm>
          <a:prstGeom prst="rect">
            <a:avLst/>
          </a:prstGeom>
          <a:solidFill>
            <a:srgbClr val="02A585"/>
          </a:solidFill>
          <a:ln/>
        </p:spPr>
      </p:sp>
      <p:sp>
        <p:nvSpPr>
          <p:cNvPr id="23" name="Text 21"/>
          <p:cNvSpPr/>
          <p:nvPr/>
        </p:nvSpPr>
        <p:spPr>
          <a:xfrm>
            <a:off x="548640" y="3035808"/>
            <a:ext cx="274320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Tool / System</a:t>
            </a:r>
            <a:endParaRPr lang="en-US" sz="1200" dirty="0"/>
          </a:p>
        </p:txBody>
      </p:sp>
      <p:sp>
        <p:nvSpPr>
          <p:cNvPr id="24" name="Text 22"/>
          <p:cNvSpPr/>
          <p:nvPr/>
        </p:nvSpPr>
        <p:spPr>
          <a:xfrm>
            <a:off x="3429000" y="3035808"/>
            <a:ext cx="457200" cy="347472"/>
          </a:xfrm>
          <a:prstGeom prst="rect">
            <a:avLst/>
          </a:prstGeom>
          <a:noFill/>
          <a:ln/>
        </p:spPr>
        <p:txBody>
          <a:bodyPr wrap="square" lIns="0" tIns="0" rIns="0" bIns="0" rtlCol="0" anchor="ctr"/>
          <a:lstStyle/>
          <a:p>
            <a:pPr marL="0" indent="0" algn="ctr">
              <a:buNone/>
            </a:pPr>
            <a:r>
              <a:rPr lang="en-US" sz="1800" dirty="0">
                <a:solidFill>
                  <a:srgbClr val="6B8FAE"/>
                </a:solidFill>
                <a:latin typeface="Calibri" pitchFamily="34" charset="0"/>
                <a:ea typeface="Calibri" pitchFamily="34" charset="-122"/>
                <a:cs typeface="Calibri" pitchFamily="34" charset="-120"/>
              </a:rPr>
              <a:t>→</a:t>
            </a:r>
            <a:endParaRPr lang="en-US" sz="1800" dirty="0"/>
          </a:p>
        </p:txBody>
      </p:sp>
      <p:sp>
        <p:nvSpPr>
          <p:cNvPr id="25" name="Shape 23"/>
          <p:cNvSpPr/>
          <p:nvPr/>
        </p:nvSpPr>
        <p:spPr>
          <a:xfrm>
            <a:off x="3931920" y="3035808"/>
            <a:ext cx="2926080" cy="347472"/>
          </a:xfrm>
          <a:prstGeom prst="rect">
            <a:avLst/>
          </a:prstGeom>
          <a:solidFill>
            <a:srgbClr val="02A585"/>
          </a:solidFill>
          <a:ln/>
        </p:spPr>
      </p:sp>
      <p:sp>
        <p:nvSpPr>
          <p:cNvPr id="26" name="Text 24"/>
          <p:cNvSpPr/>
          <p:nvPr/>
        </p:nvSpPr>
        <p:spPr>
          <a:xfrm>
            <a:off x="4023360" y="3035808"/>
            <a:ext cx="2743200" cy="347472"/>
          </a:xfrm>
          <a:prstGeom prst="rect">
            <a:avLst/>
          </a:prstGeom>
          <a:noFill/>
          <a:ln/>
        </p:spPr>
        <p:txBody>
          <a:bodyPr wrap="square" lIns="0" tIns="0" rIns="0" bIns="0" rtlCol="0" anchor="ctr"/>
          <a:lstStyle/>
          <a:p>
            <a:pPr marL="0" indent="0">
              <a:buNone/>
            </a:pPr>
            <a:r>
              <a:rPr lang="en-US" sz="1200" b="1" dirty="0">
                <a:solidFill>
                  <a:srgbClr val="FFFFFF"/>
                </a:solidFill>
                <a:latin typeface="Courier New" pitchFamily="34" charset="0"/>
                <a:ea typeface="Courier New" pitchFamily="34" charset="-122"/>
                <a:cs typeface="Courier New" pitchFamily="34" charset="-120"/>
              </a:rPr>
              <a:t>TOOL.md</a:t>
            </a:r>
            <a:endParaRPr lang="en-US" sz="1200" dirty="0"/>
          </a:p>
        </p:txBody>
      </p:sp>
      <p:sp>
        <p:nvSpPr>
          <p:cNvPr id="27" name="Shape 25"/>
          <p:cNvSpPr/>
          <p:nvPr/>
        </p:nvSpPr>
        <p:spPr>
          <a:xfrm>
            <a:off x="457200" y="3511296"/>
            <a:ext cx="2926080" cy="347472"/>
          </a:xfrm>
          <a:prstGeom prst="rect">
            <a:avLst/>
          </a:prstGeom>
          <a:solidFill>
            <a:srgbClr val="065A82"/>
          </a:solidFill>
          <a:ln/>
        </p:spPr>
      </p:sp>
      <p:sp>
        <p:nvSpPr>
          <p:cNvPr id="28" name="Text 26"/>
          <p:cNvSpPr/>
          <p:nvPr/>
        </p:nvSpPr>
        <p:spPr>
          <a:xfrm>
            <a:off x="548640" y="3511296"/>
            <a:ext cx="274320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Job description</a:t>
            </a:r>
            <a:endParaRPr lang="en-US" sz="1200" dirty="0"/>
          </a:p>
        </p:txBody>
      </p:sp>
      <p:sp>
        <p:nvSpPr>
          <p:cNvPr id="29" name="Text 27"/>
          <p:cNvSpPr/>
          <p:nvPr/>
        </p:nvSpPr>
        <p:spPr>
          <a:xfrm>
            <a:off x="3429000" y="3511296"/>
            <a:ext cx="457200" cy="347472"/>
          </a:xfrm>
          <a:prstGeom prst="rect">
            <a:avLst/>
          </a:prstGeom>
          <a:noFill/>
          <a:ln/>
        </p:spPr>
        <p:txBody>
          <a:bodyPr wrap="square" lIns="0" tIns="0" rIns="0" bIns="0" rtlCol="0" anchor="ctr"/>
          <a:lstStyle/>
          <a:p>
            <a:pPr marL="0" indent="0" algn="ctr">
              <a:buNone/>
            </a:pPr>
            <a:r>
              <a:rPr lang="en-US" sz="1800" dirty="0">
                <a:solidFill>
                  <a:srgbClr val="6B8FAE"/>
                </a:solidFill>
                <a:latin typeface="Calibri" pitchFamily="34" charset="0"/>
                <a:ea typeface="Calibri" pitchFamily="34" charset="-122"/>
                <a:cs typeface="Calibri" pitchFamily="34" charset="-120"/>
              </a:rPr>
              <a:t>→</a:t>
            </a:r>
            <a:endParaRPr lang="en-US" sz="1800" dirty="0"/>
          </a:p>
        </p:txBody>
      </p:sp>
      <p:sp>
        <p:nvSpPr>
          <p:cNvPr id="30" name="Shape 28"/>
          <p:cNvSpPr/>
          <p:nvPr/>
        </p:nvSpPr>
        <p:spPr>
          <a:xfrm>
            <a:off x="3931920" y="3511296"/>
            <a:ext cx="2926080" cy="347472"/>
          </a:xfrm>
          <a:prstGeom prst="rect">
            <a:avLst/>
          </a:prstGeom>
          <a:solidFill>
            <a:srgbClr val="065A82"/>
          </a:solidFill>
          <a:ln/>
        </p:spPr>
      </p:sp>
      <p:sp>
        <p:nvSpPr>
          <p:cNvPr id="31" name="Text 29"/>
          <p:cNvSpPr/>
          <p:nvPr/>
        </p:nvSpPr>
        <p:spPr>
          <a:xfrm>
            <a:off x="4023360" y="3511296"/>
            <a:ext cx="2743200" cy="347472"/>
          </a:xfrm>
          <a:prstGeom prst="rect">
            <a:avLst/>
          </a:prstGeom>
          <a:noFill/>
          <a:ln/>
        </p:spPr>
        <p:txBody>
          <a:bodyPr wrap="square" lIns="0" tIns="0" rIns="0" bIns="0" rtlCol="0" anchor="ctr"/>
          <a:lstStyle/>
          <a:p>
            <a:pPr marL="0" indent="0">
              <a:buNone/>
            </a:pPr>
            <a:r>
              <a:rPr lang="en-US" sz="1200" b="1" dirty="0">
                <a:solidFill>
                  <a:srgbClr val="FFFFFF"/>
                </a:solidFill>
                <a:latin typeface="Courier New" pitchFamily="34" charset="0"/>
                <a:ea typeface="Courier New" pitchFamily="34" charset="-122"/>
                <a:cs typeface="Courier New" pitchFamily="34" charset="-120"/>
              </a:rPr>
              <a:t>authority block</a:t>
            </a:r>
            <a:endParaRPr lang="en-US" sz="1200" dirty="0"/>
          </a:p>
        </p:txBody>
      </p:sp>
      <p:sp>
        <p:nvSpPr>
          <p:cNvPr id="32" name="Shape 30"/>
          <p:cNvSpPr/>
          <p:nvPr/>
        </p:nvSpPr>
        <p:spPr>
          <a:xfrm>
            <a:off x="457200" y="3986784"/>
            <a:ext cx="2926080" cy="347472"/>
          </a:xfrm>
          <a:prstGeom prst="rect">
            <a:avLst/>
          </a:prstGeom>
          <a:solidFill>
            <a:srgbClr val="1C7293"/>
          </a:solidFill>
          <a:ln/>
        </p:spPr>
      </p:sp>
      <p:sp>
        <p:nvSpPr>
          <p:cNvPr id="33" name="Text 31"/>
          <p:cNvSpPr/>
          <p:nvPr/>
        </p:nvSpPr>
        <p:spPr>
          <a:xfrm>
            <a:off x="548640" y="3986784"/>
            <a:ext cx="274320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Org chart</a:t>
            </a:r>
            <a:endParaRPr lang="en-US" sz="1200" dirty="0"/>
          </a:p>
        </p:txBody>
      </p:sp>
      <p:sp>
        <p:nvSpPr>
          <p:cNvPr id="34" name="Text 32"/>
          <p:cNvSpPr/>
          <p:nvPr/>
        </p:nvSpPr>
        <p:spPr>
          <a:xfrm>
            <a:off x="3429000" y="3986784"/>
            <a:ext cx="457200" cy="347472"/>
          </a:xfrm>
          <a:prstGeom prst="rect">
            <a:avLst/>
          </a:prstGeom>
          <a:noFill/>
          <a:ln/>
        </p:spPr>
        <p:txBody>
          <a:bodyPr wrap="square" lIns="0" tIns="0" rIns="0" bIns="0" rtlCol="0" anchor="ctr"/>
          <a:lstStyle/>
          <a:p>
            <a:pPr marL="0" indent="0" algn="ctr">
              <a:buNone/>
            </a:pPr>
            <a:r>
              <a:rPr lang="en-US" sz="1800" dirty="0">
                <a:solidFill>
                  <a:srgbClr val="6B8FAE"/>
                </a:solidFill>
                <a:latin typeface="Calibri" pitchFamily="34" charset="0"/>
                <a:ea typeface="Calibri" pitchFamily="34" charset="-122"/>
                <a:cs typeface="Calibri" pitchFamily="34" charset="-120"/>
              </a:rPr>
              <a:t>→</a:t>
            </a:r>
            <a:endParaRPr lang="en-US" sz="1800" dirty="0"/>
          </a:p>
        </p:txBody>
      </p:sp>
      <p:sp>
        <p:nvSpPr>
          <p:cNvPr id="35" name="Shape 33"/>
          <p:cNvSpPr/>
          <p:nvPr/>
        </p:nvSpPr>
        <p:spPr>
          <a:xfrm>
            <a:off x="3931920" y="3986784"/>
            <a:ext cx="2926080" cy="347472"/>
          </a:xfrm>
          <a:prstGeom prst="rect">
            <a:avLst/>
          </a:prstGeom>
          <a:solidFill>
            <a:srgbClr val="1C7293"/>
          </a:solidFill>
          <a:ln/>
        </p:spPr>
      </p:sp>
      <p:sp>
        <p:nvSpPr>
          <p:cNvPr id="36" name="Text 34"/>
          <p:cNvSpPr/>
          <p:nvPr/>
        </p:nvSpPr>
        <p:spPr>
          <a:xfrm>
            <a:off x="4023360" y="3986784"/>
            <a:ext cx="2743200" cy="347472"/>
          </a:xfrm>
          <a:prstGeom prst="rect">
            <a:avLst/>
          </a:prstGeom>
          <a:noFill/>
          <a:ln/>
        </p:spPr>
        <p:txBody>
          <a:bodyPr wrap="square" lIns="0" tIns="0" rIns="0" bIns="0" rtlCol="0" anchor="ctr"/>
          <a:lstStyle/>
          <a:p>
            <a:pPr marL="0" indent="0">
              <a:buNone/>
            </a:pPr>
            <a:r>
              <a:rPr lang="en-US" sz="1200" b="1" dirty="0">
                <a:solidFill>
                  <a:srgbClr val="FFFFFF"/>
                </a:solidFill>
                <a:latin typeface="Courier New" pitchFamily="34" charset="0"/>
                <a:ea typeface="Courier New" pitchFamily="34" charset="-122"/>
                <a:cs typeface="Courier New" pitchFamily="34" charset="-120"/>
              </a:rPr>
              <a:t>agents.lock</a:t>
            </a:r>
            <a:endParaRPr lang="en-US" sz="1200" dirty="0"/>
          </a:p>
        </p:txBody>
      </p:sp>
      <p:sp>
        <p:nvSpPr>
          <p:cNvPr id="37" name="Shape 35"/>
          <p:cNvSpPr/>
          <p:nvPr/>
        </p:nvSpPr>
        <p:spPr>
          <a:xfrm>
            <a:off x="7086600" y="1234440"/>
            <a:ext cx="1828800" cy="3749040"/>
          </a:xfrm>
          <a:prstGeom prst="rect">
            <a:avLst/>
          </a:prstGeom>
          <a:solidFill>
            <a:srgbClr val="0D1B2A"/>
          </a:solidFill>
          <a:ln/>
        </p:spPr>
      </p:sp>
      <p:sp>
        <p:nvSpPr>
          <p:cNvPr id="38" name="Text 36"/>
          <p:cNvSpPr/>
          <p:nvPr/>
        </p:nvSpPr>
        <p:spPr>
          <a:xfrm>
            <a:off x="7178040" y="1371600"/>
            <a:ext cx="1645920" cy="274320"/>
          </a:xfrm>
          <a:prstGeom prst="rect">
            <a:avLst/>
          </a:prstGeom>
          <a:noFill/>
          <a:ln/>
        </p:spPr>
        <p:txBody>
          <a:bodyPr wrap="square" lIns="0" tIns="0" rIns="0" bIns="0" rtlCol="0" anchor="ctr"/>
          <a:lstStyle/>
          <a:p>
            <a:pPr marL="0" indent="0">
              <a:buNone/>
            </a:pPr>
            <a:r>
              <a:rPr lang="en-US" sz="1000" b="1" dirty="0">
                <a:solidFill>
                  <a:srgbClr val="E05252"/>
                </a:solidFill>
                <a:latin typeface="Calibri" pitchFamily="34" charset="0"/>
                <a:ea typeface="Calibri" pitchFamily="34" charset="-122"/>
                <a:cs typeface="Calibri" pitchFamily="34" charset="-120"/>
              </a:rPr>
              <a:t>Without this structure:</a:t>
            </a:r>
            <a:endParaRPr lang="en-US" sz="1000" dirty="0"/>
          </a:p>
        </p:txBody>
      </p:sp>
      <p:sp>
        <p:nvSpPr>
          <p:cNvPr id="39" name="Text 37"/>
          <p:cNvSpPr/>
          <p:nvPr/>
        </p:nvSpPr>
        <p:spPr>
          <a:xfrm>
            <a:off x="7178040" y="1682496"/>
            <a:ext cx="1645920" cy="822960"/>
          </a:xfrm>
          <a:prstGeom prst="rect">
            <a:avLst/>
          </a:prstGeom>
          <a:noFill/>
          <a:ln/>
        </p:spPr>
        <p:txBody>
          <a:bodyPr wrap="square" lIns="0" tIns="0" rIns="0" bIns="0" rtlCol="0" anchor="ctr"/>
          <a:lstStyle/>
          <a:p>
            <a:pPr marL="0" indent="0">
              <a:buNone/>
            </a:pPr>
            <a:r>
              <a:rPr lang="en-US" sz="950" dirty="0">
                <a:solidFill>
                  <a:srgbClr val="6B8FAE"/>
                </a:solidFill>
                <a:latin typeface="Calibri" pitchFamily="34" charset="0"/>
                <a:ea typeface="Calibri" pitchFamily="34" charset="-122"/>
                <a:cs typeface="Calibri" pitchFamily="34" charset="-120"/>
              </a:rPr>
              <a:t>Agents vacuum-fill everything they can reach — or freeze waiting for permission that never arrives.</a:t>
            </a:r>
            <a:endParaRPr lang="en-US" sz="950" dirty="0"/>
          </a:p>
        </p:txBody>
      </p:sp>
      <p:sp>
        <p:nvSpPr>
          <p:cNvPr id="40" name="Text 38"/>
          <p:cNvSpPr/>
          <p:nvPr/>
        </p:nvSpPr>
        <p:spPr>
          <a:xfrm>
            <a:off x="7178040" y="2651760"/>
            <a:ext cx="1645920" cy="256032"/>
          </a:xfrm>
          <a:prstGeom prst="rect">
            <a:avLst/>
          </a:prstGeom>
          <a:noFill/>
          <a:ln/>
        </p:spPr>
        <p:txBody>
          <a:bodyPr wrap="square" lIns="0" tIns="0" rIns="0" bIns="0" rtlCol="0" anchor="ctr"/>
          <a:lstStyle/>
          <a:p>
            <a:pPr marL="0" indent="0">
              <a:buNone/>
            </a:pPr>
            <a:r>
              <a:rPr lang="en-US" sz="1000" b="1" dirty="0">
                <a:solidFill>
                  <a:srgbClr val="02C39A"/>
                </a:solidFill>
                <a:latin typeface="Calibri" pitchFamily="34" charset="0"/>
                <a:ea typeface="Calibri" pitchFamily="34" charset="-122"/>
                <a:cs typeface="Calibri" pitchFamily="34" charset="-120"/>
              </a:rPr>
              <a:t>OAA's third verdict:</a:t>
            </a:r>
            <a:endParaRPr lang="en-US" sz="1000" dirty="0"/>
          </a:p>
        </p:txBody>
      </p:sp>
      <p:sp>
        <p:nvSpPr>
          <p:cNvPr id="41" name="Text 39"/>
          <p:cNvSpPr/>
          <p:nvPr/>
        </p:nvSpPr>
        <p:spPr>
          <a:xfrm>
            <a:off x="7178040" y="2944368"/>
            <a:ext cx="1645920" cy="402336"/>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escalate</a:t>
            </a:r>
            <a:endParaRPr lang="en-US" sz="2200" dirty="0"/>
          </a:p>
        </p:txBody>
      </p:sp>
      <p:sp>
        <p:nvSpPr>
          <p:cNvPr id="42" name="Text 40"/>
          <p:cNvSpPr/>
          <p:nvPr/>
        </p:nvSpPr>
        <p:spPr>
          <a:xfrm>
            <a:off x="7178040" y="3401568"/>
            <a:ext cx="1645920" cy="1005840"/>
          </a:xfrm>
          <a:prstGeom prst="rect">
            <a:avLst/>
          </a:prstGeom>
          <a:noFill/>
          <a:ln/>
        </p:spPr>
        <p:txBody>
          <a:bodyPr wrap="square" lIns="0" tIns="0" rIns="0" bIns="0" rtlCol="0" anchor="ctr"/>
          <a:lstStyle/>
          <a:p>
            <a:pPr marL="0" indent="0">
              <a:buNone/>
            </a:pPr>
            <a:r>
              <a:rPr lang="en-US" sz="950" dirty="0">
                <a:solidFill>
                  <a:srgbClr val="6B8FAE"/>
                </a:solidFill>
                <a:latin typeface="Calibri" pitchFamily="34" charset="0"/>
                <a:ea typeface="Calibri" pitchFamily="34" charset="-122"/>
                <a:cs typeface="Calibri" pitchFamily="34" charset="-120"/>
              </a:rPr>
              <a:t>Not forbidden. Not permitted. Asked about. What a new employee does on day one.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Text 1"/>
          <p:cNvSpPr/>
          <p:nvPr/>
        </p:nvSpPr>
        <p:spPr>
          <a:xfrm>
            <a:off x="457200" y="256032"/>
            <a:ext cx="8229600" cy="594360"/>
          </a:xfrm>
          <a:prstGeom prst="rect">
            <a:avLst/>
          </a:prstGeom>
          <a:noFill/>
          <a:ln/>
        </p:spPr>
        <p:txBody>
          <a:bodyPr wrap="square" lIns="0" tIns="0" rIns="0" bIns="0" rtlCol="0" anchor="ctr"/>
          <a:lstStyle/>
          <a:p>
            <a:pPr marL="0" indent="0" algn="l">
              <a:buNone/>
            </a:pPr>
            <a:r>
              <a:rPr lang="en-US" sz="3600" b="1" dirty="0">
                <a:solidFill>
                  <a:srgbClr val="065A82"/>
                </a:solidFill>
                <a:latin typeface="Cambria" pitchFamily="34" charset="0"/>
                <a:ea typeface="Cambria" pitchFamily="34" charset="-122"/>
                <a:cs typeface="Cambria" pitchFamily="34" charset="-120"/>
              </a:rPr>
              <a:t>Roles, Skills, and Tools (oh my)</a:t>
            </a:r>
            <a:endParaRPr lang="en-US" sz="3600" dirty="0"/>
          </a:p>
        </p:txBody>
      </p:sp>
      <p:sp>
        <p:nvSpPr>
          <p:cNvPr id="4" name="Text 2"/>
          <p:cNvSpPr/>
          <p:nvPr/>
        </p:nvSpPr>
        <p:spPr>
          <a:xfrm>
            <a:off x="457200" y="886968"/>
            <a:ext cx="8229600" cy="274320"/>
          </a:xfrm>
          <a:prstGeom prst="rect">
            <a:avLst/>
          </a:prstGeom>
          <a:noFill/>
          <a:ln/>
        </p:spPr>
        <p:txBody>
          <a:bodyPr wrap="square" lIns="0" tIns="0" rIns="0" bIns="0" rtlCol="0" anchor="ctr"/>
          <a:lstStyle/>
          <a:p>
            <a:pPr marL="0" indent="0">
              <a:buNone/>
            </a:pPr>
            <a:r>
              <a:rPr lang="en-US" sz="1300" i="1" dirty="0">
                <a:solidFill>
                  <a:srgbClr val="1C7293"/>
                </a:solidFill>
                <a:latin typeface="Calibri" pitchFamily="34" charset="0"/>
                <a:ea typeface="Calibri" pitchFamily="34" charset="-122"/>
                <a:cs typeface="Calibri" pitchFamily="34" charset="-120"/>
              </a:rPr>
              <a:t>Every node shares one frontmatter schema. The kind: field is all that changes.</a:t>
            </a:r>
            <a:endParaRPr lang="en-US" sz="1300" dirty="0"/>
          </a:p>
        </p:txBody>
      </p:sp>
      <p:sp>
        <p:nvSpPr>
          <p:cNvPr id="5" name="Shape 3"/>
          <p:cNvSpPr/>
          <p:nvPr/>
        </p:nvSpPr>
        <p:spPr>
          <a:xfrm>
            <a:off x="5029200" y="1234440"/>
            <a:ext cx="3840480" cy="2651760"/>
          </a:xfrm>
          <a:prstGeom prst="rect">
            <a:avLst/>
          </a:prstGeom>
          <a:solidFill>
            <a:srgbClr val="0D1B2A"/>
          </a:solidFill>
          <a:ln/>
        </p:spPr>
      </p:sp>
      <p:sp>
        <p:nvSpPr>
          <p:cNvPr id="6" name="Text 4"/>
          <p:cNvSpPr/>
          <p:nvPr/>
        </p:nvSpPr>
        <p:spPr>
          <a:xfrm>
            <a:off x="5166360" y="1353312"/>
            <a:ext cx="3566160" cy="2423160"/>
          </a:xfrm>
          <a:prstGeom prst="rect">
            <a:avLst/>
          </a:prstGeom>
          <a:noFill/>
          <a:ln/>
        </p:spPr>
        <p:txBody>
          <a:bodyPr wrap="square" lIns="0" tIns="0" rIns="0" bIns="0" rtlCol="0" anchor="t"/>
          <a:lstStyle/>
          <a:p>
            <a:pPr marL="0" indent="0">
              <a:buNone/>
            </a:pPr>
            <a:r>
              <a:rPr lang="en-US" sz="950" b="1" dirty="0">
                <a:solidFill>
                  <a:srgbClr val="1C7293"/>
                </a:solidFill>
                <a:latin typeface="Courier New" pitchFamily="34" charset="0"/>
                <a:ea typeface="Courier New" pitchFamily="34" charset="-122"/>
                <a:cs typeface="Courier New" pitchFamily="34" charset="-120"/>
              </a:rPr>
              <a:t>kind:</a:t>
            </a:r>
            <a:r>
              <a:rPr lang="en-US" sz="950" dirty="0">
                <a:solidFill>
                  <a:srgbClr val="CCDDEE"/>
                </a:solidFill>
                <a:latin typeface="Courier New" pitchFamily="34" charset="0"/>
                <a:ea typeface="Courier New" pitchFamily="34" charset="-122"/>
                <a:cs typeface="Courier New" pitchFamily="34" charset="-120"/>
              </a:rPr>
              <a:t> agent | role | skill | tool
</a:t>
            </a:r>
            <a:r>
              <a:rPr lang="en-US" sz="950" b="1" dirty="0">
                <a:solidFill>
                  <a:srgbClr val="1C7293"/>
                </a:solidFill>
                <a:latin typeface="Courier New" pitchFamily="34" charset="0"/>
                <a:ea typeface="Courier New" pitchFamily="34" charset="-122"/>
                <a:cs typeface="Courier New" pitchFamily="34" charset="-120"/>
              </a:rPr>
              <a:t>name:</a:t>
            </a:r>
            <a:r>
              <a:rPr lang="en-US" sz="950" dirty="0">
                <a:solidFill>
                  <a:srgbClr val="CCDDEE"/>
                </a:solidFill>
                <a:latin typeface="Courier New" pitchFamily="34" charset="0"/>
                <a:ea typeface="Courier New" pitchFamily="34" charset="-122"/>
                <a:cs typeface="Courier New" pitchFamily="34" charset="-120"/>
              </a:rPr>
              <a:t> audience-manager
</a:t>
            </a:r>
            <a:r>
              <a:rPr lang="en-US" sz="950" b="1" dirty="0">
                <a:solidFill>
                  <a:srgbClr val="1C7293"/>
                </a:solidFill>
                <a:latin typeface="Courier New" pitchFamily="34" charset="0"/>
                <a:ea typeface="Courier New" pitchFamily="34" charset="-122"/>
                <a:cs typeface="Courier New" pitchFamily="34" charset="-120"/>
              </a:rPr>
              <a:t>description:</a:t>
            </a:r>
            <a:r>
              <a:rPr lang="en-US" sz="950" dirty="0">
                <a:solidFill>
                  <a:srgbClr val="CCDDEE"/>
                </a:solidFill>
                <a:latin typeface="Courier New" pitchFamily="34" charset="0"/>
                <a:ea typeface="Courier New" pitchFamily="34" charset="-122"/>
                <a:cs typeface="Courier New" pitchFamily="34" charset="-120"/>
              </a:rPr>
              <a:t> Owns subscriber relationship.
</a:t>
            </a:r>
            <a:r>
              <a:rPr lang="en-US" sz="950" b="1" dirty="0">
                <a:solidFill>
                  <a:srgbClr val="1C7293"/>
                </a:solidFill>
                <a:latin typeface="Courier New" pitchFamily="34" charset="0"/>
                <a:ea typeface="Courier New" pitchFamily="34" charset="-122"/>
                <a:cs typeface="Courier New" pitchFamily="34" charset="-120"/>
              </a:rPr>
              <a:t>requires:
</a:t>
            </a:r>
            <a:r>
              <a:rPr lang="en-US" sz="950" dirty="0">
                <a:solidFill>
                  <a:srgbClr val="CCDDEE"/>
                </a:solidFill>
                <a:latin typeface="Courier New" pitchFamily="34" charset="0"/>
                <a:ea typeface="Courier New" pitchFamily="34" charset="-122"/>
                <a:cs typeface="Courier New" pitchFamily="34" charset="-120"/>
              </a:rPr>
              <a:t>  - ../../skills/audience-growth
</a:t>
            </a:r>
            <a:r>
              <a:rPr lang="en-US" sz="950" b="1" dirty="0">
                <a:solidFill>
                  <a:srgbClr val="1C7293"/>
                </a:solidFill>
                <a:latin typeface="Courier New" pitchFamily="34" charset="0"/>
                <a:ea typeface="Courier New" pitchFamily="34" charset="-122"/>
                <a:cs typeface="Courier New" pitchFamily="34" charset="-120"/>
              </a:rPr>
              <a:t>authority:
</a:t>
            </a:r>
            <a:r>
              <a:rPr lang="en-US" sz="950" dirty="0">
                <a:solidFill>
                  <a:srgbClr val="CCDDEE"/>
                </a:solidFill>
                <a:latin typeface="Courier New" pitchFamily="34" charset="0"/>
                <a:ea typeface="Courier New" pitchFamily="34" charset="-122"/>
                <a:cs typeface="Courier New" pitchFamily="34" charset="-120"/>
              </a:rPr>
              <a:t>  owns: [subscriber-list]
  decides: [send-time]
  escalates: [monthly-spend]
</a:t>
            </a:r>
            <a:r>
              <a:rPr lang="en-US" sz="950" dirty="0">
                <a:solidFill>
                  <a:srgbClr val="E05252"/>
                </a:solidFill>
                <a:latin typeface="Courier New" pitchFamily="34" charset="0"/>
                <a:ea typeface="Courier New" pitchFamily="34" charset="-122"/>
                <a:cs typeface="Courier New" pitchFamily="34" charset="-120"/>
              </a:rPr>
              <a:t>  never: [share-pii]
</a:t>
            </a:r>
            <a:endParaRPr lang="en-US" sz="950" dirty="0"/>
          </a:p>
        </p:txBody>
      </p:sp>
      <p:sp>
        <p:nvSpPr>
          <p:cNvPr id="7" name="Shape 5"/>
          <p:cNvSpPr/>
          <p:nvPr/>
        </p:nvSpPr>
        <p:spPr>
          <a:xfrm>
            <a:off x="457200" y="1234440"/>
            <a:ext cx="2011680" cy="1609344"/>
          </a:xfrm>
          <a:prstGeom prst="rect">
            <a:avLst/>
          </a:prstGeom>
          <a:solidFill>
            <a:srgbClr val="065A82"/>
          </a:solidFill>
          <a:ln/>
        </p:spPr>
      </p:sp>
      <p:sp>
        <p:nvSpPr>
          <p:cNvPr id="8" name="Text 6"/>
          <p:cNvSpPr/>
          <p:nvPr/>
        </p:nvSpPr>
        <p:spPr>
          <a:xfrm>
            <a:off x="566928" y="1325880"/>
            <a:ext cx="1828800" cy="347472"/>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AGENT</a:t>
            </a:r>
            <a:endParaRPr lang="en-US" sz="1800" dirty="0"/>
          </a:p>
        </p:txBody>
      </p:sp>
      <p:sp>
        <p:nvSpPr>
          <p:cNvPr id="9" name="Text 7"/>
          <p:cNvSpPr/>
          <p:nvPr/>
        </p:nvSpPr>
        <p:spPr>
          <a:xfrm>
            <a:off x="566928" y="1691640"/>
            <a:ext cx="1828800" cy="256032"/>
          </a:xfrm>
          <a:prstGeom prst="rect">
            <a:avLst/>
          </a:prstGeom>
          <a:noFill/>
          <a:ln/>
        </p:spPr>
        <p:txBody>
          <a:bodyPr wrap="square" lIns="0" tIns="0" rIns="0" bIns="0" rtlCol="0" anchor="ctr"/>
          <a:lstStyle/>
          <a:p>
            <a:pPr marL="0" indent="0">
              <a:buNone/>
            </a:pPr>
            <a:r>
              <a:rPr lang="en-US" sz="850" dirty="0">
                <a:solidFill>
                  <a:srgbClr val="AADDEE"/>
                </a:solidFill>
                <a:latin typeface="Courier New" pitchFamily="34" charset="0"/>
                <a:ea typeface="Courier New" pitchFamily="34" charset="-122"/>
                <a:cs typeface="Courier New" pitchFamily="34" charset="-120"/>
              </a:rPr>
              <a:t>fills / memory/</a:t>
            </a:r>
            <a:endParaRPr lang="en-US" sz="850" dirty="0"/>
          </a:p>
        </p:txBody>
      </p:sp>
      <p:sp>
        <p:nvSpPr>
          <p:cNvPr id="10" name="Text 8"/>
          <p:cNvSpPr/>
          <p:nvPr/>
        </p:nvSpPr>
        <p:spPr>
          <a:xfrm>
            <a:off x="566928" y="2002536"/>
            <a:ext cx="1828800" cy="768096"/>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Runner. Fills roles. Carries memory, schedule, model. Inherits all authority from its roles.</a:t>
            </a:r>
            <a:endParaRPr lang="en-US" sz="950" dirty="0"/>
          </a:p>
        </p:txBody>
      </p:sp>
      <p:sp>
        <p:nvSpPr>
          <p:cNvPr id="11" name="Shape 9"/>
          <p:cNvSpPr/>
          <p:nvPr/>
        </p:nvSpPr>
        <p:spPr>
          <a:xfrm>
            <a:off x="2578608" y="1234440"/>
            <a:ext cx="2011680" cy="1609344"/>
          </a:xfrm>
          <a:prstGeom prst="rect">
            <a:avLst/>
          </a:prstGeom>
          <a:solidFill>
            <a:srgbClr val="1C7293"/>
          </a:solidFill>
          <a:ln/>
        </p:spPr>
      </p:sp>
      <p:sp>
        <p:nvSpPr>
          <p:cNvPr id="12" name="Text 10"/>
          <p:cNvSpPr/>
          <p:nvPr/>
        </p:nvSpPr>
        <p:spPr>
          <a:xfrm>
            <a:off x="2688336" y="1325880"/>
            <a:ext cx="1828800" cy="347472"/>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ROLE</a:t>
            </a:r>
            <a:endParaRPr lang="en-US" sz="1800" dirty="0"/>
          </a:p>
        </p:txBody>
      </p:sp>
      <p:sp>
        <p:nvSpPr>
          <p:cNvPr id="13" name="Text 11"/>
          <p:cNvSpPr/>
          <p:nvPr/>
        </p:nvSpPr>
        <p:spPr>
          <a:xfrm>
            <a:off x="2688336" y="1691640"/>
            <a:ext cx="1828800" cy="256032"/>
          </a:xfrm>
          <a:prstGeom prst="rect">
            <a:avLst/>
          </a:prstGeom>
          <a:noFill/>
          <a:ln/>
        </p:spPr>
        <p:txBody>
          <a:bodyPr wrap="square" lIns="0" tIns="0" rIns="0" bIns="0" rtlCol="0" anchor="ctr"/>
          <a:lstStyle/>
          <a:p>
            <a:pPr marL="0" indent="0">
              <a:buNone/>
            </a:pPr>
            <a:r>
              <a:rPr lang="en-US" sz="850" dirty="0">
                <a:solidFill>
                  <a:srgbClr val="AADDEE"/>
                </a:solidFill>
                <a:latin typeface="Courier New" pitchFamily="34" charset="0"/>
                <a:ea typeface="Courier New" pitchFamily="34" charset="-122"/>
                <a:cs typeface="Courier New" pitchFamily="34" charset="-120"/>
              </a:rPr>
              <a:t>owns / decisions/</a:t>
            </a:r>
            <a:endParaRPr lang="en-US" sz="850" dirty="0"/>
          </a:p>
        </p:txBody>
      </p:sp>
      <p:sp>
        <p:nvSpPr>
          <p:cNvPr id="14" name="Text 12"/>
          <p:cNvSpPr/>
          <p:nvPr/>
        </p:nvSpPr>
        <p:spPr>
          <a:xfrm>
            <a:off x="2688336" y="2002536"/>
            <a:ext cx="1828800" cy="768096"/>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Accountability. Owns a domain. Declares decides, escalates, and never boundaries.</a:t>
            </a:r>
            <a:endParaRPr lang="en-US" sz="950" dirty="0"/>
          </a:p>
        </p:txBody>
      </p:sp>
      <p:sp>
        <p:nvSpPr>
          <p:cNvPr id="15" name="Shape 13"/>
          <p:cNvSpPr/>
          <p:nvPr/>
        </p:nvSpPr>
        <p:spPr>
          <a:xfrm>
            <a:off x="457200" y="2944368"/>
            <a:ext cx="2011680" cy="1609344"/>
          </a:xfrm>
          <a:prstGeom prst="rect">
            <a:avLst/>
          </a:prstGeom>
          <a:solidFill>
            <a:srgbClr val="028090"/>
          </a:solidFill>
          <a:ln/>
        </p:spPr>
      </p:sp>
      <p:sp>
        <p:nvSpPr>
          <p:cNvPr id="16" name="Text 14"/>
          <p:cNvSpPr/>
          <p:nvPr/>
        </p:nvSpPr>
        <p:spPr>
          <a:xfrm>
            <a:off x="566928" y="3035808"/>
            <a:ext cx="1828800" cy="347472"/>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SKILL</a:t>
            </a:r>
            <a:endParaRPr lang="en-US" sz="1800" dirty="0"/>
          </a:p>
        </p:txBody>
      </p:sp>
      <p:sp>
        <p:nvSpPr>
          <p:cNvPr id="17" name="Text 15"/>
          <p:cNvSpPr/>
          <p:nvPr/>
        </p:nvSpPr>
        <p:spPr>
          <a:xfrm>
            <a:off x="566928" y="3401568"/>
            <a:ext cx="1828800" cy="256032"/>
          </a:xfrm>
          <a:prstGeom prst="rect">
            <a:avLst/>
          </a:prstGeom>
          <a:noFill/>
          <a:ln/>
        </p:spPr>
        <p:txBody>
          <a:bodyPr wrap="square" lIns="0" tIns="0" rIns="0" bIns="0" rtlCol="0" anchor="ctr"/>
          <a:lstStyle/>
          <a:p>
            <a:pPr marL="0" indent="0">
              <a:buNone/>
            </a:pPr>
            <a:r>
              <a:rPr lang="en-US" sz="850" dirty="0">
                <a:solidFill>
                  <a:srgbClr val="AADDEE"/>
                </a:solidFill>
                <a:latin typeface="Courier New" pitchFamily="34" charset="0"/>
                <a:ea typeface="Courier New" pitchFamily="34" charset="-122"/>
                <a:cs typeface="Courier New" pitchFamily="34" charset="-120"/>
              </a:rPr>
              <a:t>allowed-tools / scripts/</a:t>
            </a:r>
            <a:endParaRPr lang="en-US" sz="850" dirty="0"/>
          </a:p>
        </p:txBody>
      </p:sp>
      <p:sp>
        <p:nvSpPr>
          <p:cNvPr id="18" name="Text 16"/>
          <p:cNvSpPr/>
          <p:nvPr/>
        </p:nvSpPr>
        <p:spPr>
          <a:xfrm>
            <a:off x="566928" y="3712464"/>
            <a:ext cx="1828800" cy="768096"/>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Procedure. Steps and workflow. References the tools it needs. agentskills.io compatible.</a:t>
            </a:r>
            <a:endParaRPr lang="en-US" sz="950" dirty="0"/>
          </a:p>
        </p:txBody>
      </p:sp>
      <p:sp>
        <p:nvSpPr>
          <p:cNvPr id="19" name="Shape 17"/>
          <p:cNvSpPr/>
          <p:nvPr/>
        </p:nvSpPr>
        <p:spPr>
          <a:xfrm>
            <a:off x="2578608" y="2944368"/>
            <a:ext cx="2011680" cy="1609344"/>
          </a:xfrm>
          <a:prstGeom prst="rect">
            <a:avLst/>
          </a:prstGeom>
          <a:solidFill>
            <a:srgbClr val="02C39A"/>
          </a:solidFill>
          <a:ln/>
        </p:spPr>
      </p:sp>
      <p:sp>
        <p:nvSpPr>
          <p:cNvPr id="20" name="Text 18"/>
          <p:cNvSpPr/>
          <p:nvPr/>
        </p:nvSpPr>
        <p:spPr>
          <a:xfrm>
            <a:off x="2688336" y="3035808"/>
            <a:ext cx="1828800" cy="347472"/>
          </a:xfrm>
          <a:prstGeom prst="rect">
            <a:avLst/>
          </a:prstGeom>
          <a:noFill/>
          <a:ln/>
        </p:spPr>
        <p:txBody>
          <a:bodyPr wrap="square" lIns="0" tIns="0" rIns="0" bIns="0" rtlCol="0" anchor="ctr"/>
          <a:lstStyle/>
          <a:p>
            <a:pPr marL="0" indent="0">
              <a:buNone/>
            </a:pPr>
            <a:r>
              <a:rPr lang="en-US" sz="1800" b="1" dirty="0">
                <a:solidFill>
                  <a:srgbClr val="0D1B2A"/>
                </a:solidFill>
                <a:latin typeface="Cambria" pitchFamily="34" charset="0"/>
                <a:ea typeface="Cambria" pitchFamily="34" charset="-122"/>
                <a:cs typeface="Cambria" pitchFamily="34" charset="-120"/>
              </a:rPr>
              <a:t>TOOL</a:t>
            </a:r>
            <a:endParaRPr lang="en-US" sz="1800" dirty="0"/>
          </a:p>
        </p:txBody>
      </p:sp>
      <p:sp>
        <p:nvSpPr>
          <p:cNvPr id="21" name="Text 19"/>
          <p:cNvSpPr/>
          <p:nvPr/>
        </p:nvSpPr>
        <p:spPr>
          <a:xfrm>
            <a:off x="2688336" y="3401568"/>
            <a:ext cx="1828800" cy="256032"/>
          </a:xfrm>
          <a:prstGeom prst="rect">
            <a:avLst/>
          </a:prstGeom>
          <a:noFill/>
          <a:ln/>
        </p:spPr>
        <p:txBody>
          <a:bodyPr wrap="square" lIns="0" tIns="0" rIns="0" bIns="0" rtlCol="0" anchor="ctr"/>
          <a:lstStyle/>
          <a:p>
            <a:pPr marL="0" indent="0">
              <a:buNone/>
            </a:pPr>
            <a:r>
              <a:rPr lang="en-US" sz="850" dirty="0">
                <a:solidFill>
                  <a:srgbClr val="1A6040"/>
                </a:solidFill>
                <a:latin typeface="Courier New" pitchFamily="34" charset="0"/>
                <a:ea typeface="Courier New" pitchFamily="34" charset="-122"/>
                <a:cs typeface="Courier New" pitchFamily="34" charset="-120"/>
              </a:rPr>
              <a:t>type: api|mcp / server/</a:t>
            </a:r>
            <a:endParaRPr lang="en-US" sz="850" dirty="0"/>
          </a:p>
        </p:txBody>
      </p:sp>
      <p:sp>
        <p:nvSpPr>
          <p:cNvPr id="22" name="Text 20"/>
          <p:cNvSpPr/>
          <p:nvPr/>
        </p:nvSpPr>
        <p:spPr>
          <a:xfrm>
            <a:off x="2688336" y="3712464"/>
            <a:ext cx="1828800" cy="768096"/>
          </a:xfrm>
          <a:prstGeom prst="rect">
            <a:avLst/>
          </a:prstGeom>
          <a:noFill/>
          <a:ln/>
        </p:spPr>
        <p:txBody>
          <a:bodyPr wrap="square" lIns="0" tIns="0" rIns="0" bIns="0" rtlCol="0" anchor="t"/>
          <a:lstStyle/>
          <a:p>
            <a:pPr marL="0" indent="0">
              <a:buNone/>
            </a:pPr>
            <a:r>
              <a:rPr lang="en-US" sz="950" dirty="0">
                <a:solidFill>
                  <a:srgbClr val="0D1B2A"/>
                </a:solidFill>
                <a:latin typeface="Calibri" pitchFamily="34" charset="0"/>
                <a:ea typeface="Calibri" pitchFamily="34" charset="-122"/>
                <a:cs typeface="Calibri" pitchFamily="34" charset="-120"/>
              </a:rPr>
              <a:t>Single callable capability. Wraps API, MCP, or local op. Carries the hard never constraints.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B2A"/>
          </a:solidFill>
          <a:ln/>
        </p:spPr>
      </p:sp>
      <p:sp>
        <p:nvSpPr>
          <p:cNvPr id="3" name="Text 1"/>
          <p:cNvSpPr/>
          <p:nvPr/>
        </p:nvSpPr>
        <p:spPr>
          <a:xfrm>
            <a:off x="457200" y="256032"/>
            <a:ext cx="8229600" cy="594360"/>
          </a:xfrm>
          <a:prstGeom prst="rect">
            <a:avLst/>
          </a:prstGeom>
          <a:noFill/>
          <a:ln/>
        </p:spPr>
        <p:txBody>
          <a:bodyPr wrap="square" lIns="0" tIns="0" rIns="0" bIns="0"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The Reference Chain</a:t>
            </a:r>
            <a:endParaRPr lang="en-US" sz="3600" dirty="0"/>
          </a:p>
        </p:txBody>
      </p:sp>
      <p:sp>
        <p:nvSpPr>
          <p:cNvPr id="4" name="Text 2"/>
          <p:cNvSpPr/>
          <p:nvPr/>
        </p:nvSpPr>
        <p:spPr>
          <a:xfrm>
            <a:off x="457200" y="886968"/>
            <a:ext cx="8229600" cy="274320"/>
          </a:xfrm>
          <a:prstGeom prst="rect">
            <a:avLst/>
          </a:prstGeom>
          <a:noFill/>
          <a:ln/>
        </p:spPr>
        <p:txBody>
          <a:bodyPr wrap="square" lIns="0" tIns="0" rIns="0" bIns="0" rtlCol="0" anchor="ctr"/>
          <a:lstStyle/>
          <a:p>
            <a:pPr marL="0" indent="0">
              <a:buNone/>
            </a:pPr>
            <a:r>
              <a:rPr lang="en-US" sz="1300" i="1" dirty="0">
                <a:solidFill>
                  <a:srgbClr val="02C39A"/>
                </a:solidFill>
                <a:latin typeface="Calibri" pitchFamily="34" charset="0"/>
                <a:ea typeface="Calibri" pitchFamily="34" charset="-122"/>
                <a:cs typeface="Calibri" pitchFamily="34" charset="-120"/>
              </a:rPr>
              <a:t>"Every layer is a reference to the next — not a container of it."</a:t>
            </a:r>
            <a:endParaRPr lang="en-US" sz="1300" dirty="0"/>
          </a:p>
        </p:txBody>
      </p:sp>
      <p:sp>
        <p:nvSpPr>
          <p:cNvPr id="5" name="Shape 3"/>
          <p:cNvSpPr/>
          <p:nvPr/>
        </p:nvSpPr>
        <p:spPr>
          <a:xfrm>
            <a:off x="411480" y="1298448"/>
            <a:ext cx="1371600" cy="1051560"/>
          </a:xfrm>
          <a:prstGeom prst="rect">
            <a:avLst/>
          </a:prstGeom>
          <a:solidFill>
            <a:srgbClr val="065A82"/>
          </a:solidFill>
          <a:ln/>
        </p:spPr>
      </p:sp>
      <p:sp>
        <p:nvSpPr>
          <p:cNvPr id="6" name="Text 4"/>
          <p:cNvSpPr/>
          <p:nvPr/>
        </p:nvSpPr>
        <p:spPr>
          <a:xfrm>
            <a:off x="411480" y="1371600"/>
            <a:ext cx="1371600"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AGENT</a:t>
            </a:r>
            <a:endParaRPr lang="en-US" sz="1600" dirty="0"/>
          </a:p>
        </p:txBody>
      </p:sp>
      <p:sp>
        <p:nvSpPr>
          <p:cNvPr id="7" name="Text 5"/>
          <p:cNvSpPr/>
          <p:nvPr/>
        </p:nvSpPr>
        <p:spPr>
          <a:xfrm>
            <a:off x="411480" y="1755648"/>
            <a:ext cx="1371600" cy="530352"/>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fills roles</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memory + schedule</a:t>
            </a:r>
            <a:endParaRPr lang="en-US" sz="900" dirty="0"/>
          </a:p>
        </p:txBody>
      </p:sp>
      <p:sp>
        <p:nvSpPr>
          <p:cNvPr id="8" name="Text 6"/>
          <p:cNvSpPr/>
          <p:nvPr/>
        </p:nvSpPr>
        <p:spPr>
          <a:xfrm>
            <a:off x="1783080" y="1618488"/>
            <a:ext cx="384048" cy="384048"/>
          </a:xfrm>
          <a:prstGeom prst="rect">
            <a:avLst/>
          </a:prstGeom>
          <a:noFill/>
          <a:ln/>
        </p:spPr>
        <p:txBody>
          <a:bodyPr wrap="square" lIns="0" tIns="0" rIns="0" bIns="0" rtlCol="0" anchor="ctr"/>
          <a:lstStyle/>
          <a:p>
            <a:pPr marL="0" indent="0" algn="ctr">
              <a:buNone/>
            </a:pPr>
            <a:r>
              <a:rPr lang="en-US" sz="2000" dirty="0">
                <a:solidFill>
                  <a:srgbClr val="6B8FAE"/>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2167128" y="1298448"/>
            <a:ext cx="1371600" cy="1051560"/>
          </a:xfrm>
          <a:prstGeom prst="rect">
            <a:avLst/>
          </a:prstGeom>
          <a:solidFill>
            <a:srgbClr val="1C7293"/>
          </a:solidFill>
          <a:ln/>
        </p:spPr>
      </p:sp>
      <p:sp>
        <p:nvSpPr>
          <p:cNvPr id="10" name="Text 8"/>
          <p:cNvSpPr/>
          <p:nvPr/>
        </p:nvSpPr>
        <p:spPr>
          <a:xfrm>
            <a:off x="2167128" y="1371600"/>
            <a:ext cx="1371600"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ROLE</a:t>
            </a:r>
            <a:endParaRPr lang="en-US" sz="1600" dirty="0"/>
          </a:p>
        </p:txBody>
      </p:sp>
      <p:sp>
        <p:nvSpPr>
          <p:cNvPr id="11" name="Text 9"/>
          <p:cNvSpPr/>
          <p:nvPr/>
        </p:nvSpPr>
        <p:spPr>
          <a:xfrm>
            <a:off x="2167128" y="1755648"/>
            <a:ext cx="1371600" cy="530352"/>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owns domain</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decides + escalates</a:t>
            </a:r>
            <a:endParaRPr lang="en-US" sz="900" dirty="0"/>
          </a:p>
        </p:txBody>
      </p:sp>
      <p:sp>
        <p:nvSpPr>
          <p:cNvPr id="12" name="Text 10"/>
          <p:cNvSpPr/>
          <p:nvPr/>
        </p:nvSpPr>
        <p:spPr>
          <a:xfrm>
            <a:off x="3538728" y="1618488"/>
            <a:ext cx="384048" cy="384048"/>
          </a:xfrm>
          <a:prstGeom prst="rect">
            <a:avLst/>
          </a:prstGeom>
          <a:noFill/>
          <a:ln/>
        </p:spPr>
        <p:txBody>
          <a:bodyPr wrap="square" lIns="0" tIns="0" rIns="0" bIns="0" rtlCol="0" anchor="ctr"/>
          <a:lstStyle/>
          <a:p>
            <a:pPr marL="0" indent="0" algn="ctr">
              <a:buNone/>
            </a:pPr>
            <a:r>
              <a:rPr lang="en-US" sz="2000" dirty="0">
                <a:solidFill>
                  <a:srgbClr val="6B8FAE"/>
                </a:solidFill>
                <a:latin typeface="Calibri" pitchFamily="34" charset="0"/>
                <a:ea typeface="Calibri" pitchFamily="34" charset="-122"/>
                <a:cs typeface="Calibri" pitchFamily="34" charset="-120"/>
              </a:rPr>
              <a:t>→</a:t>
            </a:r>
            <a:endParaRPr lang="en-US" sz="2000" dirty="0"/>
          </a:p>
        </p:txBody>
      </p:sp>
      <p:sp>
        <p:nvSpPr>
          <p:cNvPr id="13" name="Shape 11"/>
          <p:cNvSpPr/>
          <p:nvPr/>
        </p:nvSpPr>
        <p:spPr>
          <a:xfrm>
            <a:off x="3922776" y="1298448"/>
            <a:ext cx="1371600" cy="1051560"/>
          </a:xfrm>
          <a:prstGeom prst="rect">
            <a:avLst/>
          </a:prstGeom>
          <a:solidFill>
            <a:srgbClr val="028090"/>
          </a:solidFill>
          <a:ln/>
        </p:spPr>
      </p:sp>
      <p:sp>
        <p:nvSpPr>
          <p:cNvPr id="14" name="Text 12"/>
          <p:cNvSpPr/>
          <p:nvPr/>
        </p:nvSpPr>
        <p:spPr>
          <a:xfrm>
            <a:off x="3922776" y="1371600"/>
            <a:ext cx="1371600"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SKILL</a:t>
            </a:r>
            <a:endParaRPr lang="en-US" sz="1600" dirty="0"/>
          </a:p>
        </p:txBody>
      </p:sp>
      <p:sp>
        <p:nvSpPr>
          <p:cNvPr id="15" name="Text 13"/>
          <p:cNvSpPr/>
          <p:nvPr/>
        </p:nvSpPr>
        <p:spPr>
          <a:xfrm>
            <a:off x="3922776" y="1755648"/>
            <a:ext cx="1371600" cy="530352"/>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procedure</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steps + workflow</a:t>
            </a:r>
            <a:endParaRPr lang="en-US" sz="900" dirty="0"/>
          </a:p>
        </p:txBody>
      </p:sp>
      <p:sp>
        <p:nvSpPr>
          <p:cNvPr id="16" name="Text 14"/>
          <p:cNvSpPr/>
          <p:nvPr/>
        </p:nvSpPr>
        <p:spPr>
          <a:xfrm>
            <a:off x="5294376" y="1618488"/>
            <a:ext cx="384048" cy="384048"/>
          </a:xfrm>
          <a:prstGeom prst="rect">
            <a:avLst/>
          </a:prstGeom>
          <a:noFill/>
          <a:ln/>
        </p:spPr>
        <p:txBody>
          <a:bodyPr wrap="square" lIns="0" tIns="0" rIns="0" bIns="0" rtlCol="0" anchor="ctr"/>
          <a:lstStyle/>
          <a:p>
            <a:pPr marL="0" indent="0" algn="ctr">
              <a:buNone/>
            </a:pPr>
            <a:r>
              <a:rPr lang="en-US" sz="2000" dirty="0">
                <a:solidFill>
                  <a:srgbClr val="6B8FAE"/>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5678424" y="1298448"/>
            <a:ext cx="1371600" cy="1051560"/>
          </a:xfrm>
          <a:prstGeom prst="rect">
            <a:avLst/>
          </a:prstGeom>
          <a:solidFill>
            <a:srgbClr val="02A585"/>
          </a:solidFill>
          <a:ln/>
        </p:spPr>
      </p:sp>
      <p:sp>
        <p:nvSpPr>
          <p:cNvPr id="18" name="Text 16"/>
          <p:cNvSpPr/>
          <p:nvPr/>
        </p:nvSpPr>
        <p:spPr>
          <a:xfrm>
            <a:off x="5678424" y="1371600"/>
            <a:ext cx="1371600"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TOOL</a:t>
            </a:r>
            <a:endParaRPr lang="en-US" sz="1600" dirty="0"/>
          </a:p>
        </p:txBody>
      </p:sp>
      <p:sp>
        <p:nvSpPr>
          <p:cNvPr id="19" name="Text 17"/>
          <p:cNvSpPr/>
          <p:nvPr/>
        </p:nvSpPr>
        <p:spPr>
          <a:xfrm>
            <a:off x="5678424" y="1755648"/>
            <a:ext cx="1371600" cy="530352"/>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capability</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never rules</a:t>
            </a:r>
            <a:endParaRPr lang="en-US" sz="900" dirty="0"/>
          </a:p>
        </p:txBody>
      </p:sp>
      <p:sp>
        <p:nvSpPr>
          <p:cNvPr id="20" name="Text 18"/>
          <p:cNvSpPr/>
          <p:nvPr/>
        </p:nvSpPr>
        <p:spPr>
          <a:xfrm>
            <a:off x="7050024" y="1618488"/>
            <a:ext cx="384048" cy="384048"/>
          </a:xfrm>
          <a:prstGeom prst="rect">
            <a:avLst/>
          </a:prstGeom>
          <a:noFill/>
          <a:ln/>
        </p:spPr>
        <p:txBody>
          <a:bodyPr wrap="square" lIns="0" tIns="0" rIns="0" bIns="0" rtlCol="0" anchor="ctr"/>
          <a:lstStyle/>
          <a:p>
            <a:pPr marL="0" indent="0" algn="ctr">
              <a:buNone/>
            </a:pPr>
            <a:r>
              <a:rPr lang="en-US" sz="2000" dirty="0">
                <a:solidFill>
                  <a:srgbClr val="6B8FAE"/>
                </a:solidFill>
                <a:latin typeface="Calibri" pitchFamily="34" charset="0"/>
                <a:ea typeface="Calibri" pitchFamily="34" charset="-122"/>
                <a:cs typeface="Calibri" pitchFamily="34" charset="-120"/>
              </a:rPr>
              <a:t>→</a:t>
            </a:r>
            <a:endParaRPr lang="en-US" sz="2000" dirty="0"/>
          </a:p>
        </p:txBody>
      </p:sp>
      <p:sp>
        <p:nvSpPr>
          <p:cNvPr id="21" name="Shape 19"/>
          <p:cNvSpPr/>
          <p:nvPr/>
        </p:nvSpPr>
        <p:spPr>
          <a:xfrm>
            <a:off x="7434072" y="1298448"/>
            <a:ext cx="1371600" cy="1051560"/>
          </a:xfrm>
          <a:prstGeom prst="rect">
            <a:avLst/>
          </a:prstGeom>
          <a:solidFill>
            <a:srgbClr val="172535"/>
          </a:solidFill>
          <a:ln/>
        </p:spPr>
      </p:sp>
      <p:sp>
        <p:nvSpPr>
          <p:cNvPr id="22" name="Text 20"/>
          <p:cNvSpPr/>
          <p:nvPr/>
        </p:nvSpPr>
        <p:spPr>
          <a:xfrm>
            <a:off x="7434072" y="1371600"/>
            <a:ext cx="1371600" cy="347472"/>
          </a:xfrm>
          <a:prstGeom prst="rect">
            <a:avLst/>
          </a:prstGeom>
          <a:noFill/>
          <a:ln/>
        </p:spPr>
        <p:txBody>
          <a:bodyPr wrap="square" lIns="0" tIns="0" rIns="0" bIns="0" rtlCol="0" anchor="ctr"/>
          <a:lstStyle/>
          <a:p>
            <a:pPr marL="0" indent="0" algn="ctr">
              <a:buNone/>
            </a:pPr>
            <a:r>
              <a:rPr lang="en-US" sz="1600" b="1" dirty="0">
                <a:solidFill>
                  <a:srgbClr val="6B8FAE"/>
                </a:solidFill>
                <a:latin typeface="Cambria" pitchFamily="34" charset="0"/>
                <a:ea typeface="Cambria" pitchFamily="34" charset="-122"/>
                <a:cs typeface="Cambria" pitchFamily="34" charset="-120"/>
              </a:rPr>
              <a:t>impl</a:t>
            </a:r>
            <a:endParaRPr lang="en-US" sz="1600" dirty="0"/>
          </a:p>
        </p:txBody>
      </p:sp>
      <p:sp>
        <p:nvSpPr>
          <p:cNvPr id="23" name="Text 21"/>
          <p:cNvSpPr/>
          <p:nvPr/>
        </p:nvSpPr>
        <p:spPr>
          <a:xfrm>
            <a:off x="7434072" y="1755648"/>
            <a:ext cx="1371600" cy="530352"/>
          </a:xfrm>
          <a:prstGeom prst="rect">
            <a:avLst/>
          </a:prstGeom>
          <a:noFill/>
          <a:ln/>
        </p:spPr>
        <p:txBody>
          <a:bodyPr wrap="square" lIns="0" tIns="0" rIns="0" bIns="0" rtlCol="0" anchor="ctr"/>
          <a:lstStyle/>
          <a:p>
            <a:pPr marL="0" indent="0" algn="ctr">
              <a:buNone/>
            </a:pPr>
            <a:r>
              <a:rPr lang="en-US" sz="900" dirty="0">
                <a:solidFill>
                  <a:srgbClr val="6B8FAE"/>
                </a:solidFill>
                <a:latin typeface="Calibri" pitchFamily="34" charset="0"/>
                <a:ea typeface="Calibri" pitchFamily="34" charset="-122"/>
                <a:cs typeface="Calibri" pitchFamily="34" charset="-120"/>
              </a:rPr>
              <a:t>server/</a:t>
            </a:r>
            <a:endParaRPr lang="en-US" sz="900" dirty="0"/>
          </a:p>
          <a:p>
            <a:pPr marL="0" indent="0" algn="ctr">
              <a:buNone/>
            </a:pPr>
            <a:r>
              <a:rPr lang="en-US" sz="900" dirty="0">
                <a:solidFill>
                  <a:srgbClr val="6B8FAE"/>
                </a:solidFill>
                <a:latin typeface="Calibri" pitchFamily="34" charset="0"/>
                <a:ea typeface="Calibri" pitchFamily="34" charset="-122"/>
                <a:cs typeface="Calibri" pitchFamily="34" charset="-120"/>
              </a:rPr>
              <a:t>MCP · API · local</a:t>
            </a:r>
            <a:endParaRPr lang="en-US" sz="900" dirty="0"/>
          </a:p>
        </p:txBody>
      </p:sp>
      <p:sp>
        <p:nvSpPr>
          <p:cNvPr id="24" name="Shape 22"/>
          <p:cNvSpPr/>
          <p:nvPr/>
        </p:nvSpPr>
        <p:spPr>
          <a:xfrm>
            <a:off x="411480" y="2587752"/>
            <a:ext cx="54864" cy="502920"/>
          </a:xfrm>
          <a:prstGeom prst="rect">
            <a:avLst/>
          </a:prstGeom>
          <a:solidFill>
            <a:srgbClr val="02C39A"/>
          </a:solidFill>
          <a:ln/>
        </p:spPr>
      </p:sp>
      <p:sp>
        <p:nvSpPr>
          <p:cNvPr id="25" name="Text 23"/>
          <p:cNvSpPr/>
          <p:nvPr/>
        </p:nvSpPr>
        <p:spPr>
          <a:xfrm>
            <a:off x="566928" y="2514600"/>
            <a:ext cx="832104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requires is the only edge</a:t>
            </a:r>
            <a:endParaRPr lang="en-US" sz="1200" dirty="0"/>
          </a:p>
        </p:txBody>
      </p:sp>
      <p:sp>
        <p:nvSpPr>
          <p:cNvPr id="26" name="Text 24"/>
          <p:cNvSpPr/>
          <p:nvPr/>
        </p:nvSpPr>
        <p:spPr>
          <a:xfrm>
            <a:off x="566928" y="2816352"/>
            <a:ext cx="8321040" cy="438912"/>
          </a:xfrm>
          <a:prstGeom prst="rect">
            <a:avLst/>
          </a:prstGeom>
          <a:noFill/>
          <a:ln/>
        </p:spPr>
        <p:txBody>
          <a:bodyPr wrap="square" lIns="0" tIns="0" rIns="0" bIns="0" rtlCol="0" anchor="ctr"/>
          <a:lstStyle/>
          <a:p>
            <a:pPr marL="0" indent="0">
              <a:buNone/>
            </a:pPr>
            <a:r>
              <a:rPr lang="en-US" sz="1050" dirty="0">
                <a:solidFill>
                  <a:srgbClr val="6B8FAE"/>
                </a:solidFill>
                <a:latin typeface="Calibri" pitchFamily="34" charset="0"/>
                <a:ea typeface="Calibri" pitchFamily="34" charset="-122"/>
                <a:cs typeface="Calibri" pitchFamily="34" charset="-120"/>
              </a:rPr>
              <a:t>Points downward only — toward implementation. Never lateral, never upward. Agents may spell it fills; skills may spell it allowed-tools.</a:t>
            </a:r>
            <a:endParaRPr lang="en-US" sz="1050" dirty="0"/>
          </a:p>
        </p:txBody>
      </p:sp>
      <p:sp>
        <p:nvSpPr>
          <p:cNvPr id="27" name="Shape 25"/>
          <p:cNvSpPr/>
          <p:nvPr/>
        </p:nvSpPr>
        <p:spPr>
          <a:xfrm>
            <a:off x="411480" y="3410712"/>
            <a:ext cx="54864" cy="502920"/>
          </a:xfrm>
          <a:prstGeom prst="rect">
            <a:avLst/>
          </a:prstGeom>
          <a:solidFill>
            <a:srgbClr val="02C39A"/>
          </a:solidFill>
          <a:ln/>
        </p:spPr>
      </p:sp>
      <p:sp>
        <p:nvSpPr>
          <p:cNvPr id="28" name="Text 26"/>
          <p:cNvSpPr/>
          <p:nvPr/>
        </p:nvSpPr>
        <p:spPr>
          <a:xfrm>
            <a:off x="566928" y="3337560"/>
            <a:ext cx="832104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Swap any layer independently</a:t>
            </a:r>
            <a:endParaRPr lang="en-US" sz="1200" dirty="0"/>
          </a:p>
        </p:txBody>
      </p:sp>
      <p:sp>
        <p:nvSpPr>
          <p:cNvPr id="29" name="Text 27"/>
          <p:cNvSpPr/>
          <p:nvPr/>
        </p:nvSpPr>
        <p:spPr>
          <a:xfrm>
            <a:off x="566928" y="3639312"/>
            <a:ext cx="8321040" cy="438912"/>
          </a:xfrm>
          <a:prstGeom prst="rect">
            <a:avLst/>
          </a:prstGeom>
          <a:noFill/>
          <a:ln/>
        </p:spPr>
        <p:txBody>
          <a:bodyPr wrap="square" lIns="0" tIns="0" rIns="0" bIns="0" rtlCol="0" anchor="ctr"/>
          <a:lstStyle/>
          <a:p>
            <a:pPr marL="0" indent="0">
              <a:buNone/>
            </a:pPr>
            <a:r>
              <a:rPr lang="en-US" sz="1050" dirty="0">
                <a:solidFill>
                  <a:srgbClr val="6B8FAE"/>
                </a:solidFill>
                <a:latin typeface="Calibri" pitchFamily="34" charset="0"/>
                <a:ea typeface="Calibri" pitchFamily="34" charset="-122"/>
                <a:cs typeface="Calibri" pitchFamily="34" charset="-120"/>
              </a:rPr>
              <a:t>Swap a role → agent skill set changes. Swap a tool implementation (MCP → REST) → nothing above it changes.</a:t>
            </a:r>
            <a:endParaRPr lang="en-US" sz="1050" dirty="0"/>
          </a:p>
        </p:txBody>
      </p:sp>
      <p:sp>
        <p:nvSpPr>
          <p:cNvPr id="30" name="Shape 28"/>
          <p:cNvSpPr/>
          <p:nvPr/>
        </p:nvSpPr>
        <p:spPr>
          <a:xfrm>
            <a:off x="411480" y="4233672"/>
            <a:ext cx="54864" cy="502920"/>
          </a:xfrm>
          <a:prstGeom prst="rect">
            <a:avLst/>
          </a:prstGeom>
          <a:solidFill>
            <a:srgbClr val="02C39A"/>
          </a:solidFill>
          <a:ln/>
        </p:spPr>
      </p:sp>
      <p:sp>
        <p:nvSpPr>
          <p:cNvPr id="31" name="Text 29"/>
          <p:cNvSpPr/>
          <p:nvPr/>
        </p:nvSpPr>
        <p:spPr>
          <a:xfrm>
            <a:off x="566928" y="4160520"/>
            <a:ext cx="832104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One shape, all the way down</a:t>
            </a:r>
            <a:endParaRPr lang="en-US" sz="1200" dirty="0"/>
          </a:p>
        </p:txBody>
      </p:sp>
      <p:sp>
        <p:nvSpPr>
          <p:cNvPr id="32" name="Text 30"/>
          <p:cNvSpPr/>
          <p:nvPr/>
        </p:nvSpPr>
        <p:spPr>
          <a:xfrm>
            <a:off x="566928" y="4462272"/>
            <a:ext cx="8321040" cy="438912"/>
          </a:xfrm>
          <a:prstGeom prst="rect">
            <a:avLst/>
          </a:prstGeom>
          <a:noFill/>
          <a:ln/>
        </p:spPr>
        <p:txBody>
          <a:bodyPr wrap="square" lIns="0" tIns="0" rIns="0" bIns="0" rtlCol="0" anchor="ctr"/>
          <a:lstStyle/>
          <a:p>
            <a:pPr marL="0" indent="0">
              <a:buNone/>
            </a:pPr>
            <a:r>
              <a:rPr lang="en-US" sz="1050" dirty="0">
                <a:solidFill>
                  <a:srgbClr val="6B8FAE"/>
                </a:solidFill>
                <a:latin typeface="Calibri" pitchFamily="34" charset="0"/>
                <a:ea typeface="Calibri" pitchFamily="34" charset="-122"/>
                <a:cs typeface="Calibri" pitchFamily="34" charset="-120"/>
              </a:rPr>
              <a:t>A skill with sub-skills is structurally identical to an agent with sub-agents. One discovery mechanism, one authority algebra, at every level.</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Text 1"/>
          <p:cNvSpPr/>
          <p:nvPr/>
        </p:nvSpPr>
        <p:spPr>
          <a:xfrm>
            <a:off x="457200" y="256032"/>
            <a:ext cx="8229600" cy="594360"/>
          </a:xfrm>
          <a:prstGeom prst="rect">
            <a:avLst/>
          </a:prstGeom>
          <a:noFill/>
          <a:ln/>
        </p:spPr>
        <p:txBody>
          <a:bodyPr wrap="square" lIns="0" tIns="0" rIns="0" bIns="0" rtlCol="0" anchor="ctr"/>
          <a:lstStyle/>
          <a:p>
            <a:pPr marL="0" indent="0" algn="l">
              <a:buNone/>
            </a:pPr>
            <a:r>
              <a:rPr lang="en-US" sz="3600" b="1" dirty="0">
                <a:solidFill>
                  <a:srgbClr val="065A82"/>
                </a:solidFill>
                <a:latin typeface="Cambria" pitchFamily="34" charset="0"/>
                <a:ea typeface="Cambria" pitchFamily="34" charset="-122"/>
                <a:cs typeface="Cambria" pitchFamily="34" charset="-120"/>
              </a:rPr>
              <a:t>The Authority Block</a:t>
            </a:r>
            <a:endParaRPr lang="en-US" sz="3600" dirty="0"/>
          </a:p>
        </p:txBody>
      </p:sp>
      <p:sp>
        <p:nvSpPr>
          <p:cNvPr id="4" name="Text 2"/>
          <p:cNvSpPr/>
          <p:nvPr/>
        </p:nvSpPr>
        <p:spPr>
          <a:xfrm>
            <a:off x="457200" y="886968"/>
            <a:ext cx="8229600" cy="274320"/>
          </a:xfrm>
          <a:prstGeom prst="rect">
            <a:avLst/>
          </a:prstGeom>
          <a:noFill/>
          <a:ln/>
        </p:spPr>
        <p:txBody>
          <a:bodyPr wrap="square" lIns="0" tIns="0" rIns="0" bIns="0" rtlCol="0" anchor="ctr"/>
          <a:lstStyle/>
          <a:p>
            <a:pPr marL="0" indent="0">
              <a:buNone/>
            </a:pPr>
            <a:r>
              <a:rPr lang="en-US" sz="1300" i="1" dirty="0">
                <a:solidFill>
                  <a:srgbClr val="1C7293"/>
                </a:solidFill>
                <a:latin typeface="Calibri" pitchFamily="34" charset="0"/>
                <a:ea typeface="Calibri" pitchFamily="34" charset="-122"/>
                <a:cs typeface="Calibri" pitchFamily="34" charset="-120"/>
              </a:rPr>
              <a:t>The same four fields at every layer. Composition rules are mechanical, not prose.</a:t>
            </a:r>
            <a:endParaRPr lang="en-US" sz="1300" dirty="0"/>
          </a:p>
        </p:txBody>
      </p:sp>
      <p:sp>
        <p:nvSpPr>
          <p:cNvPr id="5" name="Shape 3"/>
          <p:cNvSpPr/>
          <p:nvPr/>
        </p:nvSpPr>
        <p:spPr>
          <a:xfrm>
            <a:off x="457200" y="1216152"/>
            <a:ext cx="8229600" cy="758952"/>
          </a:xfrm>
          <a:prstGeom prst="rect">
            <a:avLst/>
          </a:prstGeom>
          <a:solidFill>
            <a:srgbClr val="EBF3FA"/>
          </a:solidFill>
          <a:ln/>
        </p:spPr>
      </p:sp>
      <p:sp>
        <p:nvSpPr>
          <p:cNvPr id="6" name="Text 4"/>
          <p:cNvSpPr/>
          <p:nvPr/>
        </p:nvSpPr>
        <p:spPr>
          <a:xfrm>
            <a:off x="640080" y="1380744"/>
            <a:ext cx="1188720" cy="411480"/>
          </a:xfrm>
          <a:prstGeom prst="rect">
            <a:avLst/>
          </a:prstGeom>
          <a:noFill/>
          <a:ln/>
        </p:spPr>
        <p:txBody>
          <a:bodyPr wrap="square" lIns="0" tIns="0" rIns="0" bIns="0" rtlCol="0" anchor="ctr"/>
          <a:lstStyle/>
          <a:p>
            <a:pPr marL="0" indent="0">
              <a:buNone/>
            </a:pPr>
            <a:r>
              <a:rPr lang="en-US" sz="1400" b="1" dirty="0">
                <a:solidFill>
                  <a:srgbClr val="065A82"/>
                </a:solidFill>
                <a:latin typeface="Courier New" pitchFamily="34" charset="0"/>
                <a:ea typeface="Courier New" pitchFamily="34" charset="-122"/>
                <a:cs typeface="Courier New" pitchFamily="34" charset="-120"/>
              </a:rPr>
              <a:t>owns:</a:t>
            </a:r>
            <a:endParaRPr lang="en-US" sz="1400" dirty="0"/>
          </a:p>
        </p:txBody>
      </p:sp>
      <p:sp>
        <p:nvSpPr>
          <p:cNvPr id="7" name="Text 5"/>
          <p:cNvSpPr/>
          <p:nvPr/>
        </p:nvSpPr>
        <p:spPr>
          <a:xfrm>
            <a:off x="1874520" y="1435608"/>
            <a:ext cx="1645920" cy="274320"/>
          </a:xfrm>
          <a:prstGeom prst="rect">
            <a:avLst/>
          </a:prstGeom>
          <a:noFill/>
          <a:ln/>
        </p:spPr>
        <p:txBody>
          <a:bodyPr wrap="square" lIns="0" tIns="0" rIns="0" bIns="0" rtlCol="0" anchor="ctr"/>
          <a:lstStyle/>
          <a:p>
            <a:pPr marL="0" indent="0">
              <a:buNone/>
            </a:pPr>
            <a:r>
              <a:rPr lang="en-US" sz="1000" i="1" dirty="0">
                <a:solidFill>
                  <a:srgbClr val="065A82"/>
                </a:solidFill>
                <a:latin typeface="Calibri" pitchFamily="34" charset="0"/>
                <a:ea typeface="Calibri" pitchFamily="34" charset="-122"/>
                <a:cs typeface="Calibri" pitchFamily="34" charset="-120"/>
              </a:rPr>
              <a:t>(roles only)</a:t>
            </a:r>
            <a:endParaRPr lang="en-US" sz="1000" dirty="0"/>
          </a:p>
        </p:txBody>
      </p:sp>
      <p:sp>
        <p:nvSpPr>
          <p:cNvPr id="8" name="Text 6"/>
          <p:cNvSpPr/>
          <p:nvPr/>
        </p:nvSpPr>
        <p:spPr>
          <a:xfrm>
            <a:off x="3566160" y="1307592"/>
            <a:ext cx="4892040" cy="59436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Domains this node is responsible for. Ownership across all roles must be disjoint — overlap is caught statically as a validation error.</a:t>
            </a:r>
            <a:endParaRPr lang="en-US" sz="1100" dirty="0"/>
          </a:p>
        </p:txBody>
      </p:sp>
      <p:sp>
        <p:nvSpPr>
          <p:cNvPr id="9" name="Shape 7"/>
          <p:cNvSpPr/>
          <p:nvPr/>
        </p:nvSpPr>
        <p:spPr>
          <a:xfrm>
            <a:off x="457200" y="2066544"/>
            <a:ext cx="8229600" cy="758952"/>
          </a:xfrm>
          <a:prstGeom prst="rect">
            <a:avLst/>
          </a:prstGeom>
          <a:solidFill>
            <a:srgbClr val="EBF6F9"/>
          </a:solidFill>
          <a:ln/>
        </p:spPr>
      </p:sp>
      <p:sp>
        <p:nvSpPr>
          <p:cNvPr id="10" name="Text 8"/>
          <p:cNvSpPr/>
          <p:nvPr/>
        </p:nvSpPr>
        <p:spPr>
          <a:xfrm>
            <a:off x="640080" y="2231136"/>
            <a:ext cx="1188720" cy="411480"/>
          </a:xfrm>
          <a:prstGeom prst="rect">
            <a:avLst/>
          </a:prstGeom>
          <a:noFill/>
          <a:ln/>
        </p:spPr>
        <p:txBody>
          <a:bodyPr wrap="square" lIns="0" tIns="0" rIns="0" bIns="0" rtlCol="0" anchor="ctr"/>
          <a:lstStyle/>
          <a:p>
            <a:pPr marL="0" indent="0">
              <a:buNone/>
            </a:pPr>
            <a:r>
              <a:rPr lang="en-US" sz="1400" b="1" dirty="0">
                <a:solidFill>
                  <a:srgbClr val="1C7293"/>
                </a:solidFill>
                <a:latin typeface="Courier New" pitchFamily="34" charset="0"/>
                <a:ea typeface="Courier New" pitchFamily="34" charset="-122"/>
                <a:cs typeface="Courier New" pitchFamily="34" charset="-120"/>
              </a:rPr>
              <a:t>decides:</a:t>
            </a:r>
            <a:endParaRPr lang="en-US" sz="1400" dirty="0"/>
          </a:p>
        </p:txBody>
      </p:sp>
      <p:sp>
        <p:nvSpPr>
          <p:cNvPr id="11" name="Text 9"/>
          <p:cNvSpPr/>
          <p:nvPr/>
        </p:nvSpPr>
        <p:spPr>
          <a:xfrm>
            <a:off x="1874520" y="2286000"/>
            <a:ext cx="1645920" cy="274320"/>
          </a:xfrm>
          <a:prstGeom prst="rect">
            <a:avLst/>
          </a:prstGeom>
          <a:noFill/>
          <a:ln/>
        </p:spPr>
        <p:txBody>
          <a:bodyPr wrap="square" lIns="0" tIns="0" rIns="0" bIns="0" rtlCol="0" anchor="ctr"/>
          <a:lstStyle/>
          <a:p>
            <a:pPr marL="0" indent="0">
              <a:buNone/>
            </a:pPr>
            <a:r>
              <a:rPr lang="en-US" sz="1000" i="1" dirty="0">
                <a:solidFill>
                  <a:srgbClr val="1C7293"/>
                </a:solidFill>
                <a:latin typeface="Calibri" pitchFamily="34" charset="0"/>
                <a:ea typeface="Calibri" pitchFamily="34" charset="-122"/>
                <a:cs typeface="Calibri" pitchFamily="34" charset="-120"/>
              </a:rPr>
              <a:t>intersects ↓</a:t>
            </a:r>
            <a:endParaRPr lang="en-US" sz="1000" dirty="0"/>
          </a:p>
        </p:txBody>
      </p:sp>
      <p:sp>
        <p:nvSpPr>
          <p:cNvPr id="12" name="Text 10"/>
          <p:cNvSpPr/>
          <p:nvPr/>
        </p:nvSpPr>
        <p:spPr>
          <a:xfrm>
            <a:off x="3566160" y="2157984"/>
            <a:ext cx="4892040" cy="59436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Actions taken autonomously, no escalation needed. Autonomous ONLY IF every layer along the chain includes it in decides.</a:t>
            </a:r>
            <a:endParaRPr lang="en-US" sz="1100" dirty="0"/>
          </a:p>
        </p:txBody>
      </p:sp>
      <p:sp>
        <p:nvSpPr>
          <p:cNvPr id="13" name="Shape 11"/>
          <p:cNvSpPr/>
          <p:nvPr/>
        </p:nvSpPr>
        <p:spPr>
          <a:xfrm>
            <a:off x="457200" y="2916936"/>
            <a:ext cx="8229600" cy="758952"/>
          </a:xfrm>
          <a:prstGeom prst="rect">
            <a:avLst/>
          </a:prstGeom>
          <a:solidFill>
            <a:srgbClr val="FEF7E8"/>
          </a:solidFill>
          <a:ln/>
        </p:spPr>
      </p:sp>
      <p:sp>
        <p:nvSpPr>
          <p:cNvPr id="14" name="Text 12"/>
          <p:cNvSpPr/>
          <p:nvPr/>
        </p:nvSpPr>
        <p:spPr>
          <a:xfrm>
            <a:off x="640080" y="3081528"/>
            <a:ext cx="1188720" cy="411480"/>
          </a:xfrm>
          <a:prstGeom prst="rect">
            <a:avLst/>
          </a:prstGeom>
          <a:noFill/>
          <a:ln/>
        </p:spPr>
        <p:txBody>
          <a:bodyPr wrap="square" lIns="0" tIns="0" rIns="0" bIns="0" rtlCol="0" anchor="ctr"/>
          <a:lstStyle/>
          <a:p>
            <a:pPr marL="0" indent="0">
              <a:buNone/>
            </a:pPr>
            <a:r>
              <a:rPr lang="en-US" sz="1400" b="1" dirty="0">
                <a:solidFill>
                  <a:srgbClr val="E69B2F"/>
                </a:solidFill>
                <a:latin typeface="Courier New" pitchFamily="34" charset="0"/>
                <a:ea typeface="Courier New" pitchFamily="34" charset="-122"/>
                <a:cs typeface="Courier New" pitchFamily="34" charset="-120"/>
              </a:rPr>
              <a:t>escalates:</a:t>
            </a:r>
            <a:endParaRPr lang="en-US" sz="1400" dirty="0"/>
          </a:p>
        </p:txBody>
      </p:sp>
      <p:sp>
        <p:nvSpPr>
          <p:cNvPr id="15" name="Text 13"/>
          <p:cNvSpPr/>
          <p:nvPr/>
        </p:nvSpPr>
        <p:spPr>
          <a:xfrm>
            <a:off x="1874520" y="3136392"/>
            <a:ext cx="1645920" cy="274320"/>
          </a:xfrm>
          <a:prstGeom prst="rect">
            <a:avLst/>
          </a:prstGeom>
          <a:noFill/>
          <a:ln/>
        </p:spPr>
        <p:txBody>
          <a:bodyPr wrap="square" lIns="0" tIns="0" rIns="0" bIns="0" rtlCol="0" anchor="ctr"/>
          <a:lstStyle/>
          <a:p>
            <a:pPr marL="0" indent="0">
              <a:buNone/>
            </a:pPr>
            <a:r>
              <a:rPr lang="en-US" sz="1000" i="1" dirty="0">
                <a:solidFill>
                  <a:srgbClr val="E69B2F"/>
                </a:solidFill>
                <a:latin typeface="Calibri" pitchFamily="34" charset="0"/>
                <a:ea typeface="Calibri" pitchFamily="34" charset="-122"/>
                <a:cs typeface="Calibri" pitchFamily="34" charset="-120"/>
              </a:rPr>
              <a:t>unions ↓</a:t>
            </a:r>
            <a:endParaRPr lang="en-US" sz="1000" dirty="0"/>
          </a:p>
        </p:txBody>
      </p:sp>
      <p:sp>
        <p:nvSpPr>
          <p:cNvPr id="16" name="Text 14"/>
          <p:cNvSpPr/>
          <p:nvPr/>
        </p:nvSpPr>
        <p:spPr>
          <a:xfrm>
            <a:off x="3566160" y="3008376"/>
            <a:ext cx="4892040" cy="59436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Actions that require a human to decide. Any layer can add an escalation trigger; none can remove one declared at any other layer.</a:t>
            </a:r>
            <a:endParaRPr lang="en-US" sz="1100" dirty="0"/>
          </a:p>
        </p:txBody>
      </p:sp>
      <p:sp>
        <p:nvSpPr>
          <p:cNvPr id="17" name="Shape 15"/>
          <p:cNvSpPr/>
          <p:nvPr/>
        </p:nvSpPr>
        <p:spPr>
          <a:xfrm>
            <a:off x="457200" y="3767328"/>
            <a:ext cx="8229600" cy="758952"/>
          </a:xfrm>
          <a:prstGeom prst="rect">
            <a:avLst/>
          </a:prstGeom>
          <a:solidFill>
            <a:srgbClr val="FDEAEA"/>
          </a:solidFill>
          <a:ln/>
        </p:spPr>
      </p:sp>
      <p:sp>
        <p:nvSpPr>
          <p:cNvPr id="18" name="Text 16"/>
          <p:cNvSpPr/>
          <p:nvPr/>
        </p:nvSpPr>
        <p:spPr>
          <a:xfrm>
            <a:off x="640080" y="3931920"/>
            <a:ext cx="1188720" cy="411480"/>
          </a:xfrm>
          <a:prstGeom prst="rect">
            <a:avLst/>
          </a:prstGeom>
          <a:noFill/>
          <a:ln/>
        </p:spPr>
        <p:txBody>
          <a:bodyPr wrap="square" lIns="0" tIns="0" rIns="0" bIns="0" rtlCol="0" anchor="ctr"/>
          <a:lstStyle/>
          <a:p>
            <a:pPr marL="0" indent="0">
              <a:buNone/>
            </a:pPr>
            <a:r>
              <a:rPr lang="en-US" sz="1400" b="1" dirty="0">
                <a:solidFill>
                  <a:srgbClr val="E05252"/>
                </a:solidFill>
                <a:latin typeface="Courier New" pitchFamily="34" charset="0"/>
                <a:ea typeface="Courier New" pitchFamily="34" charset="-122"/>
                <a:cs typeface="Courier New" pitchFamily="34" charset="-120"/>
              </a:rPr>
              <a:t>never:</a:t>
            </a:r>
            <a:endParaRPr lang="en-US" sz="1400" dirty="0"/>
          </a:p>
        </p:txBody>
      </p:sp>
      <p:sp>
        <p:nvSpPr>
          <p:cNvPr id="19" name="Text 17"/>
          <p:cNvSpPr/>
          <p:nvPr/>
        </p:nvSpPr>
        <p:spPr>
          <a:xfrm>
            <a:off x="1874520" y="3986784"/>
            <a:ext cx="1645920" cy="274320"/>
          </a:xfrm>
          <a:prstGeom prst="rect">
            <a:avLst/>
          </a:prstGeom>
          <a:noFill/>
          <a:ln/>
        </p:spPr>
        <p:txBody>
          <a:bodyPr wrap="square" lIns="0" tIns="0" rIns="0" bIns="0" rtlCol="0" anchor="ctr"/>
          <a:lstStyle/>
          <a:p>
            <a:pPr marL="0" indent="0">
              <a:buNone/>
            </a:pPr>
            <a:r>
              <a:rPr lang="en-US" sz="1000" i="1" dirty="0">
                <a:solidFill>
                  <a:srgbClr val="E05252"/>
                </a:solidFill>
                <a:latin typeface="Calibri" pitchFamily="34" charset="0"/>
                <a:ea typeface="Calibri" pitchFamily="34" charset="-122"/>
                <a:cs typeface="Calibri" pitchFamily="34" charset="-120"/>
              </a:rPr>
              <a:t>unions ↓ — deny wins</a:t>
            </a:r>
            <a:endParaRPr lang="en-US" sz="1000" dirty="0"/>
          </a:p>
        </p:txBody>
      </p:sp>
      <p:sp>
        <p:nvSpPr>
          <p:cNvPr id="20" name="Text 18"/>
          <p:cNvSpPr/>
          <p:nvPr/>
        </p:nvSpPr>
        <p:spPr>
          <a:xfrm>
            <a:off x="3566160" y="3858768"/>
            <a:ext cx="4892040" cy="59436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Forbidden regardless of who is asking. A tool's never guarantee propagates to every agent in the chain — no role can widen it.</a:t>
            </a:r>
            <a:endParaRPr lang="en-US" sz="1100" dirty="0"/>
          </a:p>
        </p:txBody>
      </p:sp>
      <p:sp>
        <p:nvSpPr>
          <p:cNvPr id="21" name="Shape 19"/>
          <p:cNvSpPr/>
          <p:nvPr/>
        </p:nvSpPr>
        <p:spPr>
          <a:xfrm>
            <a:off x="457200" y="4663440"/>
            <a:ext cx="8229600" cy="347472"/>
          </a:xfrm>
          <a:prstGeom prst="rect">
            <a:avLst/>
          </a:prstGeom>
          <a:solidFill>
            <a:srgbClr val="0D1B2A"/>
          </a:solidFill>
          <a:ln/>
        </p:spPr>
      </p:sp>
      <p:sp>
        <p:nvSpPr>
          <p:cNvPr id="22" name="Text 20"/>
          <p:cNvSpPr/>
          <p:nvPr/>
        </p:nvSpPr>
        <p:spPr>
          <a:xfrm>
            <a:off x="548640" y="4681728"/>
            <a:ext cx="8046720" cy="274320"/>
          </a:xfrm>
          <a:prstGeom prst="rect">
            <a:avLst/>
          </a:prstGeom>
          <a:noFill/>
          <a:ln/>
        </p:spPr>
        <p:txBody>
          <a:bodyPr wrap="square" lIns="0" tIns="0" rIns="0" bIns="0" rtlCol="0" anchor="ctr"/>
          <a:lstStyle/>
          <a:p>
            <a:pPr marL="0" indent="0" algn="ctr">
              <a:buNone/>
            </a:pPr>
            <a:r>
              <a:rPr lang="en-US" sz="1150" dirty="0">
                <a:solidFill>
                  <a:srgbClr val="02C39A"/>
                </a:solidFill>
                <a:latin typeface="Courier New" pitchFamily="34" charset="0"/>
                <a:ea typeface="Courier New" pitchFamily="34" charset="-122"/>
                <a:cs typeface="Courier New" pitchFamily="34" charset="-120"/>
              </a:rPr>
              <a:t>Precedence:  never  &gt;  escalates  &gt;  decides  |  Anything listed nowhere defaults to  escalate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FF6FB"/>
          </a:solidFill>
          <a:ln/>
        </p:spPr>
      </p:sp>
      <p:sp>
        <p:nvSpPr>
          <p:cNvPr id="3" name="Text 1"/>
          <p:cNvSpPr/>
          <p:nvPr/>
        </p:nvSpPr>
        <p:spPr>
          <a:xfrm>
            <a:off x="457200" y="256032"/>
            <a:ext cx="8229600" cy="594360"/>
          </a:xfrm>
          <a:prstGeom prst="rect">
            <a:avLst/>
          </a:prstGeom>
          <a:noFill/>
          <a:ln/>
        </p:spPr>
        <p:txBody>
          <a:bodyPr wrap="square" lIns="0" tIns="0" rIns="0" bIns="0" rtlCol="0" anchor="ctr"/>
          <a:lstStyle/>
          <a:p>
            <a:pPr marL="0" indent="0" algn="l">
              <a:buNone/>
            </a:pPr>
            <a:r>
              <a:rPr lang="en-US" sz="3600" b="1" dirty="0">
                <a:solidFill>
                  <a:srgbClr val="065A82"/>
                </a:solidFill>
                <a:latin typeface="Cambria" pitchFamily="34" charset="0"/>
                <a:ea typeface="Cambria" pitchFamily="34" charset="-122"/>
                <a:cs typeface="Cambria" pitchFamily="34" charset="-120"/>
              </a:rPr>
              <a:t>Directory &amp; Path Convention</a:t>
            </a:r>
            <a:endParaRPr lang="en-US" sz="3600" dirty="0"/>
          </a:p>
        </p:txBody>
      </p:sp>
      <p:sp>
        <p:nvSpPr>
          <p:cNvPr id="4" name="Text 2"/>
          <p:cNvSpPr/>
          <p:nvPr/>
        </p:nvSpPr>
        <p:spPr>
          <a:xfrm>
            <a:off x="457200" y="886968"/>
            <a:ext cx="8229600" cy="274320"/>
          </a:xfrm>
          <a:prstGeom prst="rect">
            <a:avLst/>
          </a:prstGeom>
          <a:noFill/>
          <a:ln/>
        </p:spPr>
        <p:txBody>
          <a:bodyPr wrap="square" lIns="0" tIns="0" rIns="0" bIns="0" rtlCol="0" anchor="ctr"/>
          <a:lstStyle/>
          <a:p>
            <a:pPr marL="0" indent="0">
              <a:buNone/>
            </a:pPr>
            <a:r>
              <a:rPr lang="en-US" sz="1300" i="1" dirty="0">
                <a:solidFill>
                  <a:srgbClr val="1C7293"/>
                </a:solidFill>
                <a:latin typeface="Calibri" pitchFamily="34" charset="0"/>
                <a:ea typeface="Calibri" pitchFamily="34" charset="-122"/>
                <a:cs typeface="Calibri" pitchFamily="34" charset="-120"/>
              </a:rPr>
              <a:t>Paths organize the hierarchy. Typed filenames declare the kind. requires uses relative paths — they matter.</a:t>
            </a:r>
            <a:endParaRPr lang="en-US" sz="1300" dirty="0"/>
          </a:p>
        </p:txBody>
      </p:sp>
      <p:sp>
        <p:nvSpPr>
          <p:cNvPr id="5" name="Shape 3"/>
          <p:cNvSpPr/>
          <p:nvPr/>
        </p:nvSpPr>
        <p:spPr>
          <a:xfrm>
            <a:off x="457200" y="1261872"/>
            <a:ext cx="347472" cy="347472"/>
          </a:xfrm>
          <a:prstGeom prst="ellipse">
            <a:avLst/>
          </a:prstGeom>
          <a:solidFill>
            <a:srgbClr val="1C7293"/>
          </a:solidFill>
          <a:ln/>
        </p:spPr>
      </p:sp>
      <p:sp>
        <p:nvSpPr>
          <p:cNvPr id="6" name="Text 4"/>
          <p:cNvSpPr/>
          <p:nvPr/>
        </p:nvSpPr>
        <p:spPr>
          <a:xfrm>
            <a:off x="457200" y="125272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905256" y="1216152"/>
            <a:ext cx="3749040" cy="274320"/>
          </a:xfrm>
          <a:prstGeom prst="rect">
            <a:avLst/>
          </a:prstGeom>
          <a:noFill/>
          <a:ln/>
        </p:spPr>
        <p:txBody>
          <a:bodyPr wrap="square" lIns="0" tIns="0" rIns="0" bIns="0"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Paths organize the hierarchy</a:t>
            </a:r>
            <a:endParaRPr lang="en-US" sz="1200" dirty="0"/>
          </a:p>
        </p:txBody>
      </p:sp>
      <p:sp>
        <p:nvSpPr>
          <p:cNvPr id="8" name="Text 6"/>
          <p:cNvSpPr/>
          <p:nvPr/>
        </p:nvSpPr>
        <p:spPr>
          <a:xfrm>
            <a:off x="905256" y="1508760"/>
            <a:ext cx="3749040" cy="530352"/>
          </a:xfrm>
          <a:prstGeom prst="rect">
            <a:avLst/>
          </a:prstGeom>
          <a:noFill/>
          <a:ln/>
        </p:spPr>
        <p:txBody>
          <a:bodyPr wrap="square" lIns="0" tIns="0" rIns="0" bIns="0" rtlCol="0" anchor="ctr"/>
          <a:lstStyle/>
          <a:p>
            <a:pPr marL="0" indent="0">
              <a:buNone/>
            </a:pPr>
            <a:r>
              <a:rPr lang="en-US" sz="1050" dirty="0">
                <a:solidFill>
                  <a:srgbClr val="555555"/>
                </a:solidFill>
                <a:latin typeface="Calibri" pitchFamily="34" charset="0"/>
                <a:ea typeface="Calibri" pitchFamily="34" charset="-122"/>
                <a:cs typeface="Calibri" pitchFamily="34" charset="-120"/>
              </a:rPr>
              <a:t>agents/, roles/, skills/, tools/ is the convention. The requires fields inside each node use relative paths to link to the next layer — those paths must resolve.</a:t>
            </a:r>
            <a:endParaRPr lang="en-US" sz="1050" dirty="0"/>
          </a:p>
        </p:txBody>
      </p:sp>
      <p:sp>
        <p:nvSpPr>
          <p:cNvPr id="9" name="Shape 7"/>
          <p:cNvSpPr/>
          <p:nvPr/>
        </p:nvSpPr>
        <p:spPr>
          <a:xfrm>
            <a:off x="457200" y="2148840"/>
            <a:ext cx="347472" cy="347472"/>
          </a:xfrm>
          <a:prstGeom prst="ellipse">
            <a:avLst/>
          </a:prstGeom>
          <a:solidFill>
            <a:srgbClr val="1C7293"/>
          </a:solidFill>
          <a:ln/>
        </p:spPr>
      </p:sp>
      <p:sp>
        <p:nvSpPr>
          <p:cNvPr id="10" name="Text 8"/>
          <p:cNvSpPr/>
          <p:nvPr/>
        </p:nvSpPr>
        <p:spPr>
          <a:xfrm>
            <a:off x="457200" y="2139696"/>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905256" y="2103120"/>
            <a:ext cx="3749040" cy="274320"/>
          </a:xfrm>
          <a:prstGeom prst="rect">
            <a:avLst/>
          </a:prstGeom>
          <a:noFill/>
          <a:ln/>
        </p:spPr>
        <p:txBody>
          <a:bodyPr wrap="square" lIns="0" tIns="0" rIns="0" bIns="0"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Typed filenames declare the kind</a:t>
            </a:r>
            <a:endParaRPr lang="en-US" sz="1200" dirty="0"/>
          </a:p>
        </p:txBody>
      </p:sp>
      <p:sp>
        <p:nvSpPr>
          <p:cNvPr id="12" name="Text 10"/>
          <p:cNvSpPr/>
          <p:nvPr/>
        </p:nvSpPr>
        <p:spPr>
          <a:xfrm>
            <a:off x="905256" y="2395728"/>
            <a:ext cx="3749040" cy="530352"/>
          </a:xfrm>
          <a:prstGeom prst="rect">
            <a:avLst/>
          </a:prstGeom>
          <a:noFill/>
          <a:ln/>
        </p:spPr>
        <p:txBody>
          <a:bodyPr wrap="square" lIns="0" tIns="0" rIns="0" bIns="0" rtlCol="0" anchor="ctr"/>
          <a:lstStyle/>
          <a:p>
            <a:pPr marL="0" indent="0">
              <a:buNone/>
            </a:pPr>
            <a:r>
              <a:rPr lang="en-US" sz="1050" dirty="0">
                <a:solidFill>
                  <a:srgbClr val="555555"/>
                </a:solidFill>
                <a:latin typeface="Calibri" pitchFamily="34" charset="0"/>
                <a:ea typeface="Calibri" pitchFamily="34" charset="-122"/>
                <a:cs typeface="Calibri" pitchFamily="34" charset="-120"/>
              </a:rPr>
              <a:t>SKILL.md means skill. ROLE.md means role. Any walker reads the filename and knows what it has — regardless of which directory it sits in.</a:t>
            </a:r>
            <a:endParaRPr lang="en-US" sz="1050" dirty="0"/>
          </a:p>
        </p:txBody>
      </p:sp>
      <p:sp>
        <p:nvSpPr>
          <p:cNvPr id="13" name="Shape 11"/>
          <p:cNvSpPr/>
          <p:nvPr/>
        </p:nvSpPr>
        <p:spPr>
          <a:xfrm>
            <a:off x="457200" y="3035808"/>
            <a:ext cx="347472" cy="347472"/>
          </a:xfrm>
          <a:prstGeom prst="ellipse">
            <a:avLst/>
          </a:prstGeom>
          <a:solidFill>
            <a:srgbClr val="1C7293"/>
          </a:solidFill>
          <a:ln/>
        </p:spPr>
      </p:sp>
      <p:sp>
        <p:nvSpPr>
          <p:cNvPr id="14" name="Text 12"/>
          <p:cNvSpPr/>
          <p:nvPr/>
        </p:nvSpPr>
        <p:spPr>
          <a:xfrm>
            <a:off x="457200" y="3026664"/>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905256" y="2990088"/>
            <a:ext cx="3749040" cy="274320"/>
          </a:xfrm>
          <a:prstGeom prst="rect">
            <a:avLst/>
          </a:prstGeom>
          <a:noFill/>
          <a:ln/>
        </p:spPr>
        <p:txBody>
          <a:bodyPr wrap="square" lIns="0" tIns="0" rIns="0" bIns="0"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Moving a node means updating its pointers</a:t>
            </a:r>
            <a:endParaRPr lang="en-US" sz="1200" dirty="0"/>
          </a:p>
        </p:txBody>
      </p:sp>
      <p:sp>
        <p:nvSpPr>
          <p:cNvPr id="16" name="Text 14"/>
          <p:cNvSpPr/>
          <p:nvPr/>
        </p:nvSpPr>
        <p:spPr>
          <a:xfrm>
            <a:off x="905256" y="3282696"/>
            <a:ext cx="3749040" cy="530352"/>
          </a:xfrm>
          <a:prstGeom prst="rect">
            <a:avLst/>
          </a:prstGeom>
          <a:noFill/>
          <a:ln/>
        </p:spPr>
        <p:txBody>
          <a:bodyPr wrap="square" lIns="0" tIns="0" rIns="0" bIns="0" rtlCol="0" anchor="ctr"/>
          <a:lstStyle/>
          <a:p>
            <a:pPr marL="0" indent="0">
              <a:buNone/>
            </a:pPr>
            <a:r>
              <a:rPr lang="en-US" sz="1050" dirty="0">
                <a:solidFill>
                  <a:srgbClr val="555555"/>
                </a:solidFill>
                <a:latin typeface="Calibri" pitchFamily="34" charset="0"/>
                <a:ea typeface="Calibri" pitchFamily="34" charset="-122"/>
                <a:cs typeface="Calibri" pitchFamily="34" charset="-120"/>
              </a:rPr>
              <a:t>Moving a role or skill to a different directory requires updating every requires that points to it. The lockfile keys are resolved URIs — not declared names.</a:t>
            </a:r>
            <a:endParaRPr lang="en-US" sz="1050" dirty="0"/>
          </a:p>
        </p:txBody>
      </p:sp>
      <p:sp>
        <p:nvSpPr>
          <p:cNvPr id="17" name="Shape 15"/>
          <p:cNvSpPr/>
          <p:nvPr/>
        </p:nvSpPr>
        <p:spPr>
          <a:xfrm>
            <a:off x="457200" y="3922776"/>
            <a:ext cx="347472" cy="347472"/>
          </a:xfrm>
          <a:prstGeom prst="ellipse">
            <a:avLst/>
          </a:prstGeom>
          <a:solidFill>
            <a:srgbClr val="1C7293"/>
          </a:solidFill>
          <a:ln/>
        </p:spPr>
      </p:sp>
      <p:sp>
        <p:nvSpPr>
          <p:cNvPr id="18" name="Text 16"/>
          <p:cNvSpPr/>
          <p:nvPr/>
        </p:nvSpPr>
        <p:spPr>
          <a:xfrm>
            <a:off x="457200" y="3913632"/>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905256" y="3877056"/>
            <a:ext cx="3749040" cy="274320"/>
          </a:xfrm>
          <a:prstGeom prst="rect">
            <a:avLst/>
          </a:prstGeom>
          <a:noFill/>
          <a:ln/>
        </p:spPr>
        <p:txBody>
          <a:bodyPr wrap="square" lIns="0" tIns="0" rIns="0" bIns="0"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server/ holds the implementation</a:t>
            </a:r>
            <a:endParaRPr lang="en-US" sz="1200" dirty="0"/>
          </a:p>
        </p:txBody>
      </p:sp>
      <p:sp>
        <p:nvSpPr>
          <p:cNvPr id="20" name="Text 18"/>
          <p:cNvSpPr/>
          <p:nvPr/>
        </p:nvSpPr>
        <p:spPr>
          <a:xfrm>
            <a:off x="905256" y="4169664"/>
            <a:ext cx="3749040" cy="530352"/>
          </a:xfrm>
          <a:prstGeom prst="rect">
            <a:avLst/>
          </a:prstGeom>
          <a:noFill/>
          <a:ln/>
        </p:spPr>
        <p:txBody>
          <a:bodyPr wrap="square" lIns="0" tIns="0" rIns="0" bIns="0" rtlCol="0" anchor="ctr"/>
          <a:lstStyle/>
          <a:p>
            <a:pPr marL="0" indent="0">
              <a:buNone/>
            </a:pPr>
            <a:r>
              <a:rPr lang="en-US" sz="1050" dirty="0">
                <a:solidFill>
                  <a:srgbClr val="555555"/>
                </a:solidFill>
                <a:latin typeface="Calibri" pitchFamily="34" charset="0"/>
                <a:ea typeface="Calibri" pitchFamily="34" charset="-122"/>
                <a:cs typeface="Calibri" pitchFamily="34" charset="-120"/>
              </a:rPr>
              <a:t>A tool's MCP code, vendored packages, and mcp.json all live inside the tool node's server/ folder. The chain's last hop lands there.</a:t>
            </a:r>
            <a:endParaRPr lang="en-US" sz="1050" dirty="0"/>
          </a:p>
        </p:txBody>
      </p:sp>
      <p:sp>
        <p:nvSpPr>
          <p:cNvPr id="21" name="Shape 19"/>
          <p:cNvSpPr/>
          <p:nvPr/>
        </p:nvSpPr>
        <p:spPr>
          <a:xfrm>
            <a:off x="4892040" y="1143000"/>
            <a:ext cx="4023360" cy="3840480"/>
          </a:xfrm>
          <a:prstGeom prst="rect">
            <a:avLst/>
          </a:prstGeom>
          <a:solidFill>
            <a:srgbClr val="0D1B2A"/>
          </a:solidFill>
          <a:ln/>
        </p:spPr>
      </p:sp>
      <p:sp>
        <p:nvSpPr>
          <p:cNvPr id="22" name="Text 20"/>
          <p:cNvSpPr/>
          <p:nvPr/>
        </p:nvSpPr>
        <p:spPr>
          <a:xfrm>
            <a:off x="5029200" y="1261872"/>
            <a:ext cx="3794760" cy="3611880"/>
          </a:xfrm>
          <a:prstGeom prst="rect">
            <a:avLst/>
          </a:prstGeom>
          <a:noFill/>
          <a:ln/>
        </p:spPr>
        <p:txBody>
          <a:bodyPr wrap="square" lIns="0" tIns="0" rIns="0" bIns="0" rtlCol="0" anchor="t"/>
          <a:lstStyle/>
          <a:p>
            <a:pPr marL="0" indent="0">
              <a:lnSpc>
                <a:spcPct val="122000"/>
              </a:lnSpc>
              <a:buNone/>
            </a:pPr>
            <a:r>
              <a:rPr lang="en-US" sz="900" dirty="0">
                <a:solidFill>
                  <a:srgbClr val="02C39A"/>
                </a:solidFill>
                <a:latin typeface="Courier New" pitchFamily="34" charset="0"/>
                <a:ea typeface="Courier New" pitchFamily="34" charset="-122"/>
                <a:cs typeface="Courier New" pitchFamily="34" charset="-120"/>
              </a:rPr>
              <a:t>company/</a:t>
            </a:r>
            <a:endParaRPr lang="en-US" sz="900" dirty="0"/>
          </a:p>
          <a:p>
            <a:pPr marL="0" indent="0">
              <a:lnSpc>
                <a:spcPct val="122000"/>
              </a:lnSpc>
              <a:buNone/>
            </a:pPr>
            <a:r>
              <a:rPr lang="en-US" sz="900" dirty="0">
                <a:solidFill>
                  <a:srgbClr val="02C39A"/>
                </a:solidFill>
                <a:latin typeface="Courier New" pitchFamily="34" charset="0"/>
                <a:ea typeface="Courier New" pitchFamily="34" charset="-122"/>
                <a:cs typeface="Courier New" pitchFamily="34" charset="-120"/>
              </a:rPr>
              <a:t>├── CLAUDE.md         ← OAA entry point</a:t>
            </a:r>
            <a:endParaRPr lang="en-US" sz="900" dirty="0"/>
          </a:p>
          <a:p>
            <a:pPr marL="0" indent="0">
              <a:lnSpc>
                <a:spcPct val="122000"/>
              </a:lnSpc>
              <a:buNone/>
            </a:pPr>
            <a:r>
              <a:rPr lang="en-US" sz="900" dirty="0">
                <a:solidFill>
                  <a:srgbClr val="02C39A"/>
                </a:solidFill>
                <a:latin typeface="Courier New" pitchFamily="34" charset="0"/>
                <a:ea typeface="Courier New" pitchFamily="34" charset="-122"/>
                <a:cs typeface="Courier New" pitchFamily="34" charset="-120"/>
              </a:rPr>
              <a:t>├── agents.lock       ← compiler output</a:t>
            </a:r>
            <a:endParaRPr lang="en-US" sz="900" dirty="0"/>
          </a:p>
          <a:p>
            <a:pPr marL="0" indent="0">
              <a:lnSpc>
                <a:spcPct val="122000"/>
              </a:lnSpc>
              <a:buNone/>
            </a:pPr>
            <a:r>
              <a:rPr lang="en-US" sz="900" dirty="0">
                <a:solidFill>
                  <a:srgbClr val="02C39A"/>
                </a:solidFill>
                <a:latin typeface="Courier New" pitchFamily="34" charset="0"/>
                <a:ea typeface="Courier New" pitchFamily="34" charset="-122"/>
                <a:cs typeface="Courier New" pitchFamily="34" charset="-120"/>
              </a:rPr>
              <a:t>├── agents/</a:t>
            </a:r>
            <a:endParaRPr lang="en-US" sz="900" dirty="0"/>
          </a:p>
          <a:p>
            <a:pPr marL="0" indent="0">
              <a:lnSpc>
                <a:spcPct val="122000"/>
              </a:lnSpc>
              <a:buNone/>
            </a:pPr>
            <a:r>
              <a:rPr lang="en-US" sz="900" dirty="0">
                <a:solidFill>
                  <a:srgbClr val="02C39A"/>
                </a:solidFill>
                <a:latin typeface="Courier New" pitchFamily="34" charset="0"/>
                <a:ea typeface="Courier New" pitchFamily="34" charset="-122"/>
                <a:cs typeface="Courier New" pitchFamily="34" charset="-120"/>
              </a:rPr>
              <a:t>│   └── ads-manager/</a:t>
            </a:r>
            <a:endParaRPr lang="en-US" sz="900" dirty="0"/>
          </a:p>
          <a:p>
            <a:pPr marL="0" indent="0">
              <a:lnSpc>
                <a:spcPct val="122000"/>
              </a:lnSpc>
              <a:buNone/>
            </a:pPr>
            <a:r>
              <a:rPr lang="en-US" sz="900" dirty="0">
                <a:solidFill>
                  <a:srgbClr val="02C39A"/>
                </a:solidFill>
                <a:latin typeface="Courier New" pitchFamily="34" charset="0"/>
                <a:ea typeface="Courier New" pitchFamily="34" charset="-122"/>
                <a:cs typeface="Courier New" pitchFamily="34" charset="-120"/>
              </a:rPr>
              <a:t>│       ├── AGENT.md</a:t>
            </a:r>
            <a:endParaRPr lang="en-US" sz="900" dirty="0"/>
          </a:p>
          <a:p>
            <a:pPr marL="0" indent="0">
              <a:lnSpc>
                <a:spcPct val="122000"/>
              </a:lnSpc>
              <a:buNone/>
            </a:pPr>
            <a:r>
              <a:rPr lang="en-US" sz="900" dirty="0">
                <a:solidFill>
                  <a:srgbClr val="02C39A"/>
                </a:solidFill>
                <a:latin typeface="Courier New" pitchFamily="34" charset="0"/>
                <a:ea typeface="Courier New" pitchFamily="34" charset="-122"/>
                <a:cs typeface="Courier New" pitchFamily="34" charset="-120"/>
              </a:rPr>
              <a:t>│       └── memory/</a:t>
            </a:r>
            <a:endParaRPr lang="en-US" sz="900" dirty="0"/>
          </a:p>
          <a:p>
            <a:pPr marL="0" indent="0">
              <a:lnSpc>
                <a:spcPct val="122000"/>
              </a:lnSpc>
              <a:buNone/>
            </a:pPr>
            <a:r>
              <a:rPr lang="en-US" sz="900" dirty="0">
                <a:solidFill>
                  <a:srgbClr val="02C39A"/>
                </a:solidFill>
                <a:latin typeface="Courier New" pitchFamily="34" charset="0"/>
                <a:ea typeface="Courier New" pitchFamily="34" charset="-122"/>
                <a:cs typeface="Courier New" pitchFamily="34" charset="-120"/>
              </a:rPr>
              <a:t>├── roles/</a:t>
            </a:r>
            <a:endParaRPr lang="en-US" sz="900" dirty="0"/>
          </a:p>
          <a:p>
            <a:pPr marL="0" indent="0">
              <a:lnSpc>
                <a:spcPct val="122000"/>
              </a:lnSpc>
              <a:buNone/>
            </a:pPr>
            <a:r>
              <a:rPr lang="en-US" sz="900" dirty="0">
                <a:solidFill>
                  <a:srgbClr val="02C39A"/>
                </a:solidFill>
                <a:latin typeface="Courier New" pitchFamily="34" charset="0"/>
                <a:ea typeface="Courier New" pitchFamily="34" charset="-122"/>
                <a:cs typeface="Courier New" pitchFamily="34" charset="-120"/>
              </a:rPr>
              <a:t>│   └── budget-steward/</a:t>
            </a:r>
            <a:endParaRPr lang="en-US" sz="900" dirty="0"/>
          </a:p>
          <a:p>
            <a:pPr marL="0" indent="0">
              <a:lnSpc>
                <a:spcPct val="122000"/>
              </a:lnSpc>
              <a:buNone/>
            </a:pPr>
            <a:r>
              <a:rPr lang="en-US" sz="900" dirty="0">
                <a:solidFill>
                  <a:srgbClr val="02C39A"/>
                </a:solidFill>
                <a:latin typeface="Courier New" pitchFamily="34" charset="0"/>
                <a:ea typeface="Courier New" pitchFamily="34" charset="-122"/>
                <a:cs typeface="Courier New" pitchFamily="34" charset="-120"/>
              </a:rPr>
              <a:t>│       ├── ROLE.md</a:t>
            </a:r>
            <a:endParaRPr lang="en-US" sz="900" dirty="0"/>
          </a:p>
          <a:p>
            <a:pPr marL="0" indent="0">
              <a:lnSpc>
                <a:spcPct val="122000"/>
              </a:lnSpc>
              <a:buNone/>
            </a:pPr>
            <a:r>
              <a:rPr lang="en-US" sz="900" dirty="0">
                <a:solidFill>
                  <a:srgbClr val="02C39A"/>
                </a:solidFill>
                <a:latin typeface="Courier New" pitchFamily="34" charset="0"/>
                <a:ea typeface="Courier New" pitchFamily="34" charset="-122"/>
                <a:cs typeface="Courier New" pitchFamily="34" charset="-120"/>
              </a:rPr>
              <a:t>│       └── decisions/</a:t>
            </a:r>
            <a:endParaRPr lang="en-US" sz="900" dirty="0"/>
          </a:p>
          <a:p>
            <a:pPr marL="0" indent="0">
              <a:lnSpc>
                <a:spcPct val="122000"/>
              </a:lnSpc>
              <a:buNone/>
            </a:pPr>
            <a:r>
              <a:rPr lang="en-US" sz="900" dirty="0">
                <a:solidFill>
                  <a:srgbClr val="02C39A"/>
                </a:solidFill>
                <a:latin typeface="Courier New" pitchFamily="34" charset="0"/>
                <a:ea typeface="Courier New" pitchFamily="34" charset="-122"/>
                <a:cs typeface="Courier New" pitchFamily="34" charset="-120"/>
              </a:rPr>
              <a:t>├── skills/</a:t>
            </a:r>
            <a:endParaRPr lang="en-US" sz="900" dirty="0"/>
          </a:p>
          <a:p>
            <a:pPr marL="0" indent="0">
              <a:lnSpc>
                <a:spcPct val="122000"/>
              </a:lnSpc>
              <a:buNone/>
            </a:pPr>
            <a:r>
              <a:rPr lang="en-US" sz="900" dirty="0">
                <a:solidFill>
                  <a:srgbClr val="02C39A"/>
                </a:solidFill>
                <a:latin typeface="Courier New" pitchFamily="34" charset="0"/>
                <a:ea typeface="Courier New" pitchFamily="34" charset="-122"/>
                <a:cs typeface="Courier New" pitchFamily="34" charset="-120"/>
              </a:rPr>
              <a:t>│   └── perf-audit/</a:t>
            </a:r>
            <a:endParaRPr lang="en-US" sz="900" dirty="0"/>
          </a:p>
          <a:p>
            <a:pPr marL="0" indent="0">
              <a:lnSpc>
                <a:spcPct val="122000"/>
              </a:lnSpc>
              <a:buNone/>
            </a:pPr>
            <a:r>
              <a:rPr lang="en-US" sz="900" dirty="0">
                <a:solidFill>
                  <a:srgbClr val="02C39A"/>
                </a:solidFill>
                <a:latin typeface="Courier New" pitchFamily="34" charset="0"/>
                <a:ea typeface="Courier New" pitchFamily="34" charset="-122"/>
                <a:cs typeface="Courier New" pitchFamily="34" charset="-120"/>
              </a:rPr>
              <a:t>│       ├── SKILL.md</a:t>
            </a:r>
            <a:endParaRPr lang="en-US" sz="900" dirty="0"/>
          </a:p>
          <a:p>
            <a:pPr marL="0" indent="0">
              <a:lnSpc>
                <a:spcPct val="122000"/>
              </a:lnSpc>
              <a:buNone/>
            </a:pPr>
            <a:r>
              <a:rPr lang="en-US" sz="900" dirty="0">
                <a:solidFill>
                  <a:srgbClr val="02C39A"/>
                </a:solidFill>
                <a:latin typeface="Courier New" pitchFamily="34" charset="0"/>
                <a:ea typeface="Courier New" pitchFamily="34" charset="-122"/>
                <a:cs typeface="Courier New" pitchFamily="34" charset="-120"/>
              </a:rPr>
              <a:t>│       └── scripts/</a:t>
            </a:r>
            <a:endParaRPr lang="en-US" sz="900" dirty="0"/>
          </a:p>
          <a:p>
            <a:pPr marL="0" indent="0">
              <a:lnSpc>
                <a:spcPct val="122000"/>
              </a:lnSpc>
              <a:buNone/>
            </a:pPr>
            <a:r>
              <a:rPr lang="en-US" sz="900" dirty="0">
                <a:solidFill>
                  <a:srgbClr val="02C39A"/>
                </a:solidFill>
                <a:latin typeface="Courier New" pitchFamily="34" charset="0"/>
                <a:ea typeface="Courier New" pitchFamily="34" charset="-122"/>
                <a:cs typeface="Courier New" pitchFamily="34" charset="-120"/>
              </a:rPr>
              <a:t>└── tools/</a:t>
            </a:r>
            <a:endParaRPr lang="en-US" sz="900" dirty="0"/>
          </a:p>
          <a:p>
            <a:pPr marL="0" indent="0">
              <a:lnSpc>
                <a:spcPct val="122000"/>
              </a:lnSpc>
              <a:buNone/>
            </a:pPr>
            <a:r>
              <a:rPr lang="en-US" sz="900" dirty="0">
                <a:solidFill>
                  <a:srgbClr val="02C39A"/>
                </a:solidFill>
                <a:latin typeface="Courier New" pitchFamily="34" charset="0"/>
                <a:ea typeface="Courier New" pitchFamily="34" charset="-122"/>
                <a:cs typeface="Courier New" pitchFamily="34" charset="-120"/>
              </a:rPr>
              <a:t>    └── meta-ads/</a:t>
            </a:r>
            <a:endParaRPr lang="en-US" sz="900" dirty="0"/>
          </a:p>
          <a:p>
            <a:pPr marL="0" indent="0">
              <a:lnSpc>
                <a:spcPct val="122000"/>
              </a:lnSpc>
              <a:buNone/>
            </a:pPr>
            <a:r>
              <a:rPr lang="en-US" sz="900" dirty="0">
                <a:solidFill>
                  <a:srgbClr val="02C39A"/>
                </a:solidFill>
                <a:latin typeface="Courier New" pitchFamily="34" charset="0"/>
                <a:ea typeface="Courier New" pitchFamily="34" charset="-122"/>
                <a:cs typeface="Courier New" pitchFamily="34" charset="-120"/>
              </a:rPr>
              <a:t>        ├── TOOL.md</a:t>
            </a:r>
            <a:endParaRPr lang="en-US" sz="900" dirty="0"/>
          </a:p>
          <a:p>
            <a:pPr marL="0" indent="0">
              <a:lnSpc>
                <a:spcPct val="122000"/>
              </a:lnSpc>
              <a:buNone/>
            </a:pPr>
            <a:r>
              <a:rPr lang="en-US" sz="900" dirty="0">
                <a:solidFill>
                  <a:srgbClr val="02C39A"/>
                </a:solidFill>
                <a:latin typeface="Courier New" pitchFamily="34" charset="0"/>
                <a:ea typeface="Courier New" pitchFamily="34" charset="-122"/>
                <a:cs typeface="Courier New" pitchFamily="34" charset="-120"/>
              </a:rPr>
              <a:t>        └── server/</a:t>
            </a:r>
            <a:endParaRPr lang="en-US" sz="900" dirty="0"/>
          </a:p>
          <a:p>
            <a:pPr marL="0" indent="0">
              <a:lnSpc>
                <a:spcPct val="122000"/>
              </a:lnSpc>
              <a:buNone/>
            </a:pPr>
            <a:r>
              <a:rPr lang="en-US" sz="900" dirty="0">
                <a:solidFill>
                  <a:srgbClr val="02C39A"/>
                </a:solidFill>
                <a:latin typeface="Courier New" pitchFamily="34" charset="0"/>
                <a:ea typeface="Courier New" pitchFamily="34" charset="-122"/>
                <a:cs typeface="Courier New" pitchFamily="34" charset="-120"/>
              </a:rPr>
              <a:t>            └── mcp.json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B2A"/>
          </a:solidFill>
          <a:ln/>
        </p:spPr>
      </p:sp>
      <p:sp>
        <p:nvSpPr>
          <p:cNvPr id="3" name="Text 1"/>
          <p:cNvSpPr/>
          <p:nvPr/>
        </p:nvSpPr>
        <p:spPr>
          <a:xfrm>
            <a:off x="457200" y="256032"/>
            <a:ext cx="8229600" cy="594360"/>
          </a:xfrm>
          <a:prstGeom prst="rect">
            <a:avLst/>
          </a:prstGeom>
          <a:noFill/>
          <a:ln/>
        </p:spPr>
        <p:txBody>
          <a:bodyPr wrap="square" lIns="0" tIns="0" rIns="0" bIns="0"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The Ontology: Domain Vocabulary in .rel</a:t>
            </a:r>
            <a:endParaRPr lang="en-US" sz="3600" dirty="0"/>
          </a:p>
        </p:txBody>
      </p:sp>
      <p:sp>
        <p:nvSpPr>
          <p:cNvPr id="4" name="Text 2"/>
          <p:cNvSpPr/>
          <p:nvPr/>
        </p:nvSpPr>
        <p:spPr>
          <a:xfrm>
            <a:off x="457200" y="886968"/>
            <a:ext cx="8229600" cy="274320"/>
          </a:xfrm>
          <a:prstGeom prst="rect">
            <a:avLst/>
          </a:prstGeom>
          <a:noFill/>
          <a:ln/>
        </p:spPr>
        <p:txBody>
          <a:bodyPr wrap="square" lIns="0" tIns="0" rIns="0" bIns="0" rtlCol="0" anchor="ctr"/>
          <a:lstStyle/>
          <a:p>
            <a:pPr marL="0" indent="0">
              <a:buNone/>
            </a:pPr>
            <a:r>
              <a:rPr lang="en-US" sz="1300" i="1" dirty="0">
                <a:solidFill>
                  <a:srgbClr val="02C39A"/>
                </a:solidFill>
                <a:latin typeface="Calibri" pitchFamily="34" charset="0"/>
                <a:ea typeface="Calibri" pitchFamily="34" charset="-122"/>
                <a:cs typeface="Calibri" pitchFamily="34" charset="-120"/>
              </a:rPr>
              <a:t>Give authority identifiers a formal definition. Compile .rel sources into a queryable SQLite entity store.</a:t>
            </a:r>
            <a:endParaRPr lang="en-US" sz="1300" dirty="0"/>
          </a:p>
        </p:txBody>
      </p:sp>
      <p:sp>
        <p:nvSpPr>
          <p:cNvPr id="5" name="Shape 3"/>
          <p:cNvSpPr/>
          <p:nvPr/>
        </p:nvSpPr>
        <p:spPr>
          <a:xfrm>
            <a:off x="457200" y="1234440"/>
            <a:ext cx="3977640" cy="1737360"/>
          </a:xfrm>
          <a:prstGeom prst="rect">
            <a:avLst/>
          </a:prstGeom>
          <a:solidFill>
            <a:srgbClr val="050D18"/>
          </a:solidFill>
          <a:ln/>
        </p:spPr>
      </p:sp>
      <p:sp>
        <p:nvSpPr>
          <p:cNvPr id="6" name="Text 4"/>
          <p:cNvSpPr/>
          <p:nvPr/>
        </p:nvSpPr>
        <p:spPr>
          <a:xfrm>
            <a:off x="594360" y="1280160"/>
            <a:ext cx="3657600" cy="237744"/>
          </a:xfrm>
          <a:prstGeom prst="rect">
            <a:avLst/>
          </a:prstGeom>
          <a:noFill/>
          <a:ln/>
        </p:spPr>
        <p:txBody>
          <a:bodyPr wrap="square" lIns="0" tIns="0" rIns="0" bIns="0" rtlCol="0" anchor="ctr"/>
          <a:lstStyle/>
          <a:p>
            <a:pPr marL="0" indent="0">
              <a:buNone/>
            </a:pPr>
            <a:r>
              <a:rPr lang="en-US" sz="950" i="1" dirty="0">
                <a:solidFill>
                  <a:srgbClr val="6B8FAE"/>
                </a:solidFill>
                <a:latin typeface="Calibri" pitchFamily="34" charset="0"/>
                <a:ea typeface="Calibri" pitchFamily="34" charset="-122"/>
                <a:cs typeface="Calibri" pitchFamily="34" charset="-120"/>
              </a:rPr>
              <a:t>Entity declaration</a:t>
            </a:r>
            <a:endParaRPr lang="en-US" sz="950" dirty="0"/>
          </a:p>
        </p:txBody>
      </p:sp>
      <p:sp>
        <p:nvSpPr>
          <p:cNvPr id="7" name="Text 5"/>
          <p:cNvSpPr/>
          <p:nvPr/>
        </p:nvSpPr>
        <p:spPr>
          <a:xfrm>
            <a:off x="594360" y="1554480"/>
            <a:ext cx="3703320" cy="1325880"/>
          </a:xfrm>
          <a:prstGeom prst="rect">
            <a:avLst/>
          </a:prstGeom>
          <a:noFill/>
          <a:ln/>
        </p:spPr>
        <p:txBody>
          <a:bodyPr wrap="square" lIns="0" tIns="0" rIns="0" bIns="0" rtlCol="0" anchor="t"/>
          <a:lstStyle/>
          <a:p>
            <a:pPr marL="0" indent="0">
              <a:buNone/>
            </a:pPr>
            <a:r>
              <a:rPr lang="en-US" sz="950" b="1" dirty="0">
                <a:solidFill>
                  <a:srgbClr val="1C7293"/>
                </a:solidFill>
                <a:latin typeface="Courier New" pitchFamily="34" charset="0"/>
                <a:ea typeface="Courier New" pitchFamily="34" charset="-122"/>
                <a:cs typeface="Courier New" pitchFamily="34" charset="-120"/>
              </a:rPr>
              <a:t>entity </a:t>
            </a:r>
            <a:r>
              <a:rPr lang="en-US" sz="950" dirty="0">
                <a:solidFill>
                  <a:srgbClr val="FFFFFF"/>
                </a:solidFill>
                <a:latin typeface="Courier New" pitchFamily="34" charset="0"/>
                <a:ea typeface="Courier New" pitchFamily="34" charset="-122"/>
                <a:cs typeface="Courier New" pitchFamily="34" charset="-120"/>
              </a:rPr>
              <a:t>Campaign {
</a:t>
            </a:r>
            <a:r>
              <a:rPr lang="en-US" sz="950" dirty="0">
                <a:solidFill>
                  <a:srgbClr val="02C39A"/>
                </a:solidFill>
                <a:latin typeface="Courier New" pitchFamily="34" charset="0"/>
                <a:ea typeface="Courier New" pitchFamily="34" charset="-122"/>
                <a:cs typeface="Courier New" pitchFamily="34" charset="-120"/>
              </a:rPr>
              <a:t>  id:           </a:t>
            </a:r>
            <a:r>
              <a:rPr lang="en-US" sz="950" dirty="0">
                <a:solidFill>
                  <a:srgbClr val="FFFFFF"/>
                </a:solidFill>
                <a:latin typeface="Courier New" pitchFamily="34" charset="0"/>
                <a:ea typeface="Courier New" pitchFamily="34" charset="-122"/>
                <a:cs typeface="Courier New" pitchFamily="34" charset="-120"/>
              </a:rPr>
              <a:t>string  </a:t>
            </a:r>
            <a:r>
              <a:rPr lang="en-US" sz="950" dirty="0">
                <a:solidFill>
                  <a:srgbClr val="E69B2F"/>
                </a:solidFill>
                <a:latin typeface="Courier New" pitchFamily="34" charset="0"/>
                <a:ea typeface="Courier New" pitchFamily="34" charset="-122"/>
                <a:cs typeface="Courier New" pitchFamily="34" charset="-120"/>
              </a:rPr>
              <a:t>@key
</a:t>
            </a:r>
            <a:r>
              <a:rPr lang="en-US" sz="950" dirty="0">
                <a:solidFill>
                  <a:srgbClr val="02C39A"/>
                </a:solidFill>
                <a:latin typeface="Courier New" pitchFamily="34" charset="0"/>
                <a:ea typeface="Courier New" pitchFamily="34" charset="-122"/>
                <a:cs typeface="Courier New" pitchFamily="34" charset="-120"/>
              </a:rPr>
              <a:t>  daily-budget: </a:t>
            </a:r>
            <a:r>
              <a:rPr lang="en-US" sz="950" dirty="0">
                <a:solidFill>
                  <a:srgbClr val="FFFFFF"/>
                </a:solidFill>
                <a:latin typeface="Courier New" pitchFamily="34" charset="0"/>
                <a:ea typeface="Courier New" pitchFamily="34" charset="-122"/>
                <a:cs typeface="Courier New" pitchFamily="34" charset="-120"/>
              </a:rPr>
              <a:t>float
</a:t>
            </a:r>
            <a:r>
              <a:rPr lang="en-US" sz="950" dirty="0">
                <a:solidFill>
                  <a:srgbClr val="02C39A"/>
                </a:solidFill>
                <a:latin typeface="Courier New" pitchFamily="34" charset="0"/>
                <a:ea typeface="Courier New" pitchFamily="34" charset="-122"/>
                <a:cs typeface="Courier New" pitchFamily="34" charset="-120"/>
              </a:rPr>
              <a:t>  rolling-3day-cpa: </a:t>
            </a:r>
            <a:r>
              <a:rPr lang="en-US" sz="950" dirty="0">
                <a:solidFill>
                  <a:srgbClr val="FFFFFF"/>
                </a:solidFill>
                <a:latin typeface="Courier New" pitchFamily="34" charset="0"/>
                <a:ea typeface="Courier New" pitchFamily="34" charset="-122"/>
                <a:cs typeface="Courier New" pitchFamily="34" charset="-120"/>
              </a:rPr>
              <a:t>float  </a:t>
            </a:r>
            <a:r>
              <a:rPr lang="en-US" sz="950" dirty="0">
                <a:solidFill>
                  <a:srgbClr val="E69B2F"/>
                </a:solidFill>
                <a:latin typeface="Courier New" pitchFamily="34" charset="0"/>
                <a:ea typeface="Courier New" pitchFamily="34" charset="-122"/>
                <a:cs typeface="Courier New" pitchFamily="34" charset="-120"/>
              </a:rPr>
              <a:t>@computed
</a:t>
            </a:r>
            <a:r>
              <a:rPr lang="en-US" sz="950" dirty="0">
                <a:solidFill>
                  <a:srgbClr val="6B8FAE"/>
                </a:solidFill>
                <a:latin typeface="Courier New" pitchFamily="34" charset="0"/>
                <a:ea typeface="Courier New" pitchFamily="34" charset="-122"/>
                <a:cs typeface="Courier New" pitchFamily="34" charset="-120"/>
              </a:rPr>
              <a:t>}</a:t>
            </a:r>
            <a:endParaRPr lang="en-US" sz="950" dirty="0"/>
          </a:p>
        </p:txBody>
      </p:sp>
      <p:sp>
        <p:nvSpPr>
          <p:cNvPr id="8" name="Shape 6"/>
          <p:cNvSpPr/>
          <p:nvPr/>
        </p:nvSpPr>
        <p:spPr>
          <a:xfrm>
            <a:off x="4709160" y="1234440"/>
            <a:ext cx="3977640" cy="1737360"/>
          </a:xfrm>
          <a:prstGeom prst="rect">
            <a:avLst/>
          </a:prstGeom>
          <a:solidFill>
            <a:srgbClr val="050D18"/>
          </a:solidFill>
          <a:ln/>
        </p:spPr>
      </p:sp>
      <p:sp>
        <p:nvSpPr>
          <p:cNvPr id="9" name="Text 7"/>
          <p:cNvSpPr/>
          <p:nvPr/>
        </p:nvSpPr>
        <p:spPr>
          <a:xfrm>
            <a:off x="4846320" y="1280160"/>
            <a:ext cx="3657600" cy="237744"/>
          </a:xfrm>
          <a:prstGeom prst="rect">
            <a:avLst/>
          </a:prstGeom>
          <a:noFill/>
          <a:ln/>
        </p:spPr>
        <p:txBody>
          <a:bodyPr wrap="square" lIns="0" tIns="0" rIns="0" bIns="0" rtlCol="0" anchor="ctr"/>
          <a:lstStyle/>
          <a:p>
            <a:pPr marL="0" indent="0">
              <a:buNone/>
            </a:pPr>
            <a:r>
              <a:rPr lang="en-US" sz="950" i="1" dirty="0">
                <a:solidFill>
                  <a:srgbClr val="6B8FAE"/>
                </a:solidFill>
                <a:latin typeface="Calibri" pitchFamily="34" charset="0"/>
                <a:ea typeface="Calibri" pitchFamily="34" charset="-122"/>
                <a:cs typeface="Calibri" pitchFamily="34" charset="-120"/>
              </a:rPr>
              <a:t>Derived concept rule</a:t>
            </a:r>
            <a:endParaRPr lang="en-US" sz="950" dirty="0"/>
          </a:p>
        </p:txBody>
      </p:sp>
      <p:sp>
        <p:nvSpPr>
          <p:cNvPr id="10" name="Text 8"/>
          <p:cNvSpPr/>
          <p:nvPr/>
        </p:nvSpPr>
        <p:spPr>
          <a:xfrm>
            <a:off x="4846320" y="1554480"/>
            <a:ext cx="3703320" cy="1325880"/>
          </a:xfrm>
          <a:prstGeom prst="rect">
            <a:avLst/>
          </a:prstGeom>
          <a:noFill/>
          <a:ln/>
        </p:spPr>
        <p:txBody>
          <a:bodyPr wrap="square" lIns="0" tIns="0" rIns="0" bIns="0" rtlCol="0" anchor="t"/>
          <a:lstStyle/>
          <a:p>
            <a:pPr marL="0" indent="0">
              <a:buNone/>
            </a:pPr>
            <a:r>
              <a:rPr lang="en-US" sz="950" b="1" dirty="0">
                <a:solidFill>
                  <a:srgbClr val="1C7293"/>
                </a:solidFill>
                <a:latin typeface="Courier New" pitchFamily="34" charset="0"/>
                <a:ea typeface="Courier New" pitchFamily="34" charset="-122"/>
                <a:cs typeface="Courier New" pitchFamily="34" charset="-120"/>
              </a:rPr>
              <a:t>concept </a:t>
            </a:r>
            <a:r>
              <a:rPr lang="en-US" sz="950" dirty="0">
                <a:solidFill>
                  <a:srgbClr val="FFFFFF"/>
                </a:solidFill>
                <a:latin typeface="Courier New" pitchFamily="34" charset="0"/>
                <a:ea typeface="Courier New" pitchFamily="34" charset="-122"/>
                <a:cs typeface="Courier New" pitchFamily="34" charset="-120"/>
              </a:rPr>
              <a:t>UnderachievingCampaign
</a:t>
            </a:r>
            <a:r>
              <a:rPr lang="en-US" sz="950" dirty="0">
                <a:solidFill>
                  <a:srgbClr val="6B8FAE"/>
                </a:solidFill>
                <a:latin typeface="Courier New" pitchFamily="34" charset="0"/>
                <a:ea typeface="Courier New" pitchFamily="34" charset="-122"/>
                <a:cs typeface="Courier New" pitchFamily="34" charset="-120"/>
              </a:rPr>
              <a:t>  extends Campaign {
</a:t>
            </a:r>
            <a:r>
              <a:rPr lang="en-US" sz="950" dirty="0">
                <a:solidFill>
                  <a:srgbClr val="1C7293"/>
                </a:solidFill>
                <a:latin typeface="Courier New" pitchFamily="34" charset="0"/>
                <a:ea typeface="Courier New" pitchFamily="34" charset="-122"/>
                <a:cs typeface="Courier New" pitchFamily="34" charset="-120"/>
              </a:rPr>
              <a:t>  where </a:t>
            </a:r>
            <a:r>
              <a:rPr lang="en-US" sz="950" dirty="0">
                <a:solidFill>
                  <a:srgbClr val="E05252"/>
                </a:solidFill>
                <a:latin typeface="Courier New" pitchFamily="34" charset="0"/>
                <a:ea typeface="Courier New" pitchFamily="34" charset="-122"/>
                <a:cs typeface="Courier New" pitchFamily="34" charset="-120"/>
              </a:rPr>
              <a:t>rolling-3day-cpa &gt; 35
</a:t>
            </a:r>
            <a:r>
              <a:rPr lang="en-US" sz="950" dirty="0">
                <a:solidFill>
                  <a:srgbClr val="6B8FAE"/>
                </a:solidFill>
                <a:latin typeface="Courier New" pitchFamily="34" charset="0"/>
                <a:ea typeface="Courier New" pitchFamily="34" charset="-122"/>
                <a:cs typeface="Courier New" pitchFamily="34" charset="-120"/>
              </a:rPr>
              <a:t>}
</a:t>
            </a:r>
            <a:r>
              <a:rPr lang="en-US" sz="950" b="1" dirty="0">
                <a:solidFill>
                  <a:srgbClr val="1C7293"/>
                </a:solidFill>
                <a:latin typeface="Courier New" pitchFamily="34" charset="0"/>
                <a:ea typeface="Courier New" pitchFamily="34" charset="-122"/>
                <a:cs typeface="Courier New" pitchFamily="34" charset="-120"/>
              </a:rPr>
              <a:t>concept </a:t>
            </a:r>
            <a:r>
              <a:rPr lang="en-US" sz="950" dirty="0">
                <a:solidFill>
                  <a:srgbClr val="FFFFFF"/>
                </a:solidFill>
                <a:latin typeface="Courier New" pitchFamily="34" charset="0"/>
                <a:ea typeface="Courier New" pitchFamily="34" charset="-122"/>
                <a:cs typeface="Courier New" pitchFamily="34" charset="-120"/>
              </a:rPr>
              <a:t>PausedCampaign
</a:t>
            </a:r>
            <a:r>
              <a:rPr lang="en-US" sz="950" dirty="0">
                <a:solidFill>
                  <a:srgbClr val="6B8FAE"/>
                </a:solidFill>
                <a:latin typeface="Courier New" pitchFamily="34" charset="0"/>
                <a:ea typeface="Courier New" pitchFamily="34" charset="-122"/>
                <a:cs typeface="Courier New" pitchFamily="34" charset="-120"/>
              </a:rPr>
              <a:t>  extends Campaign {
</a:t>
            </a:r>
            <a:r>
              <a:rPr lang="en-US" sz="950" dirty="0">
                <a:solidFill>
                  <a:srgbClr val="1C7293"/>
                </a:solidFill>
                <a:latin typeface="Courier New" pitchFamily="34" charset="0"/>
                <a:ea typeface="Courier New" pitchFamily="34" charset="-122"/>
                <a:cs typeface="Courier New" pitchFamily="34" charset="-120"/>
              </a:rPr>
              <a:t>  where </a:t>
            </a:r>
            <a:r>
              <a:rPr lang="en-US" sz="950" dirty="0">
                <a:solidFill>
                  <a:srgbClr val="E05252"/>
                </a:solidFill>
                <a:latin typeface="Courier New" pitchFamily="34" charset="0"/>
                <a:ea typeface="Courier New" pitchFamily="34" charset="-122"/>
                <a:cs typeface="Courier New" pitchFamily="34" charset="-120"/>
              </a:rPr>
              <a:t>status == "paused"</a:t>
            </a:r>
            <a:endParaRPr lang="en-US" sz="950" dirty="0"/>
          </a:p>
        </p:txBody>
      </p:sp>
      <p:sp>
        <p:nvSpPr>
          <p:cNvPr id="11" name="Text 9"/>
          <p:cNvSpPr/>
          <p:nvPr/>
        </p:nvSpPr>
        <p:spPr>
          <a:xfrm>
            <a:off x="457200" y="3063240"/>
            <a:ext cx="8229600" cy="292608"/>
          </a:xfrm>
          <a:prstGeom prst="rect">
            <a:avLst/>
          </a:prstGeom>
          <a:noFill/>
          <a:ln/>
        </p:spPr>
        <p:txBody>
          <a:bodyPr wrap="square" lIns="0" tIns="0" rIns="0" bIns="0" rtlCol="0" anchor="ctr"/>
          <a:lstStyle/>
          <a:p>
            <a:pPr marL="0" indent="0" algn="ctr">
              <a:buNone/>
            </a:pPr>
            <a:r>
              <a:rPr lang="en-US" sz="1100" dirty="0">
                <a:solidFill>
                  <a:srgbClr val="02C39A"/>
                </a:solidFill>
                <a:latin typeface="Courier New" pitchFamily="34" charset="0"/>
                <a:ea typeface="Courier New" pitchFamily="34" charset="-122"/>
                <a:cs typeface="Courier New" pitchFamily="34" charset="-120"/>
              </a:rPr>
              <a:t>.rel sources  →  compile_ontology  →  ONTOLOGY.md + schema.sql + memory/ontology.db</a:t>
            </a:r>
            <a:endParaRPr lang="en-US" sz="1100" dirty="0"/>
          </a:p>
        </p:txBody>
      </p:sp>
      <p:sp>
        <p:nvSpPr>
          <p:cNvPr id="12" name="Shape 10"/>
          <p:cNvSpPr/>
          <p:nvPr/>
        </p:nvSpPr>
        <p:spPr>
          <a:xfrm>
            <a:off x="457200" y="3447288"/>
            <a:ext cx="3977640" cy="1508760"/>
          </a:xfrm>
          <a:prstGeom prst="rect">
            <a:avLst/>
          </a:prstGeom>
          <a:solidFill>
            <a:srgbClr val="065A82"/>
          </a:solidFill>
          <a:ln/>
        </p:spPr>
      </p:sp>
      <p:sp>
        <p:nvSpPr>
          <p:cNvPr id="13" name="Text 11"/>
          <p:cNvSpPr/>
          <p:nvPr/>
        </p:nvSpPr>
        <p:spPr>
          <a:xfrm>
            <a:off x="594360" y="3502152"/>
            <a:ext cx="3703320" cy="274320"/>
          </a:xfrm>
          <a:prstGeom prst="rect">
            <a:avLst/>
          </a:prstGeom>
          <a:noFill/>
          <a:ln/>
        </p:spPr>
        <p:txBody>
          <a:bodyPr wrap="square" lIns="0" tIns="0" rIns="0" bIns="0" rtlCol="0" anchor="ctr"/>
          <a:lstStyle/>
          <a:p>
            <a:pPr marL="0" indent="0">
              <a:buNone/>
            </a:pPr>
            <a:r>
              <a:rPr lang="en-US" sz="1100" b="1" dirty="0">
                <a:solidFill>
                  <a:srgbClr val="02C39A"/>
                </a:solidFill>
                <a:latin typeface="Courier New" pitchFamily="34" charset="0"/>
                <a:ea typeface="Courier New" pitchFamily="34" charset="-122"/>
                <a:cs typeface="Courier New" pitchFamily="34" charset="-120"/>
              </a:rPr>
              <a:t>write_entity(kind, id, fields)</a:t>
            </a:r>
            <a:endParaRPr lang="en-US" sz="1100" dirty="0"/>
          </a:p>
        </p:txBody>
      </p:sp>
      <p:sp>
        <p:nvSpPr>
          <p:cNvPr id="14" name="Text 12"/>
          <p:cNvSpPr/>
          <p:nvPr/>
        </p:nvSpPr>
        <p:spPr>
          <a:xfrm>
            <a:off x="594360" y="3813048"/>
            <a:ext cx="3703320" cy="914400"/>
          </a:xfrm>
          <a:prstGeom prst="rect">
            <a:avLst/>
          </a:prstGeom>
          <a:noFill/>
          <a:ln/>
        </p:spPr>
        <p:txBody>
          <a:bodyPr wrap="square" lIns="0" tIns="0" rIns="0" bIns="0" rtlCol="0" anchor="ctr"/>
          <a:lstStyle/>
          <a:p>
            <a:pPr marL="0" indent="0">
              <a:buNone/>
            </a:pPr>
            <a:r>
              <a:rPr lang="en-US" sz="1050" dirty="0">
                <a:solidFill>
                  <a:srgbClr val="AACCDD"/>
                </a:solidFill>
                <a:latin typeface="Calibri" pitchFamily="34" charset="0"/>
                <a:ea typeface="Calibri" pitchFamily="34" charset="-122"/>
                <a:cs typeface="Calibri" pitchFamily="34" charset="-120"/>
              </a:rPr>
              <a:t>Skills call this after fetching from an external API. Persists runtime values to the SQLite entity store. Never hardcode values in prompts — write them.</a:t>
            </a:r>
            <a:endParaRPr lang="en-US" sz="1050" dirty="0"/>
          </a:p>
        </p:txBody>
      </p:sp>
      <p:sp>
        <p:nvSpPr>
          <p:cNvPr id="15" name="Shape 13"/>
          <p:cNvSpPr/>
          <p:nvPr/>
        </p:nvSpPr>
        <p:spPr>
          <a:xfrm>
            <a:off x="4709160" y="3447288"/>
            <a:ext cx="3977640" cy="1508760"/>
          </a:xfrm>
          <a:prstGeom prst="rect">
            <a:avLst/>
          </a:prstGeom>
          <a:solidFill>
            <a:srgbClr val="028090"/>
          </a:solidFill>
          <a:ln/>
        </p:spPr>
      </p:sp>
      <p:sp>
        <p:nvSpPr>
          <p:cNvPr id="16" name="Text 14"/>
          <p:cNvSpPr/>
          <p:nvPr/>
        </p:nvSpPr>
        <p:spPr>
          <a:xfrm>
            <a:off x="4846320" y="3502152"/>
            <a:ext cx="3703320" cy="274320"/>
          </a:xfrm>
          <a:prstGeom prst="rect">
            <a:avLst/>
          </a:prstGeom>
          <a:noFill/>
          <a:ln/>
        </p:spPr>
        <p:txBody>
          <a:bodyPr wrap="square" lIns="0" tIns="0" rIns="0" bIns="0" rtlCol="0" anchor="ctr"/>
          <a:lstStyle/>
          <a:p>
            <a:pPr marL="0" indent="0">
              <a:buNone/>
            </a:pPr>
            <a:r>
              <a:rPr lang="en-US" sz="1100" b="1" dirty="0">
                <a:solidFill>
                  <a:srgbClr val="02C39A"/>
                </a:solidFill>
                <a:latin typeface="Courier New" pitchFamily="34" charset="0"/>
                <a:ea typeface="Courier New" pitchFamily="34" charset="-122"/>
                <a:cs typeface="Courier New" pitchFamily="34" charset="-120"/>
              </a:rPr>
              <a:t>query_concept(concept)</a:t>
            </a:r>
            <a:endParaRPr lang="en-US" sz="1100" dirty="0"/>
          </a:p>
        </p:txBody>
      </p:sp>
      <p:sp>
        <p:nvSpPr>
          <p:cNvPr id="17" name="Text 15"/>
          <p:cNvSpPr/>
          <p:nvPr/>
        </p:nvSpPr>
        <p:spPr>
          <a:xfrm>
            <a:off x="4846320" y="3813048"/>
            <a:ext cx="3703320" cy="91440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Roles call this to read derived concept views without re-hitting external APIs. query_concept("UnderachievingCampaign") returns all matching campaigns instantly.</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FF6FB"/>
          </a:solidFill>
          <a:ln/>
        </p:spPr>
      </p:sp>
      <p:sp>
        <p:nvSpPr>
          <p:cNvPr id="3" name="Text 1"/>
          <p:cNvSpPr/>
          <p:nvPr/>
        </p:nvSpPr>
        <p:spPr>
          <a:xfrm>
            <a:off x="457200" y="256032"/>
            <a:ext cx="8229600" cy="594360"/>
          </a:xfrm>
          <a:prstGeom prst="rect">
            <a:avLst/>
          </a:prstGeom>
          <a:noFill/>
          <a:ln/>
        </p:spPr>
        <p:txBody>
          <a:bodyPr wrap="square" lIns="0" tIns="0" rIns="0" bIns="0" rtlCol="0" anchor="ctr"/>
          <a:lstStyle/>
          <a:p>
            <a:pPr marL="0" indent="0" algn="l">
              <a:buNone/>
            </a:pPr>
            <a:r>
              <a:rPr lang="en-US" sz="3600" b="1" dirty="0">
                <a:solidFill>
                  <a:srgbClr val="065A82"/>
                </a:solidFill>
                <a:latin typeface="Cambria" pitchFamily="34" charset="0"/>
                <a:ea typeface="Cambria" pitchFamily="34" charset="-122"/>
                <a:cs typeface="Cambria" pitchFamily="34" charset="-120"/>
              </a:rPr>
              <a:t>The System Prompts</a:t>
            </a:r>
            <a:endParaRPr lang="en-US" sz="3600" dirty="0"/>
          </a:p>
        </p:txBody>
      </p:sp>
      <p:sp>
        <p:nvSpPr>
          <p:cNvPr id="4" name="Text 2"/>
          <p:cNvSpPr/>
          <p:nvPr/>
        </p:nvSpPr>
        <p:spPr>
          <a:xfrm>
            <a:off x="457200" y="886968"/>
            <a:ext cx="8229600" cy="274320"/>
          </a:xfrm>
          <a:prstGeom prst="rect">
            <a:avLst/>
          </a:prstGeom>
          <a:noFill/>
          <a:ln/>
        </p:spPr>
        <p:txBody>
          <a:bodyPr wrap="square" lIns="0" tIns="0" rIns="0" bIns="0" rtlCol="0" anchor="ctr"/>
          <a:lstStyle/>
          <a:p>
            <a:pPr marL="0" indent="0">
              <a:buNone/>
            </a:pPr>
            <a:r>
              <a:rPr lang="en-US" sz="1300" i="1" dirty="0">
                <a:solidFill>
                  <a:srgbClr val="1C7293"/>
                </a:solidFill>
                <a:latin typeface="Calibri" pitchFamily="34" charset="0"/>
                <a:ea typeface="Calibri" pitchFamily="34" charset="-122"/>
                <a:cs typeface="Calibri" pitchFamily="34" charset="-120"/>
              </a:rPr>
              <a:t>You author node files. The skill and compilers generate all the prompts.</a:t>
            </a:r>
            <a:endParaRPr lang="en-US" sz="1300" dirty="0"/>
          </a:p>
        </p:txBody>
      </p:sp>
      <p:sp>
        <p:nvSpPr>
          <p:cNvPr id="5" name="Shape 3"/>
          <p:cNvSpPr/>
          <p:nvPr/>
        </p:nvSpPr>
        <p:spPr>
          <a:xfrm>
            <a:off x="457200" y="1207008"/>
            <a:ext cx="8458200" cy="329184"/>
          </a:xfrm>
          <a:prstGeom prst="rect">
            <a:avLst/>
          </a:prstGeom>
          <a:solidFill>
            <a:srgbClr val="065A82"/>
          </a:solidFill>
          <a:ln/>
        </p:spPr>
      </p:sp>
      <p:sp>
        <p:nvSpPr>
          <p:cNvPr id="6" name="Text 4"/>
          <p:cNvSpPr/>
          <p:nvPr/>
        </p:nvSpPr>
        <p:spPr>
          <a:xfrm>
            <a:off x="530352" y="1225296"/>
            <a:ext cx="1920240" cy="2743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File</a:t>
            </a:r>
            <a:endParaRPr lang="en-US" sz="1000" dirty="0"/>
          </a:p>
        </p:txBody>
      </p:sp>
      <p:sp>
        <p:nvSpPr>
          <p:cNvPr id="7" name="Text 5"/>
          <p:cNvSpPr/>
          <p:nvPr/>
        </p:nvSpPr>
        <p:spPr>
          <a:xfrm>
            <a:off x="2496312" y="1225296"/>
            <a:ext cx="1097280" cy="2743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Status</a:t>
            </a:r>
            <a:endParaRPr lang="en-US" sz="1000" dirty="0"/>
          </a:p>
        </p:txBody>
      </p:sp>
      <p:sp>
        <p:nvSpPr>
          <p:cNvPr id="8" name="Text 6"/>
          <p:cNvSpPr/>
          <p:nvPr/>
        </p:nvSpPr>
        <p:spPr>
          <a:xfrm>
            <a:off x="3657600" y="1225296"/>
            <a:ext cx="1554480" cy="2743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Produced by</a:t>
            </a:r>
            <a:endParaRPr lang="en-US" sz="1000" dirty="0"/>
          </a:p>
        </p:txBody>
      </p:sp>
      <p:sp>
        <p:nvSpPr>
          <p:cNvPr id="9" name="Text 7"/>
          <p:cNvSpPr/>
          <p:nvPr/>
        </p:nvSpPr>
        <p:spPr>
          <a:xfrm>
            <a:off x="5276088" y="1225296"/>
            <a:ext cx="3520440" cy="2743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Purpose</a:t>
            </a:r>
            <a:endParaRPr lang="en-US" sz="1000" dirty="0"/>
          </a:p>
        </p:txBody>
      </p:sp>
      <p:sp>
        <p:nvSpPr>
          <p:cNvPr id="10" name="Shape 8"/>
          <p:cNvSpPr/>
          <p:nvPr/>
        </p:nvSpPr>
        <p:spPr>
          <a:xfrm>
            <a:off x="457200" y="1536192"/>
            <a:ext cx="8458200" cy="475488"/>
          </a:xfrm>
          <a:prstGeom prst="rect">
            <a:avLst/>
          </a:prstGeom>
          <a:solidFill>
            <a:srgbClr val="FFFFFF"/>
          </a:solidFill>
          <a:ln/>
        </p:spPr>
      </p:sp>
      <p:sp>
        <p:nvSpPr>
          <p:cNvPr id="11" name="Text 9"/>
          <p:cNvSpPr/>
          <p:nvPr/>
        </p:nvSpPr>
        <p:spPr>
          <a:xfrm>
            <a:off x="530352" y="1591056"/>
            <a:ext cx="1920240" cy="365760"/>
          </a:xfrm>
          <a:prstGeom prst="rect">
            <a:avLst/>
          </a:prstGeom>
          <a:noFill/>
          <a:ln/>
        </p:spPr>
        <p:txBody>
          <a:bodyPr wrap="square" lIns="0" tIns="0" rIns="0" bIns="0" rtlCol="0" anchor="ctr"/>
          <a:lstStyle/>
          <a:p>
            <a:pPr marL="0" indent="0">
              <a:buNone/>
            </a:pPr>
            <a:r>
              <a:rPr lang="en-US" sz="950" b="1" dirty="0">
                <a:solidFill>
                  <a:srgbClr val="065A82"/>
                </a:solidFill>
                <a:latin typeface="Courier New" pitchFamily="34" charset="0"/>
                <a:ea typeface="Courier New" pitchFamily="34" charset="-122"/>
                <a:cs typeface="Courier New" pitchFamily="34" charset="-120"/>
              </a:rPr>
              <a:t>CLAUDE.md</a:t>
            </a:r>
            <a:endParaRPr lang="en-US" sz="950" dirty="0"/>
          </a:p>
        </p:txBody>
      </p:sp>
      <p:sp>
        <p:nvSpPr>
          <p:cNvPr id="12" name="Shape 10"/>
          <p:cNvSpPr/>
          <p:nvPr/>
        </p:nvSpPr>
        <p:spPr>
          <a:xfrm>
            <a:off x="2496312" y="1627632"/>
            <a:ext cx="1051560" cy="274320"/>
          </a:xfrm>
          <a:prstGeom prst="rect">
            <a:avLst/>
          </a:prstGeom>
          <a:solidFill>
            <a:srgbClr val="02C39A"/>
          </a:solidFill>
          <a:ln/>
        </p:spPr>
      </p:sp>
      <p:sp>
        <p:nvSpPr>
          <p:cNvPr id="13" name="Text 11"/>
          <p:cNvSpPr/>
          <p:nvPr/>
        </p:nvSpPr>
        <p:spPr>
          <a:xfrm>
            <a:off x="2496312" y="1627632"/>
            <a:ext cx="1051560"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Installed</a:t>
            </a:r>
            <a:endParaRPr lang="en-US" sz="800" dirty="0"/>
          </a:p>
        </p:txBody>
      </p:sp>
      <p:sp>
        <p:nvSpPr>
          <p:cNvPr id="14" name="Text 12"/>
          <p:cNvSpPr/>
          <p:nvPr/>
        </p:nvSpPr>
        <p:spPr>
          <a:xfrm>
            <a:off x="3657600" y="1591056"/>
            <a:ext cx="1554480" cy="36576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npx skills add</a:t>
            </a:r>
            <a:endParaRPr lang="en-US" sz="850" dirty="0"/>
          </a:p>
        </p:txBody>
      </p:sp>
      <p:sp>
        <p:nvSpPr>
          <p:cNvPr id="15" name="Text 13"/>
          <p:cNvSpPr/>
          <p:nvPr/>
        </p:nvSpPr>
        <p:spPr>
          <a:xfrm>
            <a:off x="5276088" y="1591056"/>
            <a:ext cx="3520440" cy="365760"/>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The OAA skill — tells AI assistants the OAA convention and how to compile agents</a:t>
            </a:r>
            <a:endParaRPr lang="en-US" sz="900" dirty="0"/>
          </a:p>
        </p:txBody>
      </p:sp>
      <p:sp>
        <p:nvSpPr>
          <p:cNvPr id="16" name="Shape 14"/>
          <p:cNvSpPr/>
          <p:nvPr/>
        </p:nvSpPr>
        <p:spPr>
          <a:xfrm>
            <a:off x="457200" y="2011680"/>
            <a:ext cx="8458200" cy="475488"/>
          </a:xfrm>
          <a:prstGeom prst="rect">
            <a:avLst/>
          </a:prstGeom>
          <a:solidFill>
            <a:srgbClr val="F0F5FB"/>
          </a:solidFill>
          <a:ln/>
        </p:spPr>
      </p:sp>
      <p:sp>
        <p:nvSpPr>
          <p:cNvPr id="17" name="Text 15"/>
          <p:cNvSpPr/>
          <p:nvPr/>
        </p:nvSpPr>
        <p:spPr>
          <a:xfrm>
            <a:off x="530352" y="2066544"/>
            <a:ext cx="1920240" cy="365760"/>
          </a:xfrm>
          <a:prstGeom prst="rect">
            <a:avLst/>
          </a:prstGeom>
          <a:noFill/>
          <a:ln/>
        </p:spPr>
        <p:txBody>
          <a:bodyPr wrap="square" lIns="0" tIns="0" rIns="0" bIns="0" rtlCol="0" anchor="ctr"/>
          <a:lstStyle/>
          <a:p>
            <a:pPr marL="0" indent="0">
              <a:buNone/>
            </a:pPr>
            <a:r>
              <a:rPr lang="en-US" sz="950" b="1" dirty="0">
                <a:solidFill>
                  <a:srgbClr val="065A82"/>
                </a:solidFill>
                <a:latin typeface="Courier New" pitchFamily="34" charset="0"/>
                <a:ea typeface="Courier New" pitchFamily="34" charset="-122"/>
                <a:cs typeface="Courier New" pitchFamily="34" charset="-120"/>
              </a:rPr>
              <a:t>AGENTS.md</a:t>
            </a:r>
            <a:endParaRPr lang="en-US" sz="950" dirty="0"/>
          </a:p>
        </p:txBody>
      </p:sp>
      <p:sp>
        <p:nvSpPr>
          <p:cNvPr id="18" name="Shape 16"/>
          <p:cNvSpPr/>
          <p:nvPr/>
        </p:nvSpPr>
        <p:spPr>
          <a:xfrm>
            <a:off x="2496312" y="2103120"/>
            <a:ext cx="1051560" cy="274320"/>
          </a:xfrm>
          <a:prstGeom prst="rect">
            <a:avLst/>
          </a:prstGeom>
          <a:solidFill>
            <a:srgbClr val="1C7293"/>
          </a:solidFill>
          <a:ln/>
        </p:spPr>
      </p:sp>
      <p:sp>
        <p:nvSpPr>
          <p:cNvPr id="19" name="Text 17"/>
          <p:cNvSpPr/>
          <p:nvPr/>
        </p:nvSpPr>
        <p:spPr>
          <a:xfrm>
            <a:off x="2496312" y="2103120"/>
            <a:ext cx="1051560"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Generated</a:t>
            </a:r>
            <a:endParaRPr lang="en-US" sz="800" dirty="0"/>
          </a:p>
        </p:txBody>
      </p:sp>
      <p:sp>
        <p:nvSpPr>
          <p:cNvPr id="20" name="Text 18"/>
          <p:cNvSpPr/>
          <p:nvPr/>
        </p:nvSpPr>
        <p:spPr>
          <a:xfrm>
            <a:off x="3657600" y="2066544"/>
            <a:ext cx="1554480" cy="36576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compile_agent</a:t>
            </a:r>
            <a:endParaRPr lang="en-US" sz="850" dirty="0"/>
          </a:p>
        </p:txBody>
      </p:sp>
      <p:sp>
        <p:nvSpPr>
          <p:cNvPr id="21" name="Text 19"/>
          <p:cNvSpPr/>
          <p:nvPr/>
        </p:nvSpPr>
        <p:spPr>
          <a:xfrm>
            <a:off x="5276088" y="2066544"/>
            <a:ext cx="3520440" cy="365760"/>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The agent's runtime system prompt — IS the agent payload at run time, not a description</a:t>
            </a:r>
            <a:endParaRPr lang="en-US" sz="900" dirty="0"/>
          </a:p>
        </p:txBody>
      </p:sp>
      <p:sp>
        <p:nvSpPr>
          <p:cNvPr id="22" name="Shape 20"/>
          <p:cNvSpPr/>
          <p:nvPr/>
        </p:nvSpPr>
        <p:spPr>
          <a:xfrm>
            <a:off x="457200" y="2487168"/>
            <a:ext cx="8458200" cy="475488"/>
          </a:xfrm>
          <a:prstGeom prst="rect">
            <a:avLst/>
          </a:prstGeom>
          <a:solidFill>
            <a:srgbClr val="FFFFFF"/>
          </a:solidFill>
          <a:ln/>
        </p:spPr>
      </p:sp>
      <p:sp>
        <p:nvSpPr>
          <p:cNvPr id="23" name="Text 21"/>
          <p:cNvSpPr/>
          <p:nvPr/>
        </p:nvSpPr>
        <p:spPr>
          <a:xfrm>
            <a:off x="530352" y="2542032"/>
            <a:ext cx="1920240" cy="365760"/>
          </a:xfrm>
          <a:prstGeom prst="rect">
            <a:avLst/>
          </a:prstGeom>
          <a:noFill/>
          <a:ln/>
        </p:spPr>
        <p:txBody>
          <a:bodyPr wrap="square" lIns="0" tIns="0" rIns="0" bIns="0" rtlCol="0" anchor="ctr"/>
          <a:lstStyle/>
          <a:p>
            <a:pPr marL="0" indent="0">
              <a:buNone/>
            </a:pPr>
            <a:r>
              <a:rPr lang="en-US" sz="950" b="1" dirty="0">
                <a:solidFill>
                  <a:srgbClr val="065A82"/>
                </a:solidFill>
                <a:latin typeface="Courier New" pitchFamily="34" charset="0"/>
                <a:ea typeface="Courier New" pitchFamily="34" charset="-122"/>
                <a:cs typeface="Courier New" pitchFamily="34" charset="-120"/>
              </a:rPr>
              <a:t>mcp-config.json</a:t>
            </a:r>
            <a:endParaRPr lang="en-US" sz="950" dirty="0"/>
          </a:p>
        </p:txBody>
      </p:sp>
      <p:sp>
        <p:nvSpPr>
          <p:cNvPr id="24" name="Shape 22"/>
          <p:cNvSpPr/>
          <p:nvPr/>
        </p:nvSpPr>
        <p:spPr>
          <a:xfrm>
            <a:off x="2496312" y="2578608"/>
            <a:ext cx="1051560" cy="274320"/>
          </a:xfrm>
          <a:prstGeom prst="rect">
            <a:avLst/>
          </a:prstGeom>
          <a:solidFill>
            <a:srgbClr val="1C7293"/>
          </a:solidFill>
          <a:ln/>
        </p:spPr>
      </p:sp>
      <p:sp>
        <p:nvSpPr>
          <p:cNvPr id="25" name="Text 23"/>
          <p:cNvSpPr/>
          <p:nvPr/>
        </p:nvSpPr>
        <p:spPr>
          <a:xfrm>
            <a:off x="2496312" y="2578608"/>
            <a:ext cx="1051560"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Generated</a:t>
            </a:r>
            <a:endParaRPr lang="en-US" sz="800" dirty="0"/>
          </a:p>
        </p:txBody>
      </p:sp>
      <p:sp>
        <p:nvSpPr>
          <p:cNvPr id="26" name="Text 24"/>
          <p:cNvSpPr/>
          <p:nvPr/>
        </p:nvSpPr>
        <p:spPr>
          <a:xfrm>
            <a:off x="3657600" y="2542032"/>
            <a:ext cx="1554480" cy="36576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compile_agent</a:t>
            </a:r>
            <a:endParaRPr lang="en-US" sz="850" dirty="0"/>
          </a:p>
        </p:txBody>
      </p:sp>
      <p:sp>
        <p:nvSpPr>
          <p:cNvPr id="27" name="Text 25"/>
          <p:cNvSpPr/>
          <p:nvPr/>
        </p:nvSpPr>
        <p:spPr>
          <a:xfrm>
            <a:off x="5276088" y="2542032"/>
            <a:ext cx="3520440" cy="365760"/>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Tool server config for this run — scopes the runner to exactly what AGENTS.md names</a:t>
            </a:r>
            <a:endParaRPr lang="en-US" sz="900" dirty="0"/>
          </a:p>
        </p:txBody>
      </p:sp>
      <p:sp>
        <p:nvSpPr>
          <p:cNvPr id="28" name="Shape 26"/>
          <p:cNvSpPr/>
          <p:nvPr/>
        </p:nvSpPr>
        <p:spPr>
          <a:xfrm>
            <a:off x="457200" y="2962656"/>
            <a:ext cx="8458200" cy="475488"/>
          </a:xfrm>
          <a:prstGeom prst="rect">
            <a:avLst/>
          </a:prstGeom>
          <a:solidFill>
            <a:srgbClr val="F0F5FB"/>
          </a:solidFill>
          <a:ln/>
        </p:spPr>
      </p:sp>
      <p:sp>
        <p:nvSpPr>
          <p:cNvPr id="29" name="Text 27"/>
          <p:cNvSpPr/>
          <p:nvPr/>
        </p:nvSpPr>
        <p:spPr>
          <a:xfrm>
            <a:off x="530352" y="3017520"/>
            <a:ext cx="1920240" cy="365760"/>
          </a:xfrm>
          <a:prstGeom prst="rect">
            <a:avLst/>
          </a:prstGeom>
          <a:noFill/>
          <a:ln/>
        </p:spPr>
        <p:txBody>
          <a:bodyPr wrap="square" lIns="0" tIns="0" rIns="0" bIns="0" rtlCol="0" anchor="ctr"/>
          <a:lstStyle/>
          <a:p>
            <a:pPr marL="0" indent="0">
              <a:buNone/>
            </a:pPr>
            <a:r>
              <a:rPr lang="en-US" sz="950" b="1" dirty="0">
                <a:solidFill>
                  <a:srgbClr val="065A82"/>
                </a:solidFill>
                <a:latin typeface="Courier New" pitchFamily="34" charset="0"/>
                <a:ea typeface="Courier New" pitchFamily="34" charset="-122"/>
                <a:cs typeface="Courier New" pitchFamily="34" charset="-120"/>
              </a:rPr>
              <a:t>ONTOLOGY.md</a:t>
            </a:r>
            <a:endParaRPr lang="en-US" sz="950" dirty="0"/>
          </a:p>
        </p:txBody>
      </p:sp>
      <p:sp>
        <p:nvSpPr>
          <p:cNvPr id="30" name="Shape 28"/>
          <p:cNvSpPr/>
          <p:nvPr/>
        </p:nvSpPr>
        <p:spPr>
          <a:xfrm>
            <a:off x="2496312" y="3054096"/>
            <a:ext cx="1051560" cy="274320"/>
          </a:xfrm>
          <a:prstGeom prst="rect">
            <a:avLst/>
          </a:prstGeom>
          <a:solidFill>
            <a:srgbClr val="028090"/>
          </a:solidFill>
          <a:ln/>
        </p:spPr>
      </p:sp>
      <p:sp>
        <p:nvSpPr>
          <p:cNvPr id="31" name="Text 29"/>
          <p:cNvSpPr/>
          <p:nvPr/>
        </p:nvSpPr>
        <p:spPr>
          <a:xfrm>
            <a:off x="2496312" y="3054096"/>
            <a:ext cx="1051560"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Generated</a:t>
            </a:r>
            <a:endParaRPr lang="en-US" sz="800" dirty="0"/>
          </a:p>
        </p:txBody>
      </p:sp>
      <p:sp>
        <p:nvSpPr>
          <p:cNvPr id="32" name="Text 30"/>
          <p:cNvSpPr/>
          <p:nvPr/>
        </p:nvSpPr>
        <p:spPr>
          <a:xfrm>
            <a:off x="3657600" y="3017520"/>
            <a:ext cx="1554480" cy="36576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compile_ontology</a:t>
            </a:r>
            <a:endParaRPr lang="en-US" sz="850" dirty="0"/>
          </a:p>
        </p:txBody>
      </p:sp>
      <p:sp>
        <p:nvSpPr>
          <p:cNvPr id="33" name="Text 31"/>
          <p:cNvSpPr/>
          <p:nvPr/>
        </p:nvSpPr>
        <p:spPr>
          <a:xfrm>
            <a:off x="5276088" y="3017520"/>
            <a:ext cx="3520440" cy="365760"/>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Compiled domain vocabulary; auto-injected into AGENTS.md by compile_agent</a:t>
            </a:r>
            <a:endParaRPr lang="en-US" sz="900" dirty="0"/>
          </a:p>
        </p:txBody>
      </p:sp>
      <p:sp>
        <p:nvSpPr>
          <p:cNvPr id="34" name="Shape 32"/>
          <p:cNvSpPr/>
          <p:nvPr/>
        </p:nvSpPr>
        <p:spPr>
          <a:xfrm>
            <a:off x="457200" y="3438144"/>
            <a:ext cx="8458200" cy="475488"/>
          </a:xfrm>
          <a:prstGeom prst="rect">
            <a:avLst/>
          </a:prstGeom>
          <a:solidFill>
            <a:srgbClr val="FFFFFF"/>
          </a:solidFill>
          <a:ln/>
        </p:spPr>
      </p:sp>
      <p:sp>
        <p:nvSpPr>
          <p:cNvPr id="35" name="Text 33"/>
          <p:cNvSpPr/>
          <p:nvPr/>
        </p:nvSpPr>
        <p:spPr>
          <a:xfrm>
            <a:off x="530352" y="3493008"/>
            <a:ext cx="1920240" cy="365760"/>
          </a:xfrm>
          <a:prstGeom prst="rect">
            <a:avLst/>
          </a:prstGeom>
          <a:noFill/>
          <a:ln/>
        </p:spPr>
        <p:txBody>
          <a:bodyPr wrap="square" lIns="0" tIns="0" rIns="0" bIns="0" rtlCol="0" anchor="ctr"/>
          <a:lstStyle/>
          <a:p>
            <a:pPr marL="0" indent="0">
              <a:buNone/>
            </a:pPr>
            <a:r>
              <a:rPr lang="en-US" sz="950" b="1" dirty="0">
                <a:solidFill>
                  <a:srgbClr val="065A82"/>
                </a:solidFill>
                <a:latin typeface="Courier New" pitchFamily="34" charset="0"/>
                <a:ea typeface="Courier New" pitchFamily="34" charset="-122"/>
                <a:cs typeface="Courier New" pitchFamily="34" charset="-120"/>
              </a:rPr>
              <a:t>COMPANY.md</a:t>
            </a:r>
            <a:endParaRPr lang="en-US" sz="950" dirty="0"/>
          </a:p>
        </p:txBody>
      </p:sp>
      <p:sp>
        <p:nvSpPr>
          <p:cNvPr id="36" name="Shape 34"/>
          <p:cNvSpPr/>
          <p:nvPr/>
        </p:nvSpPr>
        <p:spPr>
          <a:xfrm>
            <a:off x="2496312" y="3529584"/>
            <a:ext cx="1051560" cy="274320"/>
          </a:xfrm>
          <a:prstGeom prst="rect">
            <a:avLst/>
          </a:prstGeom>
          <a:solidFill>
            <a:srgbClr val="028090"/>
          </a:solidFill>
          <a:ln/>
        </p:spPr>
      </p:sp>
      <p:sp>
        <p:nvSpPr>
          <p:cNvPr id="37" name="Text 35"/>
          <p:cNvSpPr/>
          <p:nvPr/>
        </p:nvSpPr>
        <p:spPr>
          <a:xfrm>
            <a:off x="2496312" y="3529584"/>
            <a:ext cx="1051560"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Generated</a:t>
            </a:r>
            <a:endParaRPr lang="en-US" sz="800" dirty="0"/>
          </a:p>
        </p:txBody>
      </p:sp>
      <p:sp>
        <p:nvSpPr>
          <p:cNvPr id="38" name="Text 36"/>
          <p:cNvSpPr/>
          <p:nvPr/>
        </p:nvSpPr>
        <p:spPr>
          <a:xfrm>
            <a:off x="3657600" y="3493008"/>
            <a:ext cx="1554480" cy="36576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OAA skill</a:t>
            </a:r>
            <a:endParaRPr lang="en-US" sz="850" dirty="0"/>
          </a:p>
        </p:txBody>
      </p:sp>
      <p:sp>
        <p:nvSpPr>
          <p:cNvPr id="39" name="Text 37"/>
          <p:cNvSpPr/>
          <p:nvPr/>
        </p:nvSpPr>
        <p:spPr>
          <a:xfrm>
            <a:off x="5276088" y="3493008"/>
            <a:ext cx="3520440" cy="365760"/>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Plain-English org map — roles, agents, schedules, authority for stakeholders</a:t>
            </a:r>
            <a:endParaRPr lang="en-US" sz="900" dirty="0"/>
          </a:p>
        </p:txBody>
      </p:sp>
      <p:sp>
        <p:nvSpPr>
          <p:cNvPr id="40" name="Shape 38"/>
          <p:cNvSpPr/>
          <p:nvPr/>
        </p:nvSpPr>
        <p:spPr>
          <a:xfrm>
            <a:off x="457200" y="3913632"/>
            <a:ext cx="8458200" cy="475488"/>
          </a:xfrm>
          <a:prstGeom prst="rect">
            <a:avLst/>
          </a:prstGeom>
          <a:solidFill>
            <a:srgbClr val="F0F5FB"/>
          </a:solidFill>
          <a:ln/>
        </p:spPr>
      </p:sp>
      <p:sp>
        <p:nvSpPr>
          <p:cNvPr id="41" name="Text 39"/>
          <p:cNvSpPr/>
          <p:nvPr/>
        </p:nvSpPr>
        <p:spPr>
          <a:xfrm>
            <a:off x="530352" y="3968496"/>
            <a:ext cx="1920240" cy="365760"/>
          </a:xfrm>
          <a:prstGeom prst="rect">
            <a:avLst/>
          </a:prstGeom>
          <a:noFill/>
          <a:ln/>
        </p:spPr>
        <p:txBody>
          <a:bodyPr wrap="square" lIns="0" tIns="0" rIns="0" bIns="0" rtlCol="0" anchor="ctr"/>
          <a:lstStyle/>
          <a:p>
            <a:pPr marL="0" indent="0">
              <a:buNone/>
            </a:pPr>
            <a:r>
              <a:rPr lang="en-US" sz="950" b="1" dirty="0">
                <a:solidFill>
                  <a:srgbClr val="065A82"/>
                </a:solidFill>
                <a:latin typeface="Courier New" pitchFamily="34" charset="0"/>
                <a:ea typeface="Courier New" pitchFamily="34" charset="-122"/>
                <a:cs typeface="Courier New" pitchFamily="34" charset="-120"/>
              </a:rPr>
              <a:t>Compact template</a:t>
            </a:r>
            <a:endParaRPr lang="en-US" sz="950" dirty="0"/>
          </a:p>
        </p:txBody>
      </p:sp>
      <p:sp>
        <p:nvSpPr>
          <p:cNvPr id="42" name="Shape 40"/>
          <p:cNvSpPr/>
          <p:nvPr/>
        </p:nvSpPr>
        <p:spPr>
          <a:xfrm>
            <a:off x="2496312" y="4005072"/>
            <a:ext cx="1051560" cy="274320"/>
          </a:xfrm>
          <a:prstGeom prst="rect">
            <a:avLst/>
          </a:prstGeom>
          <a:solidFill>
            <a:srgbClr val="E69B2F"/>
          </a:solidFill>
          <a:ln/>
        </p:spPr>
      </p:sp>
      <p:sp>
        <p:nvSpPr>
          <p:cNvPr id="43" name="Text 41"/>
          <p:cNvSpPr/>
          <p:nvPr/>
        </p:nvSpPr>
        <p:spPr>
          <a:xfrm>
            <a:off x="2496312" y="4005072"/>
            <a:ext cx="1051560"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On demand</a:t>
            </a:r>
            <a:endParaRPr lang="en-US" sz="800" dirty="0"/>
          </a:p>
        </p:txBody>
      </p:sp>
      <p:sp>
        <p:nvSpPr>
          <p:cNvPr id="44" name="Text 42"/>
          <p:cNvSpPr/>
          <p:nvPr/>
        </p:nvSpPr>
        <p:spPr>
          <a:xfrm>
            <a:off x="3657600" y="3968496"/>
            <a:ext cx="1554480" cy="36576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get_compact_</a:t>
            </a:r>
            <a:endParaRPr lang="en-US" sz="850" dirty="0"/>
          </a:p>
          <a:p>
            <a:pPr marL="0" indent="0">
              <a:buNone/>
            </a:pPr>
            <a:r>
              <a:rPr lang="en-US" sz="850" dirty="0">
                <a:solidFill>
                  <a:srgbClr val="333333"/>
                </a:solidFill>
                <a:latin typeface="Courier New" pitchFamily="34" charset="0"/>
                <a:ea typeface="Courier New" pitchFamily="34" charset="-122"/>
                <a:cs typeface="Courier New" pitchFamily="34" charset="-120"/>
              </a:rPr>
              <a:t>prompt_template</a:t>
            </a:r>
            <a:endParaRPr lang="en-US" sz="850" dirty="0"/>
          </a:p>
        </p:txBody>
      </p:sp>
      <p:sp>
        <p:nvSpPr>
          <p:cNvPr id="45" name="Text 43"/>
          <p:cNvSpPr/>
          <p:nvPr/>
        </p:nvSpPr>
        <p:spPr>
          <a:xfrm>
            <a:off x="5276088" y="3968496"/>
            <a:ext cx="3520440" cy="365760"/>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Drives Pass 2 rewrite for models:[tiny] — strips prose, keeps tool names and never rules</a:t>
            </a:r>
            <a:endParaRPr lang="en-US" sz="900" dirty="0"/>
          </a:p>
        </p:txBody>
      </p:sp>
      <p:sp>
        <p:nvSpPr>
          <p:cNvPr id="46" name="Shape 44"/>
          <p:cNvSpPr/>
          <p:nvPr/>
        </p:nvSpPr>
        <p:spPr>
          <a:xfrm>
            <a:off x="457200" y="4389120"/>
            <a:ext cx="8458200" cy="475488"/>
          </a:xfrm>
          <a:prstGeom prst="rect">
            <a:avLst/>
          </a:prstGeom>
          <a:solidFill>
            <a:srgbClr val="FFFFFF"/>
          </a:solidFill>
          <a:ln/>
        </p:spPr>
      </p:sp>
      <p:sp>
        <p:nvSpPr>
          <p:cNvPr id="47" name="Text 45"/>
          <p:cNvSpPr/>
          <p:nvPr/>
        </p:nvSpPr>
        <p:spPr>
          <a:xfrm>
            <a:off x="530352" y="4443984"/>
            <a:ext cx="1920240" cy="365760"/>
          </a:xfrm>
          <a:prstGeom prst="rect">
            <a:avLst/>
          </a:prstGeom>
          <a:noFill/>
          <a:ln/>
        </p:spPr>
        <p:txBody>
          <a:bodyPr wrap="square" lIns="0" tIns="0" rIns="0" bIns="0" rtlCol="0" anchor="ctr"/>
          <a:lstStyle/>
          <a:p>
            <a:pPr marL="0" indent="0">
              <a:buNone/>
            </a:pPr>
            <a:r>
              <a:rPr lang="en-US" sz="950" b="1" dirty="0">
                <a:solidFill>
                  <a:srgbClr val="065A82"/>
                </a:solidFill>
                <a:latin typeface="Courier New" pitchFamily="34" charset="0"/>
                <a:ea typeface="Courier New" pitchFamily="34" charset="-122"/>
                <a:cs typeface="Courier New" pitchFamily="34" charset="-120"/>
              </a:rPr>
              <a:t>company-map-</a:t>
            </a:r>
            <a:endParaRPr lang="en-US" sz="950" dirty="0"/>
          </a:p>
          <a:p>
            <a:pPr marL="0" indent="0">
              <a:buNone/>
            </a:pPr>
            <a:r>
              <a:rPr lang="en-US" sz="950" b="1" dirty="0">
                <a:solidFill>
                  <a:srgbClr val="065A82"/>
                </a:solidFill>
                <a:latin typeface="Courier New" pitchFamily="34" charset="0"/>
                <a:ea typeface="Courier New" pitchFamily="34" charset="-122"/>
                <a:cs typeface="Courier New" pitchFamily="34" charset="-120"/>
              </a:rPr>
              <a:t>prompt.md</a:t>
            </a:r>
            <a:endParaRPr lang="en-US" sz="950" dirty="0"/>
          </a:p>
        </p:txBody>
      </p:sp>
      <p:sp>
        <p:nvSpPr>
          <p:cNvPr id="48" name="Shape 46"/>
          <p:cNvSpPr/>
          <p:nvPr/>
        </p:nvSpPr>
        <p:spPr>
          <a:xfrm>
            <a:off x="2496312" y="4480560"/>
            <a:ext cx="1051560" cy="274320"/>
          </a:xfrm>
          <a:prstGeom prst="rect">
            <a:avLst/>
          </a:prstGeom>
          <a:solidFill>
            <a:srgbClr val="1C7293"/>
          </a:solidFill>
          <a:ln/>
        </p:spPr>
      </p:sp>
      <p:sp>
        <p:nvSpPr>
          <p:cNvPr id="49" name="Text 47"/>
          <p:cNvSpPr/>
          <p:nvPr/>
        </p:nvSpPr>
        <p:spPr>
          <a:xfrm>
            <a:off x="2496312" y="4480560"/>
            <a:ext cx="1051560"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In skill</a:t>
            </a:r>
            <a:endParaRPr lang="en-US" sz="800" dirty="0"/>
          </a:p>
        </p:txBody>
      </p:sp>
      <p:sp>
        <p:nvSpPr>
          <p:cNvPr id="50" name="Text 48"/>
          <p:cNvSpPr/>
          <p:nvPr/>
        </p:nvSpPr>
        <p:spPr>
          <a:xfrm>
            <a:off x="3657600" y="4443984"/>
            <a:ext cx="1554480" cy="36576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OAA skill</a:t>
            </a:r>
            <a:endParaRPr lang="en-US" sz="850" dirty="0"/>
          </a:p>
          <a:p>
            <a:pPr marL="0" indent="0">
              <a:buNone/>
            </a:pPr>
            <a:r>
              <a:rPr lang="en-US" sz="850" dirty="0">
                <a:solidFill>
                  <a:srgbClr val="333333"/>
                </a:solidFill>
                <a:latin typeface="Courier New" pitchFamily="34" charset="0"/>
                <a:ea typeface="Courier New" pitchFamily="34" charset="-122"/>
                <a:cs typeface="Courier New" pitchFamily="34" charset="-120"/>
              </a:rPr>
              <a:t>assets</a:t>
            </a:r>
            <a:endParaRPr lang="en-US" sz="850" dirty="0"/>
          </a:p>
        </p:txBody>
      </p:sp>
      <p:sp>
        <p:nvSpPr>
          <p:cNvPr id="51" name="Text 49"/>
          <p:cNvSpPr/>
          <p:nvPr/>
        </p:nvSpPr>
        <p:spPr>
          <a:xfrm>
            <a:off x="5276088" y="4443984"/>
            <a:ext cx="3520440" cy="365760"/>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Instructs AI to generate COMPANY.md — rules: no invented authority items or thresholds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B2A"/>
          </a:solidFill>
          <a:ln/>
        </p:spPr>
      </p:sp>
      <p:sp>
        <p:nvSpPr>
          <p:cNvPr id="3" name="Text 1"/>
          <p:cNvSpPr/>
          <p:nvPr/>
        </p:nvSpPr>
        <p:spPr>
          <a:xfrm>
            <a:off x="457200" y="256032"/>
            <a:ext cx="8229600" cy="594360"/>
          </a:xfrm>
          <a:prstGeom prst="rect">
            <a:avLst/>
          </a:prstGeom>
          <a:noFill/>
          <a:ln/>
        </p:spPr>
        <p:txBody>
          <a:bodyPr wrap="square" lIns="0" tIns="0" rIns="0" bIns="0"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Compilation</a:t>
            </a:r>
            <a:endParaRPr lang="en-US" sz="3600" dirty="0"/>
          </a:p>
        </p:txBody>
      </p:sp>
      <p:sp>
        <p:nvSpPr>
          <p:cNvPr id="4" name="Text 2"/>
          <p:cNvSpPr/>
          <p:nvPr/>
        </p:nvSpPr>
        <p:spPr>
          <a:xfrm>
            <a:off x="457200" y="886968"/>
            <a:ext cx="8229600" cy="274320"/>
          </a:xfrm>
          <a:prstGeom prst="rect">
            <a:avLst/>
          </a:prstGeom>
          <a:noFill/>
          <a:ln/>
        </p:spPr>
        <p:txBody>
          <a:bodyPr wrap="square" lIns="0" tIns="0" rIns="0" bIns="0" rtlCol="0" anchor="ctr"/>
          <a:lstStyle/>
          <a:p>
            <a:pPr marL="0" indent="0">
              <a:buNone/>
            </a:pPr>
            <a:r>
              <a:rPr lang="en-US" sz="1300" i="1" dirty="0">
                <a:solidFill>
                  <a:srgbClr val="02C39A"/>
                </a:solidFill>
                <a:latin typeface="Calibri" pitchFamily="34" charset="0"/>
                <a:ea typeface="Calibri" pitchFamily="34" charset="-122"/>
                <a:cs typeface="Calibri" pitchFamily="34" charset="-120"/>
              </a:rPr>
              <a:t>compile_agent builds the prompt. validate_graph checks the org. agents.lock is the receipts.</a:t>
            </a:r>
            <a:endParaRPr lang="en-US" sz="1300" dirty="0"/>
          </a:p>
        </p:txBody>
      </p:sp>
      <p:sp>
        <p:nvSpPr>
          <p:cNvPr id="5" name="Text 3"/>
          <p:cNvSpPr/>
          <p:nvPr/>
        </p:nvSpPr>
        <p:spPr>
          <a:xfrm>
            <a:off x="457200" y="1234440"/>
            <a:ext cx="4206240" cy="274320"/>
          </a:xfrm>
          <a:prstGeom prst="rect">
            <a:avLst/>
          </a:prstGeom>
          <a:noFill/>
          <a:ln/>
        </p:spPr>
        <p:txBody>
          <a:bodyPr wrap="square" lIns="0" tIns="0" rIns="0" bIns="0" rtlCol="0" anchor="ctr"/>
          <a:lstStyle/>
          <a:p>
            <a:pPr marL="0" indent="0">
              <a:buNone/>
            </a:pPr>
            <a:r>
              <a:rPr lang="en-US" sz="1300" b="1" dirty="0">
                <a:solidFill>
                  <a:srgbClr val="02C39A"/>
                </a:solidFill>
                <a:latin typeface="Courier New" pitchFamily="34" charset="0"/>
                <a:ea typeface="Courier New" pitchFamily="34" charset="-122"/>
                <a:cs typeface="Courier New" pitchFamily="34" charset="-120"/>
              </a:rPr>
              <a:t>compile_agent(agentPath)</a:t>
            </a:r>
            <a:endParaRPr lang="en-US" sz="1300" dirty="0"/>
          </a:p>
        </p:txBody>
      </p:sp>
      <p:sp>
        <p:nvSpPr>
          <p:cNvPr id="6" name="Shape 4"/>
          <p:cNvSpPr/>
          <p:nvPr/>
        </p:nvSpPr>
        <p:spPr>
          <a:xfrm>
            <a:off x="457200" y="1554480"/>
            <a:ext cx="237744" cy="237744"/>
          </a:xfrm>
          <a:prstGeom prst="rect">
            <a:avLst/>
          </a:prstGeom>
          <a:solidFill>
            <a:srgbClr val="1C7293"/>
          </a:solidFill>
          <a:ln/>
        </p:spPr>
      </p:sp>
      <p:sp>
        <p:nvSpPr>
          <p:cNvPr id="7" name="Text 5"/>
          <p:cNvSpPr/>
          <p:nvPr/>
        </p:nvSpPr>
        <p:spPr>
          <a:xfrm>
            <a:off x="457200" y="1554480"/>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8" name="Text 6"/>
          <p:cNvSpPr/>
          <p:nvPr/>
        </p:nvSpPr>
        <p:spPr>
          <a:xfrm>
            <a:off x="749808" y="1572768"/>
            <a:ext cx="3840480" cy="237744"/>
          </a:xfrm>
          <a:prstGeom prst="rect">
            <a:avLst/>
          </a:prstGeom>
          <a:noFill/>
          <a:ln/>
        </p:spPr>
        <p:txBody>
          <a:bodyPr wrap="square" lIns="0" tIns="0" rIns="0" bIns="0" rtlCol="0" anchor="ctr"/>
          <a:lstStyle/>
          <a:p>
            <a:pPr marL="0" indent="0">
              <a:buNone/>
            </a:pPr>
            <a:r>
              <a:rPr lang="en-US" sz="950" dirty="0">
                <a:solidFill>
                  <a:srgbClr val="AACCDD"/>
                </a:solidFill>
                <a:latin typeface="Calibri" pitchFamily="34" charset="0"/>
                <a:ea typeface="Calibri" pitchFamily="34" charset="-122"/>
                <a:cs typeface="Calibri" pitchFamily="34" charset="-120"/>
              </a:rPr>
              <a:t>Walk AGENT→ROLE→SKILL→TOOL chain via requires/fills</a:t>
            </a:r>
            <a:endParaRPr lang="en-US" sz="950" dirty="0"/>
          </a:p>
        </p:txBody>
      </p:sp>
      <p:sp>
        <p:nvSpPr>
          <p:cNvPr id="9" name="Shape 7"/>
          <p:cNvSpPr/>
          <p:nvPr/>
        </p:nvSpPr>
        <p:spPr>
          <a:xfrm>
            <a:off x="457200" y="1901952"/>
            <a:ext cx="237744" cy="237744"/>
          </a:xfrm>
          <a:prstGeom prst="rect">
            <a:avLst/>
          </a:prstGeom>
          <a:solidFill>
            <a:srgbClr val="1C7293"/>
          </a:solidFill>
          <a:ln/>
        </p:spPr>
      </p:sp>
      <p:sp>
        <p:nvSpPr>
          <p:cNvPr id="10" name="Text 8"/>
          <p:cNvSpPr/>
          <p:nvPr/>
        </p:nvSpPr>
        <p:spPr>
          <a:xfrm>
            <a:off x="457200" y="1901952"/>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1" name="Text 9"/>
          <p:cNvSpPr/>
          <p:nvPr/>
        </p:nvSpPr>
        <p:spPr>
          <a:xfrm>
            <a:off x="749808" y="1920240"/>
            <a:ext cx="3840480" cy="237744"/>
          </a:xfrm>
          <a:prstGeom prst="rect">
            <a:avLst/>
          </a:prstGeom>
          <a:noFill/>
          <a:ln/>
        </p:spPr>
        <p:txBody>
          <a:bodyPr wrap="square" lIns="0" tIns="0" rIns="0" bIns="0" rtlCol="0" anchor="ctr"/>
          <a:lstStyle/>
          <a:p>
            <a:pPr marL="0" indent="0">
              <a:buNone/>
            </a:pPr>
            <a:r>
              <a:rPr lang="en-US" sz="950" dirty="0">
                <a:solidFill>
                  <a:srgbClr val="AACCDD"/>
                </a:solidFill>
                <a:latin typeface="Calibri" pitchFamily="34" charset="0"/>
                <a:ea typeface="Calibri" pitchFamily="34" charset="-122"/>
                <a:cs typeface="Calibri" pitchFamily="34" charset="-120"/>
              </a:rPr>
              <a:t>Compose authority (never unions, decides intersects)</a:t>
            </a:r>
            <a:endParaRPr lang="en-US" sz="950" dirty="0"/>
          </a:p>
        </p:txBody>
      </p:sp>
      <p:sp>
        <p:nvSpPr>
          <p:cNvPr id="12" name="Shape 10"/>
          <p:cNvSpPr/>
          <p:nvPr/>
        </p:nvSpPr>
        <p:spPr>
          <a:xfrm>
            <a:off x="457200" y="2249424"/>
            <a:ext cx="237744" cy="237744"/>
          </a:xfrm>
          <a:prstGeom prst="rect">
            <a:avLst/>
          </a:prstGeom>
          <a:solidFill>
            <a:srgbClr val="1C7293"/>
          </a:solidFill>
          <a:ln/>
        </p:spPr>
      </p:sp>
      <p:sp>
        <p:nvSpPr>
          <p:cNvPr id="13" name="Text 11"/>
          <p:cNvSpPr/>
          <p:nvPr/>
        </p:nvSpPr>
        <p:spPr>
          <a:xfrm>
            <a:off x="457200" y="2249424"/>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4" name="Text 12"/>
          <p:cNvSpPr/>
          <p:nvPr/>
        </p:nvSpPr>
        <p:spPr>
          <a:xfrm>
            <a:off x="749808" y="2267712"/>
            <a:ext cx="3840480" cy="237744"/>
          </a:xfrm>
          <a:prstGeom prst="rect">
            <a:avLst/>
          </a:prstGeom>
          <a:noFill/>
          <a:ln/>
        </p:spPr>
        <p:txBody>
          <a:bodyPr wrap="square" lIns="0" tIns="0" rIns="0" bIns="0" rtlCol="0" anchor="ctr"/>
          <a:lstStyle/>
          <a:p>
            <a:pPr marL="0" indent="0">
              <a:buNone/>
            </a:pPr>
            <a:r>
              <a:rPr lang="en-US" sz="950" dirty="0">
                <a:solidFill>
                  <a:srgbClr val="AACCDD"/>
                </a:solidFill>
                <a:latin typeface="Calibri" pitchFamily="34" charset="0"/>
                <a:ea typeface="Calibri" pitchFamily="34" charset="-122"/>
                <a:cs typeface="Calibri" pitchFamily="34" charset="-120"/>
              </a:rPr>
              <a:t>Write AGENTS.md — the runtime system prompt</a:t>
            </a:r>
            <a:endParaRPr lang="en-US" sz="950" dirty="0"/>
          </a:p>
        </p:txBody>
      </p:sp>
      <p:sp>
        <p:nvSpPr>
          <p:cNvPr id="15" name="Shape 13"/>
          <p:cNvSpPr/>
          <p:nvPr/>
        </p:nvSpPr>
        <p:spPr>
          <a:xfrm>
            <a:off x="457200" y="2596896"/>
            <a:ext cx="237744" cy="237744"/>
          </a:xfrm>
          <a:prstGeom prst="rect">
            <a:avLst/>
          </a:prstGeom>
          <a:solidFill>
            <a:srgbClr val="1C7293"/>
          </a:solidFill>
          <a:ln/>
        </p:spPr>
      </p:sp>
      <p:sp>
        <p:nvSpPr>
          <p:cNvPr id="16" name="Text 14"/>
          <p:cNvSpPr/>
          <p:nvPr/>
        </p:nvSpPr>
        <p:spPr>
          <a:xfrm>
            <a:off x="457200" y="2596896"/>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7" name="Text 15"/>
          <p:cNvSpPr/>
          <p:nvPr/>
        </p:nvSpPr>
        <p:spPr>
          <a:xfrm>
            <a:off x="749808" y="2615184"/>
            <a:ext cx="3840480" cy="237744"/>
          </a:xfrm>
          <a:prstGeom prst="rect">
            <a:avLst/>
          </a:prstGeom>
          <a:noFill/>
          <a:ln/>
        </p:spPr>
        <p:txBody>
          <a:bodyPr wrap="square" lIns="0" tIns="0" rIns="0" bIns="0" rtlCol="0" anchor="ctr"/>
          <a:lstStyle/>
          <a:p>
            <a:pPr marL="0" indent="0">
              <a:buNone/>
            </a:pPr>
            <a:r>
              <a:rPr lang="en-US" sz="950" dirty="0">
                <a:solidFill>
                  <a:srgbClr val="AACCDD"/>
                </a:solidFill>
                <a:latin typeface="Calibri" pitchFamily="34" charset="0"/>
                <a:ea typeface="Calibri" pitchFamily="34" charset="-122"/>
                <a:cs typeface="Calibri" pitchFamily="34" charset="-120"/>
              </a:rPr>
              <a:t>Write mcp-config.json — merged tool server config</a:t>
            </a:r>
            <a:endParaRPr lang="en-US" sz="950" dirty="0"/>
          </a:p>
        </p:txBody>
      </p:sp>
      <p:sp>
        <p:nvSpPr>
          <p:cNvPr id="18" name="Shape 16"/>
          <p:cNvSpPr/>
          <p:nvPr/>
        </p:nvSpPr>
        <p:spPr>
          <a:xfrm>
            <a:off x="457200" y="2944368"/>
            <a:ext cx="237744" cy="237744"/>
          </a:xfrm>
          <a:prstGeom prst="rect">
            <a:avLst/>
          </a:prstGeom>
          <a:solidFill>
            <a:srgbClr val="1C7293"/>
          </a:solidFill>
          <a:ln/>
        </p:spPr>
      </p:sp>
      <p:sp>
        <p:nvSpPr>
          <p:cNvPr id="19" name="Text 17"/>
          <p:cNvSpPr/>
          <p:nvPr/>
        </p:nvSpPr>
        <p:spPr>
          <a:xfrm>
            <a:off x="457200" y="2944368"/>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0" name="Text 18"/>
          <p:cNvSpPr/>
          <p:nvPr/>
        </p:nvSpPr>
        <p:spPr>
          <a:xfrm>
            <a:off x="749808" y="2962656"/>
            <a:ext cx="3840480" cy="237744"/>
          </a:xfrm>
          <a:prstGeom prst="rect">
            <a:avLst/>
          </a:prstGeom>
          <a:noFill/>
          <a:ln/>
        </p:spPr>
        <p:txBody>
          <a:bodyPr wrap="square" lIns="0" tIns="0" rIns="0" bIns="0" rtlCol="0" anchor="ctr"/>
          <a:lstStyle/>
          <a:p>
            <a:pPr marL="0" indent="0">
              <a:buNone/>
            </a:pPr>
            <a:r>
              <a:rPr lang="en-US" sz="950" dirty="0">
                <a:solidFill>
                  <a:srgbClr val="AACCDD"/>
                </a:solidFill>
                <a:latin typeface="Calibri" pitchFamily="34" charset="0"/>
                <a:ea typeface="Calibri" pitchFamily="34" charset="-122"/>
                <a:cs typeface="Calibri" pitchFamily="34" charset="-120"/>
              </a:rPr>
              <a:t>Update agents.lock — path + SHA-256 per resolved node</a:t>
            </a:r>
            <a:endParaRPr lang="en-US" sz="950" dirty="0"/>
          </a:p>
        </p:txBody>
      </p:sp>
      <p:sp>
        <p:nvSpPr>
          <p:cNvPr id="21" name="Shape 19"/>
          <p:cNvSpPr/>
          <p:nvPr/>
        </p:nvSpPr>
        <p:spPr>
          <a:xfrm>
            <a:off x="457200" y="3291840"/>
            <a:ext cx="237744" cy="237744"/>
          </a:xfrm>
          <a:prstGeom prst="rect">
            <a:avLst/>
          </a:prstGeom>
          <a:solidFill>
            <a:srgbClr val="1C7293"/>
          </a:solidFill>
          <a:ln/>
        </p:spPr>
      </p:sp>
      <p:sp>
        <p:nvSpPr>
          <p:cNvPr id="22" name="Text 20"/>
          <p:cNvSpPr/>
          <p:nvPr/>
        </p:nvSpPr>
        <p:spPr>
          <a:xfrm>
            <a:off x="457200" y="3291840"/>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3" name="Text 21"/>
          <p:cNvSpPr/>
          <p:nvPr/>
        </p:nvSpPr>
        <p:spPr>
          <a:xfrm>
            <a:off x="749808" y="3310128"/>
            <a:ext cx="3840480" cy="237744"/>
          </a:xfrm>
          <a:prstGeom prst="rect">
            <a:avLst/>
          </a:prstGeom>
          <a:noFill/>
          <a:ln/>
        </p:spPr>
        <p:txBody>
          <a:bodyPr wrap="square" lIns="0" tIns="0" rIns="0" bIns="0" rtlCol="0" anchor="ctr"/>
          <a:lstStyle/>
          <a:p>
            <a:pPr marL="0" indent="0">
              <a:buNone/>
            </a:pPr>
            <a:r>
              <a:rPr lang="en-US" sz="950" dirty="0">
                <a:solidFill>
                  <a:srgbClr val="AACCDD"/>
                </a:solidFill>
                <a:latin typeface="Calibri" pitchFamily="34" charset="0"/>
                <a:ea typeface="Calibri" pitchFamily="34" charset="-122"/>
                <a:cs typeface="Calibri" pitchFamily="34" charset="-120"/>
              </a:rPr>
              <a:t>If models:[tiny] → write AGENTS.orig.md, return compactNeeded:true</a:t>
            </a:r>
            <a:endParaRPr lang="en-US" sz="950" dirty="0"/>
          </a:p>
        </p:txBody>
      </p:sp>
      <p:sp>
        <p:nvSpPr>
          <p:cNvPr id="24" name="Text 22"/>
          <p:cNvSpPr/>
          <p:nvPr/>
        </p:nvSpPr>
        <p:spPr>
          <a:xfrm>
            <a:off x="457200" y="3648456"/>
            <a:ext cx="4206240" cy="256032"/>
          </a:xfrm>
          <a:prstGeom prst="rect">
            <a:avLst/>
          </a:prstGeom>
          <a:noFill/>
          <a:ln/>
        </p:spPr>
        <p:txBody>
          <a:bodyPr wrap="square" lIns="0" tIns="0" rIns="0" bIns="0" rtlCol="0" anchor="ctr"/>
          <a:lstStyle/>
          <a:p>
            <a:pPr marL="0" indent="0">
              <a:buNone/>
            </a:pPr>
            <a:r>
              <a:rPr lang="en-US" sz="1200" b="1" dirty="0">
                <a:solidFill>
                  <a:srgbClr val="02C39A"/>
                </a:solidFill>
                <a:latin typeface="Courier New" pitchFamily="34" charset="0"/>
                <a:ea typeface="Courier New" pitchFamily="34" charset="-122"/>
                <a:cs typeface="Courier New" pitchFamily="34" charset="-120"/>
              </a:rPr>
              <a:t>validate_graph()</a:t>
            </a:r>
            <a:endParaRPr lang="en-US" sz="1200" dirty="0"/>
          </a:p>
        </p:txBody>
      </p:sp>
      <p:sp>
        <p:nvSpPr>
          <p:cNvPr id="25" name="Text 23"/>
          <p:cNvSpPr/>
          <p:nvPr/>
        </p:nvSpPr>
        <p:spPr>
          <a:xfrm>
            <a:off x="457200" y="3931920"/>
            <a:ext cx="4206240" cy="320040"/>
          </a:xfrm>
          <a:prstGeom prst="rect">
            <a:avLst/>
          </a:prstGeom>
          <a:noFill/>
          <a:ln/>
        </p:spPr>
        <p:txBody>
          <a:bodyPr wrap="square" lIns="0" tIns="0" rIns="0" bIns="0" rtlCol="0" anchor="ctr"/>
          <a:lstStyle/>
          <a:p>
            <a:pPr marL="0" indent="0">
              <a:buNone/>
            </a:pPr>
            <a:r>
              <a:rPr lang="en-US" sz="950" dirty="0">
                <a:solidFill>
                  <a:srgbClr val="6B8FAE"/>
                </a:solidFill>
                <a:latin typeface="Calibri" pitchFamily="34" charset="0"/>
                <a:ea typeface="Calibri" pitchFamily="34" charset="-122"/>
                <a:cs typeface="Calibri" pitchFamily="34" charset="-120"/>
              </a:rPr>
              <a:t>Ownership conflicts · upward edges · stale hashes · missing paths  →  VALID | WARNINGS | INVALID</a:t>
            </a:r>
            <a:endParaRPr lang="en-US" sz="950" dirty="0"/>
          </a:p>
        </p:txBody>
      </p:sp>
      <p:sp>
        <p:nvSpPr>
          <p:cNvPr id="26" name="Text 24"/>
          <p:cNvSpPr/>
          <p:nvPr/>
        </p:nvSpPr>
        <p:spPr>
          <a:xfrm>
            <a:off x="457200" y="4325112"/>
            <a:ext cx="4206240" cy="237744"/>
          </a:xfrm>
          <a:prstGeom prst="rect">
            <a:avLst/>
          </a:prstGeom>
          <a:noFill/>
          <a:ln/>
        </p:spPr>
        <p:txBody>
          <a:bodyPr wrap="square" lIns="0" tIns="0" rIns="0" bIns="0" rtlCol="0" anchor="ctr"/>
          <a:lstStyle/>
          <a:p>
            <a:pPr marL="0" indent="0">
              <a:buNone/>
            </a:pPr>
            <a:r>
              <a:rPr lang="en-US" sz="1100" b="1" dirty="0">
                <a:solidFill>
                  <a:srgbClr val="02C39A"/>
                </a:solidFill>
                <a:latin typeface="Courier New" pitchFamily="34" charset="0"/>
                <a:ea typeface="Courier New" pitchFamily="34" charset="-122"/>
                <a:cs typeface="Courier New" pitchFamily="34" charset="-120"/>
              </a:rPr>
              <a:t>run_agent  ·  get_status</a:t>
            </a:r>
            <a:endParaRPr lang="en-US" sz="1100" dirty="0"/>
          </a:p>
        </p:txBody>
      </p:sp>
      <p:sp>
        <p:nvSpPr>
          <p:cNvPr id="27" name="Text 25"/>
          <p:cNvSpPr/>
          <p:nvPr/>
        </p:nvSpPr>
        <p:spPr>
          <a:xfrm>
            <a:off x="457200" y="4581144"/>
            <a:ext cx="4206240" cy="347472"/>
          </a:xfrm>
          <a:prstGeom prst="rect">
            <a:avLst/>
          </a:prstGeom>
          <a:noFill/>
          <a:ln/>
        </p:spPr>
        <p:txBody>
          <a:bodyPr wrap="square" lIns="0" tIns="0" rIns="0" bIns="0" rtlCol="0" anchor="ctr"/>
          <a:lstStyle/>
          <a:p>
            <a:pPr marL="0" indent="0">
              <a:buNone/>
            </a:pPr>
            <a:r>
              <a:rPr lang="en-US" sz="900" dirty="0">
                <a:solidFill>
                  <a:srgbClr val="6B8FAE"/>
                </a:solidFill>
                <a:latin typeface="Calibri" pitchFamily="34" charset="0"/>
                <a:ea typeface="Calibri" pitchFamily="34" charset="-122"/>
                <a:cs typeface="Calibri" pitchFamily="34" charset="-120"/>
              </a:rPr>
              <a:t>run_agent executes AGENTS.md as system prompt. get_status returns last compile state and resolved chain.</a:t>
            </a:r>
            <a:endParaRPr lang="en-US" sz="900" dirty="0"/>
          </a:p>
        </p:txBody>
      </p:sp>
      <p:sp>
        <p:nvSpPr>
          <p:cNvPr id="28" name="Shape 26"/>
          <p:cNvSpPr/>
          <p:nvPr/>
        </p:nvSpPr>
        <p:spPr>
          <a:xfrm>
            <a:off x="4892040" y="1234440"/>
            <a:ext cx="4023360" cy="2331720"/>
          </a:xfrm>
          <a:prstGeom prst="rect">
            <a:avLst/>
          </a:prstGeom>
          <a:solidFill>
            <a:srgbClr val="050D18"/>
          </a:solidFill>
          <a:ln/>
        </p:spPr>
      </p:sp>
      <p:sp>
        <p:nvSpPr>
          <p:cNvPr id="29" name="Text 27"/>
          <p:cNvSpPr/>
          <p:nvPr/>
        </p:nvSpPr>
        <p:spPr>
          <a:xfrm>
            <a:off x="5029200" y="1298448"/>
            <a:ext cx="3749040" cy="2176272"/>
          </a:xfrm>
          <a:prstGeom prst="rect">
            <a:avLst/>
          </a:prstGeom>
          <a:noFill/>
          <a:ln/>
        </p:spPr>
        <p:txBody>
          <a:bodyPr wrap="square" lIns="0" tIns="0" rIns="0" bIns="0" rtlCol="0" anchor="t"/>
          <a:lstStyle/>
          <a:p>
            <a:pPr marL="0" indent="0">
              <a:lnSpc>
                <a:spcPct val="120000"/>
              </a:lnSpc>
              <a:buNone/>
            </a:pPr>
            <a:r>
              <a:rPr lang="en-US" sz="850" dirty="0">
                <a:solidFill>
                  <a:srgbClr val="7EC8A4"/>
                </a:solidFill>
                <a:latin typeface="Courier New" pitchFamily="34" charset="0"/>
                <a:ea typeface="Courier New" pitchFamily="34" charset="-122"/>
                <a:cs typeface="Courier New" pitchFamily="34" charset="-120"/>
              </a:rPr>
              <a:t>{</a:t>
            </a:r>
            <a:endParaRPr lang="en-US" sz="850" dirty="0"/>
          </a:p>
          <a:p>
            <a:pPr marL="0" indent="0">
              <a:lnSpc>
                <a:spcPct val="120000"/>
              </a:lnSpc>
              <a:buNone/>
            </a:pPr>
            <a:r>
              <a:rPr lang="en-US" sz="850" dirty="0">
                <a:solidFill>
                  <a:srgbClr val="7EC8A4"/>
                </a:solidFill>
                <a:latin typeface="Courier New" pitchFamily="34" charset="0"/>
                <a:ea typeface="Courier New" pitchFamily="34" charset="-122"/>
                <a:cs typeface="Courier New" pitchFamily="34" charset="-120"/>
              </a:rPr>
              <a:t>  "file://./agents/ads-manager/AGENT.md": {</a:t>
            </a:r>
            <a:endParaRPr lang="en-US" sz="850" dirty="0"/>
          </a:p>
          <a:p>
            <a:pPr marL="0" indent="0">
              <a:lnSpc>
                <a:spcPct val="120000"/>
              </a:lnSpc>
              <a:buNone/>
            </a:pPr>
            <a:r>
              <a:rPr lang="en-US" sz="850" dirty="0">
                <a:solidFill>
                  <a:srgbClr val="7EC8A4"/>
                </a:solidFill>
                <a:latin typeface="Courier New" pitchFamily="34" charset="0"/>
                <a:ea typeface="Courier New" pitchFamily="34" charset="-122"/>
                <a:cs typeface="Courier New" pitchFamily="34" charset="-120"/>
              </a:rPr>
              <a:t>    "sha256": "e3b0c44298fc1c149a...",</a:t>
            </a:r>
            <a:endParaRPr lang="en-US" sz="850" dirty="0"/>
          </a:p>
          <a:p>
            <a:pPr marL="0" indent="0">
              <a:lnSpc>
                <a:spcPct val="120000"/>
              </a:lnSpc>
              <a:buNone/>
            </a:pPr>
            <a:r>
              <a:rPr lang="en-US" sz="850" dirty="0">
                <a:solidFill>
                  <a:srgbClr val="7EC8A4"/>
                </a:solidFill>
                <a:latin typeface="Courier New" pitchFamily="34" charset="0"/>
                <a:ea typeface="Courier New" pitchFamily="34" charset="-122"/>
                <a:cs typeface="Courier New" pitchFamily="34" charset="-120"/>
              </a:rPr>
              <a:t>    "compiled": "2025-04-01T14:23:00Z"</a:t>
            </a:r>
            <a:endParaRPr lang="en-US" sz="850" dirty="0"/>
          </a:p>
          <a:p>
            <a:pPr marL="0" indent="0">
              <a:lnSpc>
                <a:spcPct val="120000"/>
              </a:lnSpc>
              <a:buNone/>
            </a:pPr>
            <a:r>
              <a:rPr lang="en-US" sz="850" dirty="0">
                <a:solidFill>
                  <a:srgbClr val="7EC8A4"/>
                </a:solidFill>
                <a:latin typeface="Courier New" pitchFamily="34" charset="0"/>
                <a:ea typeface="Courier New" pitchFamily="34" charset="-122"/>
                <a:cs typeface="Courier New" pitchFamily="34" charset="-120"/>
              </a:rPr>
              <a:t>  },</a:t>
            </a:r>
            <a:endParaRPr lang="en-US" sz="850" dirty="0"/>
          </a:p>
          <a:p>
            <a:pPr marL="0" indent="0">
              <a:lnSpc>
                <a:spcPct val="120000"/>
              </a:lnSpc>
              <a:buNone/>
            </a:pPr>
            <a:r>
              <a:rPr lang="en-US" sz="850" dirty="0">
                <a:solidFill>
                  <a:srgbClr val="7EC8A4"/>
                </a:solidFill>
                <a:latin typeface="Courier New" pitchFamily="34" charset="0"/>
                <a:ea typeface="Courier New" pitchFamily="34" charset="-122"/>
                <a:cs typeface="Courier New" pitchFamily="34" charset="-120"/>
              </a:rPr>
              <a:t>  "file://./roles/budget-steward/ROLE.md": {</a:t>
            </a:r>
            <a:endParaRPr lang="en-US" sz="850" dirty="0"/>
          </a:p>
          <a:p>
            <a:pPr marL="0" indent="0">
              <a:lnSpc>
                <a:spcPct val="120000"/>
              </a:lnSpc>
              <a:buNone/>
            </a:pPr>
            <a:r>
              <a:rPr lang="en-US" sz="850" dirty="0">
                <a:solidFill>
                  <a:srgbClr val="7EC8A4"/>
                </a:solidFill>
                <a:latin typeface="Courier New" pitchFamily="34" charset="0"/>
                <a:ea typeface="Courier New" pitchFamily="34" charset="-122"/>
                <a:cs typeface="Courier New" pitchFamily="34" charset="-120"/>
              </a:rPr>
              <a:t>    "sha256": "a87ff679a2f3e71d91...",</a:t>
            </a:r>
            <a:endParaRPr lang="en-US" sz="850" dirty="0"/>
          </a:p>
          <a:p>
            <a:pPr marL="0" indent="0">
              <a:lnSpc>
                <a:spcPct val="120000"/>
              </a:lnSpc>
              <a:buNone/>
            </a:pPr>
            <a:r>
              <a:rPr lang="en-US" sz="850" dirty="0">
                <a:solidFill>
                  <a:srgbClr val="7EC8A4"/>
                </a:solidFill>
                <a:latin typeface="Courier New" pitchFamily="34" charset="0"/>
                <a:ea typeface="Courier New" pitchFamily="34" charset="-122"/>
                <a:cs typeface="Courier New" pitchFamily="34" charset="-120"/>
              </a:rPr>
              <a:t>    "compiled": "2025-04-01T14:23:00Z"</a:t>
            </a:r>
            <a:endParaRPr lang="en-US" sz="850" dirty="0"/>
          </a:p>
          <a:p>
            <a:pPr marL="0" indent="0">
              <a:lnSpc>
                <a:spcPct val="120000"/>
              </a:lnSpc>
              <a:buNone/>
            </a:pPr>
            <a:r>
              <a:rPr lang="en-US" sz="850" dirty="0">
                <a:solidFill>
                  <a:srgbClr val="7EC8A4"/>
                </a:solidFill>
                <a:latin typeface="Courier New" pitchFamily="34" charset="0"/>
                <a:ea typeface="Courier New" pitchFamily="34" charset="-122"/>
                <a:cs typeface="Courier New" pitchFamily="34" charset="-120"/>
              </a:rPr>
              <a:t>  }</a:t>
            </a:r>
            <a:endParaRPr lang="en-US" sz="850" dirty="0"/>
          </a:p>
          <a:p>
            <a:pPr marL="0" indent="0">
              <a:lnSpc>
                <a:spcPct val="120000"/>
              </a:lnSpc>
              <a:buNone/>
            </a:pPr>
            <a:r>
              <a:rPr lang="en-US" sz="850" dirty="0">
                <a:solidFill>
                  <a:srgbClr val="7EC8A4"/>
                </a:solidFill>
                <a:latin typeface="Courier New" pitchFamily="34" charset="0"/>
                <a:ea typeface="Courier New" pitchFamily="34" charset="-122"/>
                <a:cs typeface="Courier New" pitchFamily="34" charset="-120"/>
              </a:rPr>
              <a:t>}</a:t>
            </a:r>
            <a:endParaRPr lang="en-US" sz="850" dirty="0"/>
          </a:p>
        </p:txBody>
      </p:sp>
      <p:sp>
        <p:nvSpPr>
          <p:cNvPr id="30" name="Text 28"/>
          <p:cNvSpPr/>
          <p:nvPr/>
        </p:nvSpPr>
        <p:spPr>
          <a:xfrm>
            <a:off x="4892040" y="3657600"/>
            <a:ext cx="4023360" cy="21945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Commit it</a:t>
            </a:r>
            <a:endParaRPr lang="en-US" sz="1050" dirty="0"/>
          </a:p>
        </p:txBody>
      </p:sp>
      <p:sp>
        <p:nvSpPr>
          <p:cNvPr id="31" name="Text 29"/>
          <p:cNvSpPr/>
          <p:nvPr/>
        </p:nvSpPr>
        <p:spPr>
          <a:xfrm>
            <a:off x="4892040" y="3877056"/>
            <a:ext cx="4023360" cy="219456"/>
          </a:xfrm>
          <a:prstGeom prst="rect">
            <a:avLst/>
          </a:prstGeom>
          <a:noFill/>
          <a:ln/>
        </p:spPr>
        <p:txBody>
          <a:bodyPr wrap="square" lIns="0" tIns="0" rIns="0" bIns="0" rtlCol="0" anchor="ctr"/>
          <a:lstStyle/>
          <a:p>
            <a:pPr marL="0" indent="0">
              <a:buNone/>
            </a:pPr>
            <a:r>
              <a:rPr lang="en-US" sz="950" dirty="0">
                <a:solidFill>
                  <a:srgbClr val="6B8FAE"/>
                </a:solidFill>
                <a:latin typeface="Calibri" pitchFamily="34" charset="0"/>
                <a:ea typeface="Calibri" pitchFamily="34" charset="-122"/>
                <a:cs typeface="Calibri" pitchFamily="34" charset="-120"/>
              </a:rPr>
              <a:t>git log agents.lock is the org chart history — auditable, diffable, rollbackable.</a:t>
            </a:r>
            <a:endParaRPr lang="en-US" sz="950" dirty="0"/>
          </a:p>
        </p:txBody>
      </p:sp>
      <p:sp>
        <p:nvSpPr>
          <p:cNvPr id="32" name="Text 30"/>
          <p:cNvSpPr/>
          <p:nvPr/>
        </p:nvSpPr>
        <p:spPr>
          <a:xfrm>
            <a:off x="4892040" y="4133088"/>
            <a:ext cx="4023360" cy="21945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Hash excludes runtime</a:t>
            </a:r>
            <a:endParaRPr lang="en-US" sz="1050" dirty="0"/>
          </a:p>
        </p:txBody>
      </p:sp>
      <p:sp>
        <p:nvSpPr>
          <p:cNvPr id="33" name="Text 31"/>
          <p:cNvSpPr/>
          <p:nvPr/>
        </p:nvSpPr>
        <p:spPr>
          <a:xfrm>
            <a:off x="4892040" y="4352544"/>
            <a:ext cx="4023360" cy="219456"/>
          </a:xfrm>
          <a:prstGeom prst="rect">
            <a:avLst/>
          </a:prstGeom>
          <a:noFill/>
          <a:ln/>
        </p:spPr>
        <p:txBody>
          <a:bodyPr wrap="square" lIns="0" tIns="0" rIns="0" bIns="0" rtlCol="0" anchor="ctr"/>
          <a:lstStyle/>
          <a:p>
            <a:pPr marL="0" indent="0">
              <a:buNone/>
            </a:pPr>
            <a:r>
              <a:rPr lang="en-US" sz="950" dirty="0">
                <a:solidFill>
                  <a:srgbClr val="6B8FAE"/>
                </a:solidFill>
                <a:latin typeface="Calibri" pitchFamily="34" charset="0"/>
                <a:ea typeface="Calibri" pitchFamily="34" charset="-122"/>
                <a:cs typeface="Calibri" pitchFamily="34" charset="-120"/>
              </a:rPr>
              <a:t>memory/ and decisions/ are not hashed. Runtime state is not identity.</a:t>
            </a:r>
            <a:endParaRPr lang="en-US" sz="950" dirty="0"/>
          </a:p>
        </p:txBody>
      </p:sp>
      <p:sp>
        <p:nvSpPr>
          <p:cNvPr id="34" name="Text 32"/>
          <p:cNvSpPr/>
          <p:nvPr/>
        </p:nvSpPr>
        <p:spPr>
          <a:xfrm>
            <a:off x="4892040" y="4608576"/>
            <a:ext cx="4023360" cy="21945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Stale detection</a:t>
            </a:r>
            <a:endParaRPr lang="en-US" sz="1050" dirty="0"/>
          </a:p>
        </p:txBody>
      </p:sp>
      <p:sp>
        <p:nvSpPr>
          <p:cNvPr id="35" name="Text 33"/>
          <p:cNvSpPr/>
          <p:nvPr/>
        </p:nvSpPr>
        <p:spPr>
          <a:xfrm>
            <a:off x="4892040" y="4828032"/>
            <a:ext cx="4023360" cy="219456"/>
          </a:xfrm>
          <a:prstGeom prst="rect">
            <a:avLst/>
          </a:prstGeom>
          <a:noFill/>
          <a:ln/>
        </p:spPr>
        <p:txBody>
          <a:bodyPr wrap="square" lIns="0" tIns="0" rIns="0" bIns="0" rtlCol="0" anchor="ctr"/>
          <a:lstStyle/>
          <a:p>
            <a:pPr marL="0" indent="0">
              <a:buNone/>
            </a:pPr>
            <a:r>
              <a:rPr lang="en-US" sz="950" dirty="0">
                <a:solidFill>
                  <a:srgbClr val="6B8FAE"/>
                </a:solidFill>
                <a:latin typeface="Calibri" pitchFamily="34" charset="0"/>
                <a:ea typeface="Calibri" pitchFamily="34" charset="-122"/>
                <a:cs typeface="Calibri" pitchFamily="34" charset="-120"/>
              </a:rPr>
              <a:t>Any node edited without recompiling raises a stale-hash flag — gate CI on validate_graph.</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Text 1"/>
          <p:cNvSpPr/>
          <p:nvPr/>
        </p:nvSpPr>
        <p:spPr>
          <a:xfrm>
            <a:off x="457200" y="201168"/>
            <a:ext cx="8229600" cy="530352"/>
          </a:xfrm>
          <a:prstGeom prst="rect">
            <a:avLst/>
          </a:prstGeom>
          <a:noFill/>
          <a:ln/>
        </p:spPr>
        <p:txBody>
          <a:bodyPr wrap="square" lIns="0" tIns="0" rIns="0" bIns="0" rtlCol="0" anchor="ctr"/>
          <a:lstStyle/>
          <a:p>
            <a:pPr marL="0" indent="0">
              <a:buNone/>
            </a:pPr>
            <a:r>
              <a:rPr lang="en-US" sz="3200" b="1" dirty="0">
                <a:solidFill>
                  <a:srgbClr val="065A82"/>
                </a:solidFill>
                <a:latin typeface="Cambria" pitchFamily="34" charset="0"/>
                <a:ea typeface="Cambria" pitchFamily="34" charset="-122"/>
                <a:cs typeface="Cambria" pitchFamily="34" charset="-120"/>
              </a:rPr>
              <a:t>Worked Example: Meta Ads Manager</a:t>
            </a:r>
            <a:endParaRPr lang="en-US" sz="3200" dirty="0"/>
          </a:p>
        </p:txBody>
      </p:sp>
      <p:sp>
        <p:nvSpPr>
          <p:cNvPr id="4" name="Text 2"/>
          <p:cNvSpPr/>
          <p:nvPr/>
        </p:nvSpPr>
        <p:spPr>
          <a:xfrm>
            <a:off x="457200" y="768096"/>
            <a:ext cx="8229600" cy="274320"/>
          </a:xfrm>
          <a:prstGeom prst="rect">
            <a:avLst/>
          </a:prstGeom>
          <a:noFill/>
          <a:ln/>
        </p:spPr>
        <p:txBody>
          <a:bodyPr wrap="square" lIns="0" tIns="0" rIns="0" bIns="0" rtlCol="0" anchor="ctr"/>
          <a:lstStyle/>
          <a:p>
            <a:pPr marL="0" indent="0">
              <a:buNone/>
            </a:pPr>
            <a:r>
              <a:rPr lang="en-US" sz="1200" i="1" dirty="0">
                <a:solidFill>
                  <a:srgbClr val="1C7293"/>
                </a:solidFill>
                <a:latin typeface="Calibri" pitchFamily="34" charset="0"/>
                <a:ea typeface="Calibri" pitchFamily="34" charset="-122"/>
                <a:cs typeface="Calibri" pitchFamily="34" charset="-120"/>
              </a:rPr>
              <a:t>1 agent · 3 roles · 4 skills (1 shared) · 1 tool    →    every OAA pattern in one graph</a:t>
            </a:r>
            <a:endParaRPr lang="en-US" sz="1200" dirty="0"/>
          </a:p>
        </p:txBody>
      </p:sp>
      <p:sp>
        <p:nvSpPr>
          <p:cNvPr id="5" name="Shape 3"/>
          <p:cNvSpPr/>
          <p:nvPr/>
        </p:nvSpPr>
        <p:spPr>
          <a:xfrm>
            <a:off x="2971800" y="1097280"/>
            <a:ext cx="3200400" cy="530352"/>
          </a:xfrm>
          <a:prstGeom prst="rect">
            <a:avLst/>
          </a:prstGeom>
          <a:solidFill>
            <a:srgbClr val="065A82"/>
          </a:solidFill>
          <a:ln/>
        </p:spPr>
      </p:sp>
      <p:sp>
        <p:nvSpPr>
          <p:cNvPr id="6" name="Text 4"/>
          <p:cNvSpPr/>
          <p:nvPr/>
        </p:nvSpPr>
        <p:spPr>
          <a:xfrm>
            <a:off x="2971800" y="1097280"/>
            <a:ext cx="3200400" cy="530352"/>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ads-manager  (agent)</a:t>
            </a:r>
            <a:endParaRPr lang="en-US" sz="1300" dirty="0"/>
          </a:p>
        </p:txBody>
      </p:sp>
      <p:sp>
        <p:nvSpPr>
          <p:cNvPr id="7" name="Shape 5"/>
          <p:cNvSpPr/>
          <p:nvPr/>
        </p:nvSpPr>
        <p:spPr>
          <a:xfrm>
            <a:off x="4544568" y="1627632"/>
            <a:ext cx="54864" cy="256032"/>
          </a:xfrm>
          <a:prstGeom prst="rect">
            <a:avLst/>
          </a:prstGeom>
          <a:solidFill>
            <a:srgbClr val="6B8FAE"/>
          </a:solidFill>
          <a:ln/>
        </p:spPr>
      </p:sp>
      <p:sp>
        <p:nvSpPr>
          <p:cNvPr id="8" name="Shape 6"/>
          <p:cNvSpPr/>
          <p:nvPr/>
        </p:nvSpPr>
        <p:spPr>
          <a:xfrm>
            <a:off x="457200" y="1883664"/>
            <a:ext cx="2606040" cy="658368"/>
          </a:xfrm>
          <a:prstGeom prst="rect">
            <a:avLst/>
          </a:prstGeom>
          <a:solidFill>
            <a:srgbClr val="1C7293"/>
          </a:solidFill>
          <a:ln/>
        </p:spPr>
      </p:sp>
      <p:sp>
        <p:nvSpPr>
          <p:cNvPr id="9" name="Text 7"/>
          <p:cNvSpPr/>
          <p:nvPr/>
        </p:nvSpPr>
        <p:spPr>
          <a:xfrm>
            <a:off x="548640" y="1929384"/>
            <a:ext cx="24231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budget-steward</a:t>
            </a:r>
            <a:endParaRPr lang="en-US" sz="1100" dirty="0"/>
          </a:p>
        </p:txBody>
      </p:sp>
      <p:sp>
        <p:nvSpPr>
          <p:cNvPr id="10" name="Text 8"/>
          <p:cNvSpPr/>
          <p:nvPr/>
        </p:nvSpPr>
        <p:spPr>
          <a:xfrm>
            <a:off x="548640" y="2212848"/>
            <a:ext cx="2423160" cy="310896"/>
          </a:xfrm>
          <a:prstGeom prst="rect">
            <a:avLst/>
          </a:prstGeom>
          <a:noFill/>
          <a:ln/>
        </p:spPr>
        <p:txBody>
          <a:bodyPr wrap="square" lIns="0" tIns="0" rIns="0" bIns="0" rtlCol="0" anchor="ctr"/>
          <a:lstStyle/>
          <a:p>
            <a:pPr marL="0" indent="0">
              <a:buNone/>
            </a:pPr>
            <a:r>
              <a:rPr lang="en-US" sz="850" dirty="0">
                <a:solidFill>
                  <a:srgbClr val="AADDEE"/>
                </a:solidFill>
                <a:latin typeface="Calibri" pitchFamily="34" charset="0"/>
                <a:ea typeface="Calibri" pitchFamily="34" charset="-122"/>
                <a:cs typeface="Calibri" pitchFamily="34" charset="-120"/>
              </a:rPr>
              <a:t>owns: campaign-budgets</a:t>
            </a:r>
            <a:endParaRPr lang="en-US" sz="850" dirty="0"/>
          </a:p>
          <a:p>
            <a:pPr marL="0" indent="0">
              <a:buNone/>
            </a:pPr>
            <a:r>
              <a:rPr lang="en-US" sz="850" dirty="0">
                <a:solidFill>
                  <a:srgbClr val="AADDEE"/>
                </a:solidFill>
                <a:latin typeface="Calibri" pitchFamily="34" charset="0"/>
                <a:ea typeface="Calibri" pitchFamily="34" charset="-122"/>
                <a:cs typeface="Calibri" pitchFamily="34" charset="-120"/>
              </a:rPr>
              <a:t>decides: budget ≤ 20%/24h</a:t>
            </a:r>
            <a:endParaRPr lang="en-US" sz="850" dirty="0"/>
          </a:p>
        </p:txBody>
      </p:sp>
      <p:sp>
        <p:nvSpPr>
          <p:cNvPr id="11" name="Shape 9"/>
          <p:cNvSpPr/>
          <p:nvPr/>
        </p:nvSpPr>
        <p:spPr>
          <a:xfrm>
            <a:off x="1709928" y="2542032"/>
            <a:ext cx="54864" cy="182880"/>
          </a:xfrm>
          <a:prstGeom prst="rect">
            <a:avLst/>
          </a:prstGeom>
          <a:solidFill>
            <a:srgbClr val="6B8FAE"/>
          </a:solidFill>
          <a:ln/>
        </p:spPr>
      </p:sp>
      <p:sp>
        <p:nvSpPr>
          <p:cNvPr id="12" name="Shape 10"/>
          <p:cNvSpPr/>
          <p:nvPr/>
        </p:nvSpPr>
        <p:spPr>
          <a:xfrm>
            <a:off x="3337560" y="1883664"/>
            <a:ext cx="2606040" cy="658368"/>
          </a:xfrm>
          <a:prstGeom prst="rect">
            <a:avLst/>
          </a:prstGeom>
          <a:solidFill>
            <a:srgbClr val="028090"/>
          </a:solidFill>
          <a:ln/>
        </p:spPr>
      </p:sp>
      <p:sp>
        <p:nvSpPr>
          <p:cNvPr id="13" name="Text 11"/>
          <p:cNvSpPr/>
          <p:nvPr/>
        </p:nvSpPr>
        <p:spPr>
          <a:xfrm>
            <a:off x="3429000" y="1929384"/>
            <a:ext cx="24231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creative-manager</a:t>
            </a:r>
            <a:endParaRPr lang="en-US" sz="1100" dirty="0"/>
          </a:p>
        </p:txBody>
      </p:sp>
      <p:sp>
        <p:nvSpPr>
          <p:cNvPr id="14" name="Text 12"/>
          <p:cNvSpPr/>
          <p:nvPr/>
        </p:nvSpPr>
        <p:spPr>
          <a:xfrm>
            <a:off x="3429000" y="2212848"/>
            <a:ext cx="2423160" cy="310896"/>
          </a:xfrm>
          <a:prstGeom prst="rect">
            <a:avLst/>
          </a:prstGeom>
          <a:noFill/>
          <a:ln/>
        </p:spPr>
        <p:txBody>
          <a:bodyPr wrap="square" lIns="0" tIns="0" rIns="0" bIns="0" rtlCol="0" anchor="ctr"/>
          <a:lstStyle/>
          <a:p>
            <a:pPr marL="0" indent="0">
              <a:buNone/>
            </a:pPr>
            <a:r>
              <a:rPr lang="en-US" sz="850" dirty="0">
                <a:solidFill>
                  <a:srgbClr val="AADDEE"/>
                </a:solidFill>
                <a:latin typeface="Calibri" pitchFamily="34" charset="0"/>
                <a:ea typeface="Calibri" pitchFamily="34" charset="-122"/>
                <a:cs typeface="Calibri" pitchFamily="34" charset="-120"/>
              </a:rPr>
              <a:t>owns: ad-creatives</a:t>
            </a:r>
            <a:endParaRPr lang="en-US" sz="850" dirty="0"/>
          </a:p>
          <a:p>
            <a:pPr marL="0" indent="0">
              <a:buNone/>
            </a:pPr>
            <a:r>
              <a:rPr lang="en-US" sz="850" dirty="0">
                <a:solidFill>
                  <a:srgbClr val="AADDEE"/>
                </a:solidFill>
                <a:latin typeface="Calibri" pitchFamily="34" charset="0"/>
                <a:ea typeface="Calibri" pitchFamily="34" charset="-122"/>
                <a:cs typeface="Calibri" pitchFamily="34" charset="-120"/>
              </a:rPr>
              <a:t>decides: pause-ad, swap-creative</a:t>
            </a:r>
            <a:endParaRPr lang="en-US" sz="850" dirty="0"/>
          </a:p>
        </p:txBody>
      </p:sp>
      <p:sp>
        <p:nvSpPr>
          <p:cNvPr id="15" name="Shape 13"/>
          <p:cNvSpPr/>
          <p:nvPr/>
        </p:nvSpPr>
        <p:spPr>
          <a:xfrm>
            <a:off x="4590288" y="2542032"/>
            <a:ext cx="54864" cy="182880"/>
          </a:xfrm>
          <a:prstGeom prst="rect">
            <a:avLst/>
          </a:prstGeom>
          <a:solidFill>
            <a:srgbClr val="6B8FAE"/>
          </a:solidFill>
          <a:ln/>
        </p:spPr>
      </p:sp>
      <p:sp>
        <p:nvSpPr>
          <p:cNvPr id="16" name="Shape 14"/>
          <p:cNvSpPr/>
          <p:nvPr/>
        </p:nvSpPr>
        <p:spPr>
          <a:xfrm>
            <a:off x="6217920" y="1883664"/>
            <a:ext cx="2606040" cy="658368"/>
          </a:xfrm>
          <a:prstGeom prst="rect">
            <a:avLst/>
          </a:prstGeom>
          <a:solidFill>
            <a:srgbClr val="1A6B8A"/>
          </a:solidFill>
          <a:ln/>
        </p:spPr>
      </p:sp>
      <p:sp>
        <p:nvSpPr>
          <p:cNvPr id="17" name="Text 15"/>
          <p:cNvSpPr/>
          <p:nvPr/>
        </p:nvSpPr>
        <p:spPr>
          <a:xfrm>
            <a:off x="6309360" y="1929384"/>
            <a:ext cx="24231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account-sentinel</a:t>
            </a:r>
            <a:endParaRPr lang="en-US" sz="1100" dirty="0"/>
          </a:p>
        </p:txBody>
      </p:sp>
      <p:sp>
        <p:nvSpPr>
          <p:cNvPr id="18" name="Text 16"/>
          <p:cNvSpPr/>
          <p:nvPr/>
        </p:nvSpPr>
        <p:spPr>
          <a:xfrm>
            <a:off x="6309360" y="2212848"/>
            <a:ext cx="2423160" cy="310896"/>
          </a:xfrm>
          <a:prstGeom prst="rect">
            <a:avLst/>
          </a:prstGeom>
          <a:noFill/>
          <a:ln/>
        </p:spPr>
        <p:txBody>
          <a:bodyPr wrap="square" lIns="0" tIns="0" rIns="0" bIns="0" rtlCol="0" anchor="ctr"/>
          <a:lstStyle/>
          <a:p>
            <a:pPr marL="0" indent="0">
              <a:buNone/>
            </a:pPr>
            <a:r>
              <a:rPr lang="en-US" sz="850" dirty="0">
                <a:solidFill>
                  <a:srgbClr val="AADDEE"/>
                </a:solidFill>
                <a:latin typeface="Calibri" pitchFamily="34" charset="0"/>
                <a:ea typeface="Calibri" pitchFamily="34" charset="-122"/>
                <a:cs typeface="Calibri" pitchFamily="34" charset="-120"/>
              </a:rPr>
              <a:t>owns: account-health</a:t>
            </a:r>
            <a:endParaRPr lang="en-US" sz="850" dirty="0"/>
          </a:p>
          <a:p>
            <a:pPr marL="0" indent="0">
              <a:buNone/>
            </a:pPr>
            <a:r>
              <a:rPr lang="en-US" sz="850" dirty="0">
                <a:solidFill>
                  <a:srgbClr val="AADDEE"/>
                </a:solidFill>
                <a:latin typeface="Calibri" pitchFamily="34" charset="0"/>
                <a:ea typeface="Calibri" pitchFamily="34" charset="-122"/>
                <a:cs typeface="Calibri" pitchFamily="34" charset="-120"/>
              </a:rPr>
              <a:t>decides: [] — pure watcher</a:t>
            </a:r>
            <a:endParaRPr lang="en-US" sz="850" dirty="0"/>
          </a:p>
        </p:txBody>
      </p:sp>
      <p:sp>
        <p:nvSpPr>
          <p:cNvPr id="19" name="Shape 17"/>
          <p:cNvSpPr/>
          <p:nvPr/>
        </p:nvSpPr>
        <p:spPr>
          <a:xfrm>
            <a:off x="7470648" y="2542032"/>
            <a:ext cx="54864" cy="182880"/>
          </a:xfrm>
          <a:prstGeom prst="rect">
            <a:avLst/>
          </a:prstGeom>
          <a:solidFill>
            <a:srgbClr val="6B8FAE"/>
          </a:solidFill>
          <a:ln/>
        </p:spPr>
      </p:sp>
      <p:sp>
        <p:nvSpPr>
          <p:cNvPr id="20" name="Shape 18"/>
          <p:cNvSpPr/>
          <p:nvPr/>
        </p:nvSpPr>
        <p:spPr>
          <a:xfrm>
            <a:off x="457200" y="2724912"/>
            <a:ext cx="8229600" cy="457200"/>
          </a:xfrm>
          <a:prstGeom prst="rect">
            <a:avLst/>
          </a:prstGeom>
          <a:solidFill>
            <a:srgbClr val="F0F8FF"/>
          </a:solidFill>
          <a:ln w="9525">
            <a:solidFill>
              <a:srgbClr val="1C7293"/>
            </a:solidFill>
            <a:prstDash val="solid"/>
          </a:ln>
        </p:spPr>
      </p:sp>
      <p:sp>
        <p:nvSpPr>
          <p:cNvPr id="21" name="Text 19"/>
          <p:cNvSpPr/>
          <p:nvPr/>
        </p:nvSpPr>
        <p:spPr>
          <a:xfrm>
            <a:off x="594360" y="2724912"/>
            <a:ext cx="7955280" cy="457200"/>
          </a:xfrm>
          <a:prstGeom prst="rect">
            <a:avLst/>
          </a:prstGeom>
          <a:noFill/>
          <a:ln/>
        </p:spPr>
        <p:txBody>
          <a:bodyPr wrap="square" lIns="0" tIns="0" rIns="0" bIns="0" rtlCol="0" anchor="ctr"/>
          <a:lstStyle/>
          <a:p>
            <a:pPr marL="0" indent="0">
              <a:buNone/>
            </a:pPr>
            <a:r>
              <a:rPr lang="en-US" sz="1100" i="1" dirty="0">
                <a:solidFill>
                  <a:srgbClr val="1C7293"/>
                </a:solidFill>
                <a:latin typeface="Calibri" pitchFamily="34" charset="0"/>
                <a:ea typeface="Calibri" pitchFamily="34" charset="-122"/>
                <a:cs typeface="Calibri" pitchFamily="34" charset="-120"/>
              </a:rPr>
              <a:t>performance-audit  (shared skill — all 3 roles require it; deduplicated to one lockfile entry)</a:t>
            </a:r>
            <a:endParaRPr lang="en-US" sz="1100" dirty="0"/>
          </a:p>
        </p:txBody>
      </p:sp>
      <p:sp>
        <p:nvSpPr>
          <p:cNvPr id="22" name="Shape 20"/>
          <p:cNvSpPr/>
          <p:nvPr/>
        </p:nvSpPr>
        <p:spPr>
          <a:xfrm>
            <a:off x="4544568" y="3182112"/>
            <a:ext cx="54864" cy="182880"/>
          </a:xfrm>
          <a:prstGeom prst="rect">
            <a:avLst/>
          </a:prstGeom>
          <a:solidFill>
            <a:srgbClr val="6B8FAE"/>
          </a:solidFill>
          <a:ln/>
        </p:spPr>
      </p:sp>
      <p:sp>
        <p:nvSpPr>
          <p:cNvPr id="23" name="Shape 21"/>
          <p:cNvSpPr/>
          <p:nvPr/>
        </p:nvSpPr>
        <p:spPr>
          <a:xfrm>
            <a:off x="457200" y="3364992"/>
            <a:ext cx="8229600" cy="548640"/>
          </a:xfrm>
          <a:prstGeom prst="rect">
            <a:avLst/>
          </a:prstGeom>
          <a:solidFill>
            <a:srgbClr val="0D1B2A"/>
          </a:solidFill>
          <a:ln/>
        </p:spPr>
      </p:sp>
      <p:sp>
        <p:nvSpPr>
          <p:cNvPr id="24" name="Text 22"/>
          <p:cNvSpPr/>
          <p:nvPr/>
        </p:nvSpPr>
        <p:spPr>
          <a:xfrm>
            <a:off x="594360" y="3383280"/>
            <a:ext cx="3657600" cy="25603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meta-ads  (tool — type: mcp)</a:t>
            </a:r>
            <a:endParaRPr lang="en-US" sz="1100" dirty="0"/>
          </a:p>
        </p:txBody>
      </p:sp>
      <p:sp>
        <p:nvSpPr>
          <p:cNvPr id="25" name="Text 23"/>
          <p:cNvSpPr/>
          <p:nvPr/>
        </p:nvSpPr>
        <p:spPr>
          <a:xfrm>
            <a:off x="594360" y="3657600"/>
            <a:ext cx="7955280" cy="219456"/>
          </a:xfrm>
          <a:prstGeom prst="rect">
            <a:avLst/>
          </a:prstGeom>
          <a:noFill/>
          <a:ln/>
        </p:spPr>
        <p:txBody>
          <a:bodyPr wrap="square" lIns="0" tIns="0" rIns="0" bIns="0" rtlCol="0" anchor="ctr"/>
          <a:lstStyle/>
          <a:p>
            <a:pPr marL="0" indent="0">
              <a:buNone/>
            </a:pPr>
            <a:r>
              <a:rPr lang="en-US" sz="950" dirty="0">
                <a:solidFill>
                  <a:srgbClr val="E05252"/>
                </a:solidFill>
                <a:latin typeface="Calibri" pitchFamily="34" charset="0"/>
                <a:ea typeface="Calibri" pitchFamily="34" charset="-122"/>
                <a:cs typeface="Calibri" pitchFamily="34" charset="-120"/>
              </a:rPr>
              <a:t>never: daily-budget-over-200 · activate-without-human-approval · modify-targeting-on-any-campaign</a:t>
            </a:r>
            <a:endParaRPr lang="en-US" sz="950" dirty="0"/>
          </a:p>
        </p:txBody>
      </p:sp>
      <p:sp>
        <p:nvSpPr>
          <p:cNvPr id="26" name="Text 24"/>
          <p:cNvSpPr/>
          <p:nvPr/>
        </p:nvSpPr>
        <p:spPr>
          <a:xfrm>
            <a:off x="457200" y="4005072"/>
            <a:ext cx="8229600" cy="228600"/>
          </a:xfrm>
          <a:prstGeom prst="rect">
            <a:avLst/>
          </a:prstGeom>
          <a:noFill/>
          <a:ln/>
        </p:spPr>
        <p:txBody>
          <a:bodyPr wrap="square" lIns="0" tIns="0" rIns="0" bIns="0" rtlCol="0" anchor="ctr"/>
          <a:lstStyle/>
          <a:p>
            <a:pPr marL="0" indent="0">
              <a:buNone/>
            </a:pPr>
            <a:r>
              <a:rPr lang="en-US" sz="1000" dirty="0">
                <a:solidFill>
                  <a:srgbClr val="2DB87A"/>
                </a:solidFill>
                <a:latin typeface="Calibri" pitchFamily="34" charset="0"/>
                <a:ea typeface="Calibri" pitchFamily="34" charset="-122"/>
                <a:cs typeface="Calibri" pitchFamily="34" charset="-120"/>
              </a:rPr>
              <a:t>Raise $100→$110?  AUTONOMOUS  (role decides ≤20%/24h; under tool $200 ceiling)</a:t>
            </a:r>
            <a:endParaRPr lang="en-US" sz="1000" dirty="0"/>
          </a:p>
        </p:txBody>
      </p:sp>
      <p:sp>
        <p:nvSpPr>
          <p:cNvPr id="27" name="Text 25"/>
          <p:cNvSpPr/>
          <p:nvPr/>
        </p:nvSpPr>
        <p:spPr>
          <a:xfrm>
            <a:off x="457200" y="4251960"/>
            <a:ext cx="8229600" cy="228600"/>
          </a:xfrm>
          <a:prstGeom prst="rect">
            <a:avLst/>
          </a:prstGeom>
          <a:noFill/>
          <a:ln/>
        </p:spPr>
        <p:txBody>
          <a:bodyPr wrap="square" lIns="0" tIns="0" rIns="0" bIns="0" rtlCol="0" anchor="ctr"/>
          <a:lstStyle/>
          <a:p>
            <a:pPr marL="0" indent="0">
              <a:buNone/>
            </a:pPr>
            <a:r>
              <a:rPr lang="en-US" sz="1000" dirty="0">
                <a:solidFill>
                  <a:srgbClr val="E05252"/>
                </a:solidFill>
                <a:latin typeface="Calibri" pitchFamily="34" charset="0"/>
                <a:ea typeface="Calibri" pitchFamily="34" charset="-122"/>
                <a:cs typeface="Calibri" pitchFamily="34" charset="-120"/>
              </a:rPr>
              <a:t>Set $250/day?    FORBIDDEN   (tool never; no role can widen)</a:t>
            </a:r>
            <a:endParaRPr lang="en-US" sz="1000" dirty="0"/>
          </a:p>
        </p:txBody>
      </p:sp>
      <p:sp>
        <p:nvSpPr>
          <p:cNvPr id="28" name="Text 26"/>
          <p:cNvSpPr/>
          <p:nvPr/>
        </p:nvSpPr>
        <p:spPr>
          <a:xfrm>
            <a:off x="457200" y="4498848"/>
            <a:ext cx="8503920" cy="228600"/>
          </a:xfrm>
          <a:prstGeom prst="rect">
            <a:avLst/>
          </a:prstGeom>
          <a:noFill/>
          <a:ln/>
        </p:spPr>
        <p:txBody>
          <a:bodyPr wrap="square" lIns="0" tIns="0" rIns="0" bIns="0" rtlCol="0" anchor="ctr"/>
          <a:lstStyle/>
          <a:p>
            <a:pPr marL="0" indent="0">
              <a:buNone/>
            </a:pPr>
            <a:r>
              <a:rPr lang="en-US" sz="1000" dirty="0">
                <a:solidFill>
                  <a:srgbClr val="E69B2F"/>
                </a:solidFill>
                <a:latin typeface="Calibri" pitchFamily="34" charset="0"/>
                <a:ea typeface="Calibri" pitchFamily="34" charset="-122"/>
                <a:cs typeface="Calibri" pitchFamily="34" charset="-120"/>
              </a:rPr>
              <a:t>New geography?   ESCALATE    (listed nowhere → default disposition; logged in decisions/)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B2A"/>
          </a:solidFill>
          <a:ln/>
        </p:spPr>
      </p:sp>
      <p:sp>
        <p:nvSpPr>
          <p:cNvPr id="3" name="Text 1"/>
          <p:cNvSpPr/>
          <p:nvPr/>
        </p:nvSpPr>
        <p:spPr>
          <a:xfrm>
            <a:off x="457200" y="256032"/>
            <a:ext cx="8229600" cy="594360"/>
          </a:xfrm>
          <a:prstGeom prst="rect">
            <a:avLst/>
          </a:prstGeom>
          <a:noFill/>
          <a:ln/>
        </p:spPr>
        <p:txBody>
          <a:bodyPr wrap="square" lIns="0" tIns="0" rIns="0" bIns="0"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The Agent Node: Agent-Only Concepts</a:t>
            </a:r>
            <a:endParaRPr lang="en-US" sz="3600" dirty="0"/>
          </a:p>
        </p:txBody>
      </p:sp>
      <p:sp>
        <p:nvSpPr>
          <p:cNvPr id="4" name="Text 2"/>
          <p:cNvSpPr/>
          <p:nvPr/>
        </p:nvSpPr>
        <p:spPr>
          <a:xfrm>
            <a:off x="457200" y="886968"/>
            <a:ext cx="8229600" cy="274320"/>
          </a:xfrm>
          <a:prstGeom prst="rect">
            <a:avLst/>
          </a:prstGeom>
          <a:noFill/>
          <a:ln/>
        </p:spPr>
        <p:txBody>
          <a:bodyPr wrap="square" lIns="0" tIns="0" rIns="0" bIns="0" rtlCol="0" anchor="ctr"/>
          <a:lstStyle/>
          <a:p>
            <a:pPr marL="0" indent="0">
              <a:buNone/>
            </a:pPr>
            <a:r>
              <a:rPr lang="en-US" sz="1300" i="1" dirty="0">
                <a:solidFill>
                  <a:srgbClr val="02C39A"/>
                </a:solidFill>
                <a:latin typeface="Calibri" pitchFamily="34" charset="0"/>
                <a:ea typeface="Calibri" pitchFamily="34" charset="-122"/>
                <a:cs typeface="Calibri" pitchFamily="34" charset="-120"/>
              </a:rPr>
              <a:t>kind: agent is the only kind with these top-level fields. The agent is the runner, not the decision-maker.</a:t>
            </a:r>
            <a:endParaRPr lang="en-US" sz="1300" dirty="0"/>
          </a:p>
        </p:txBody>
      </p:sp>
      <p:sp>
        <p:nvSpPr>
          <p:cNvPr id="5" name="Text 3"/>
          <p:cNvSpPr/>
          <p:nvPr/>
        </p:nvSpPr>
        <p:spPr>
          <a:xfrm>
            <a:off x="457200" y="1234440"/>
            <a:ext cx="4206240" cy="237744"/>
          </a:xfrm>
          <a:prstGeom prst="rect">
            <a:avLst/>
          </a:prstGeom>
          <a:noFill/>
          <a:ln/>
        </p:spPr>
        <p:txBody>
          <a:bodyPr wrap="square" lIns="0" tIns="0" rIns="0" bIns="0" rtlCol="0" anchor="ctr"/>
          <a:lstStyle/>
          <a:p>
            <a:pPr marL="0" indent="0">
              <a:buNone/>
            </a:pPr>
            <a:r>
              <a:rPr lang="en-US" sz="1050" b="1" dirty="0">
                <a:solidFill>
                  <a:srgbClr val="1C7293"/>
                </a:solidFill>
                <a:latin typeface="Courier New" pitchFamily="34" charset="0"/>
                <a:ea typeface="Courier New" pitchFamily="34" charset="-122"/>
                <a:cs typeface="Courier New" pitchFamily="34" charset="-120"/>
              </a:rPr>
              <a:t>executor: llm | remote</a:t>
            </a:r>
            <a:endParaRPr lang="en-US" sz="1050" dirty="0"/>
          </a:p>
        </p:txBody>
      </p:sp>
      <p:sp>
        <p:nvSpPr>
          <p:cNvPr id="6" name="Text 4"/>
          <p:cNvSpPr/>
          <p:nvPr/>
        </p:nvSpPr>
        <p:spPr>
          <a:xfrm>
            <a:off x="457200" y="1481328"/>
            <a:ext cx="4206240" cy="219456"/>
          </a:xfrm>
          <a:prstGeom prst="rect">
            <a:avLst/>
          </a:prstGeom>
          <a:noFill/>
          <a:ln/>
        </p:spPr>
        <p:txBody>
          <a:bodyPr wrap="square" lIns="0" tIns="0" rIns="0" bIns="0" rtlCol="0" anchor="ctr"/>
          <a:lstStyle/>
          <a:p>
            <a:pPr marL="0" indent="0">
              <a:buNone/>
            </a:pPr>
            <a:r>
              <a:rPr lang="en-US" sz="900" dirty="0">
                <a:solidFill>
                  <a:srgbClr val="6B8FAE"/>
                </a:solidFill>
                <a:latin typeface="Calibri" pitchFamily="34" charset="0"/>
                <a:ea typeface="Calibri" pitchFamily="34" charset="-122"/>
                <a:cs typeface="Calibri" pitchFamily="34" charset="-120"/>
              </a:rPr>
              <a:t>Switches transport at dispatch time. llm = AGENTS.md handed to a local LLM. remote = same file POSTed to an OpenAI-compatible endpoint. Compile output is identical.</a:t>
            </a:r>
            <a:endParaRPr lang="en-US" sz="900" dirty="0"/>
          </a:p>
        </p:txBody>
      </p:sp>
      <p:sp>
        <p:nvSpPr>
          <p:cNvPr id="7" name="Text 5"/>
          <p:cNvSpPr/>
          <p:nvPr/>
        </p:nvSpPr>
        <p:spPr>
          <a:xfrm>
            <a:off x="457200" y="1728216"/>
            <a:ext cx="4206240" cy="237744"/>
          </a:xfrm>
          <a:prstGeom prst="rect">
            <a:avLst/>
          </a:prstGeom>
          <a:noFill/>
          <a:ln/>
        </p:spPr>
        <p:txBody>
          <a:bodyPr wrap="square" lIns="0" tIns="0" rIns="0" bIns="0" rtlCol="0" anchor="ctr"/>
          <a:lstStyle/>
          <a:p>
            <a:pPr marL="0" indent="0">
              <a:buNone/>
            </a:pPr>
            <a:r>
              <a:rPr lang="en-US" sz="1050" b="1" dirty="0">
                <a:solidFill>
                  <a:srgbClr val="02C39A"/>
                </a:solidFill>
                <a:latin typeface="Courier New" pitchFamily="34" charset="0"/>
                <a:ea typeface="Courier New" pitchFamily="34" charset="-122"/>
                <a:cs typeface="Courier New" pitchFamily="34" charset="-120"/>
              </a:rPr>
              <a:t>models: [tiny]</a:t>
            </a:r>
            <a:endParaRPr lang="en-US" sz="1050" dirty="0"/>
          </a:p>
        </p:txBody>
      </p:sp>
      <p:sp>
        <p:nvSpPr>
          <p:cNvPr id="8" name="Text 6"/>
          <p:cNvSpPr/>
          <p:nvPr/>
        </p:nvSpPr>
        <p:spPr>
          <a:xfrm>
            <a:off x="457200" y="1975104"/>
            <a:ext cx="4206240" cy="219456"/>
          </a:xfrm>
          <a:prstGeom prst="rect">
            <a:avLst/>
          </a:prstGeom>
          <a:noFill/>
          <a:ln/>
        </p:spPr>
        <p:txBody>
          <a:bodyPr wrap="square" lIns="0" tIns="0" rIns="0" bIns="0" rtlCol="0" anchor="ctr"/>
          <a:lstStyle/>
          <a:p>
            <a:pPr marL="0" indent="0">
              <a:buNone/>
            </a:pPr>
            <a:r>
              <a:rPr lang="en-US" sz="900" dirty="0">
                <a:solidFill>
                  <a:srgbClr val="6B8FAE"/>
                </a:solidFill>
                <a:latin typeface="Calibri" pitchFamily="34" charset="0"/>
                <a:ea typeface="Calibri" pitchFamily="34" charset="-122"/>
                <a:cs typeface="Calibri" pitchFamily="34" charset="-120"/>
              </a:rPr>
              <a:t>Hints small-context model. Triggers Pass 2 compact rewrite — compile_agent writes AGENTS.orig.md backup and returns compactNeeded: true.</a:t>
            </a:r>
            <a:endParaRPr lang="en-US" sz="900" dirty="0"/>
          </a:p>
        </p:txBody>
      </p:sp>
      <p:sp>
        <p:nvSpPr>
          <p:cNvPr id="9" name="Text 7"/>
          <p:cNvSpPr/>
          <p:nvPr/>
        </p:nvSpPr>
        <p:spPr>
          <a:xfrm>
            <a:off x="457200" y="2221992"/>
            <a:ext cx="4206240" cy="237744"/>
          </a:xfrm>
          <a:prstGeom prst="rect">
            <a:avLst/>
          </a:prstGeom>
          <a:noFill/>
          <a:ln/>
        </p:spPr>
        <p:txBody>
          <a:bodyPr wrap="square" lIns="0" tIns="0" rIns="0" bIns="0" rtlCol="0" anchor="ctr"/>
          <a:lstStyle/>
          <a:p>
            <a:pPr marL="0" indent="0">
              <a:buNone/>
            </a:pPr>
            <a:r>
              <a:rPr lang="en-US" sz="1050" b="1" dirty="0">
                <a:solidFill>
                  <a:srgbClr val="E69B2F"/>
                </a:solidFill>
                <a:latin typeface="Courier New" pitchFamily="34" charset="0"/>
                <a:ea typeface="Courier New" pitchFamily="34" charset="-122"/>
                <a:cs typeface="Courier New" pitchFamily="34" charset="-120"/>
              </a:rPr>
              <a:t>fills:</a:t>
            </a:r>
            <a:endParaRPr lang="en-US" sz="1050" dirty="0"/>
          </a:p>
        </p:txBody>
      </p:sp>
      <p:sp>
        <p:nvSpPr>
          <p:cNvPr id="10" name="Text 8"/>
          <p:cNvSpPr/>
          <p:nvPr/>
        </p:nvSpPr>
        <p:spPr>
          <a:xfrm>
            <a:off x="457200" y="2468880"/>
            <a:ext cx="4206240" cy="219456"/>
          </a:xfrm>
          <a:prstGeom prst="rect">
            <a:avLst/>
          </a:prstGeom>
          <a:noFill/>
          <a:ln/>
        </p:spPr>
        <p:txBody>
          <a:bodyPr wrap="square" lIns="0" tIns="0" rIns="0" bIns="0" rtlCol="0" anchor="ctr"/>
          <a:lstStyle/>
          <a:p>
            <a:pPr marL="0" indent="0">
              <a:buNone/>
            </a:pPr>
            <a:r>
              <a:rPr lang="en-US" sz="900" dirty="0">
                <a:solidFill>
                  <a:srgbClr val="6B8FAE"/>
                </a:solidFill>
                <a:latin typeface="Calibri" pitchFamily="34" charset="0"/>
                <a:ea typeface="Calibri" pitchFamily="34" charset="-122"/>
                <a:cs typeface="Calibri" pitchFamily="34" charset="-120"/>
              </a:rPr>
              <a:t>Semantic alias for requires. Agents fill roles rather than generically requiring them. The resolver treats fills and requires identically.</a:t>
            </a:r>
            <a:endParaRPr lang="en-US" sz="900" dirty="0"/>
          </a:p>
        </p:txBody>
      </p:sp>
      <p:sp>
        <p:nvSpPr>
          <p:cNvPr id="11" name="Text 9"/>
          <p:cNvSpPr/>
          <p:nvPr/>
        </p:nvSpPr>
        <p:spPr>
          <a:xfrm>
            <a:off x="457200" y="2715768"/>
            <a:ext cx="4206240" cy="237744"/>
          </a:xfrm>
          <a:prstGeom prst="rect">
            <a:avLst/>
          </a:prstGeom>
          <a:noFill/>
          <a:ln/>
        </p:spPr>
        <p:txBody>
          <a:bodyPr wrap="square" lIns="0" tIns="0" rIns="0" bIns="0" rtlCol="0" anchor="ctr"/>
          <a:lstStyle/>
          <a:p>
            <a:pPr marL="0" indent="0">
              <a:buNone/>
            </a:pPr>
            <a:r>
              <a:rPr lang="en-US" sz="1050" b="1" dirty="0">
                <a:solidFill>
                  <a:srgbClr val="6B8FAE"/>
                </a:solidFill>
                <a:latin typeface="Courier New" pitchFamily="34" charset="0"/>
                <a:ea typeface="Courier New" pitchFamily="34" charset="-122"/>
                <a:cs typeface="Courier New" pitchFamily="34" charset="-120"/>
              </a:rPr>
              <a:t>metadata.schedule:</a:t>
            </a:r>
            <a:endParaRPr lang="en-US" sz="1050" dirty="0"/>
          </a:p>
        </p:txBody>
      </p:sp>
      <p:sp>
        <p:nvSpPr>
          <p:cNvPr id="12" name="Text 10"/>
          <p:cNvSpPr/>
          <p:nvPr/>
        </p:nvSpPr>
        <p:spPr>
          <a:xfrm>
            <a:off x="457200" y="2962656"/>
            <a:ext cx="4206240" cy="219456"/>
          </a:xfrm>
          <a:prstGeom prst="rect">
            <a:avLst/>
          </a:prstGeom>
          <a:noFill/>
          <a:ln/>
        </p:spPr>
        <p:txBody>
          <a:bodyPr wrap="square" lIns="0" tIns="0" rIns="0" bIns="0" rtlCol="0" anchor="ctr"/>
          <a:lstStyle/>
          <a:p>
            <a:pPr marL="0" indent="0">
              <a:buNone/>
            </a:pPr>
            <a:r>
              <a:rPr lang="en-US" sz="900" dirty="0">
                <a:solidFill>
                  <a:srgbClr val="6B8FAE"/>
                </a:solidFill>
                <a:latin typeface="Calibri" pitchFamily="34" charset="0"/>
                <a:ea typeface="Calibri" pitchFamily="34" charset="-122"/>
                <a:cs typeface="Calibri" pitchFamily="34" charset="-120"/>
              </a:rPr>
              <a:t>Cron string recording when this agent should run. OAA records the intent; host infrastructure (cron, GitHub Actions) fires the trigger.</a:t>
            </a:r>
            <a:endParaRPr lang="en-US" sz="900" dirty="0"/>
          </a:p>
        </p:txBody>
      </p:sp>
      <p:sp>
        <p:nvSpPr>
          <p:cNvPr id="13" name="Text 11"/>
          <p:cNvSpPr/>
          <p:nvPr/>
        </p:nvSpPr>
        <p:spPr>
          <a:xfrm>
            <a:off x="457200" y="3209544"/>
            <a:ext cx="4206240" cy="237744"/>
          </a:xfrm>
          <a:prstGeom prst="rect">
            <a:avLst/>
          </a:prstGeom>
          <a:noFill/>
          <a:ln/>
        </p:spPr>
        <p:txBody>
          <a:bodyPr wrap="square" lIns="0" tIns="0" rIns="0" bIns="0" rtlCol="0" anchor="ctr"/>
          <a:lstStyle/>
          <a:p>
            <a:pPr marL="0" indent="0">
              <a:buNone/>
            </a:pPr>
            <a:r>
              <a:rPr lang="en-US" sz="1050" b="1" dirty="0">
                <a:solidFill>
                  <a:srgbClr val="E05252"/>
                </a:solidFill>
                <a:latin typeface="Courier New" pitchFamily="34" charset="0"/>
                <a:ea typeface="Courier New" pitchFamily="34" charset="-122"/>
                <a:cs typeface="Courier New" pitchFamily="34" charset="-120"/>
              </a:rPr>
              <a:t>metadata.remote:</a:t>
            </a:r>
            <a:endParaRPr lang="en-US" sz="1050" dirty="0"/>
          </a:p>
        </p:txBody>
      </p:sp>
      <p:sp>
        <p:nvSpPr>
          <p:cNvPr id="14" name="Text 12"/>
          <p:cNvSpPr/>
          <p:nvPr/>
        </p:nvSpPr>
        <p:spPr>
          <a:xfrm>
            <a:off x="457200" y="3456432"/>
            <a:ext cx="4206240" cy="219456"/>
          </a:xfrm>
          <a:prstGeom prst="rect">
            <a:avLst/>
          </a:prstGeom>
          <a:noFill/>
          <a:ln/>
        </p:spPr>
        <p:txBody>
          <a:bodyPr wrap="square" lIns="0" tIns="0" rIns="0" bIns="0" rtlCol="0" anchor="ctr"/>
          <a:lstStyle/>
          <a:p>
            <a:pPr marL="0" indent="0">
              <a:buNone/>
            </a:pPr>
            <a:r>
              <a:rPr lang="en-US" sz="900" dirty="0">
                <a:solidFill>
                  <a:srgbClr val="6B8FAE"/>
                </a:solidFill>
                <a:latin typeface="Calibri" pitchFamily="34" charset="0"/>
                <a:ea typeface="Calibri" pitchFamily="34" charset="-122"/>
                <a:cs typeface="Calibri" pitchFamily="34" charset="-120"/>
              </a:rPr>
              <a:t>Required when executor: remote. Names env vars for endpoint URL, model ID, and API key. Values are never in the file — only env var names.</a:t>
            </a:r>
            <a:endParaRPr lang="en-US" sz="900" dirty="0"/>
          </a:p>
        </p:txBody>
      </p:sp>
      <p:sp>
        <p:nvSpPr>
          <p:cNvPr id="15" name="Text 13"/>
          <p:cNvSpPr/>
          <p:nvPr/>
        </p:nvSpPr>
        <p:spPr>
          <a:xfrm>
            <a:off x="457200" y="3703320"/>
            <a:ext cx="4206240" cy="237744"/>
          </a:xfrm>
          <a:prstGeom prst="rect">
            <a:avLst/>
          </a:prstGeom>
          <a:noFill/>
          <a:ln/>
        </p:spPr>
        <p:txBody>
          <a:bodyPr wrap="square" lIns="0" tIns="0" rIns="0" bIns="0" rtlCol="0" anchor="ctr"/>
          <a:lstStyle/>
          <a:p>
            <a:pPr marL="0" indent="0">
              <a:buNone/>
            </a:pPr>
            <a:r>
              <a:rPr lang="en-US" sz="1050" b="1" dirty="0">
                <a:solidFill>
                  <a:srgbClr val="02C39A"/>
                </a:solidFill>
                <a:latin typeface="Courier New" pitchFamily="34" charset="0"/>
                <a:ea typeface="Courier New" pitchFamily="34" charset="-122"/>
                <a:cs typeface="Courier New" pitchFamily="34" charset="-120"/>
              </a:rPr>
              <a:t>memory/ folder</a:t>
            </a:r>
            <a:endParaRPr lang="en-US" sz="1050" dirty="0"/>
          </a:p>
        </p:txBody>
      </p:sp>
      <p:sp>
        <p:nvSpPr>
          <p:cNvPr id="16" name="Text 14"/>
          <p:cNvSpPr/>
          <p:nvPr/>
        </p:nvSpPr>
        <p:spPr>
          <a:xfrm>
            <a:off x="457200" y="3950208"/>
            <a:ext cx="4206240" cy="219456"/>
          </a:xfrm>
          <a:prstGeom prst="rect">
            <a:avLst/>
          </a:prstGeom>
          <a:noFill/>
          <a:ln/>
        </p:spPr>
        <p:txBody>
          <a:bodyPr wrap="square" lIns="0" tIns="0" rIns="0" bIns="0" rtlCol="0" anchor="ctr"/>
          <a:lstStyle/>
          <a:p>
            <a:pPr marL="0" indent="0">
              <a:buNone/>
            </a:pPr>
            <a:r>
              <a:rPr lang="en-US" sz="900" dirty="0">
                <a:solidFill>
                  <a:srgbClr val="6B8FAE"/>
                </a:solidFill>
                <a:latin typeface="Calibri" pitchFamily="34" charset="0"/>
                <a:ea typeface="Calibri" pitchFamily="34" charset="-122"/>
                <a:cs typeface="Calibri" pitchFamily="34" charset="-120"/>
              </a:rPr>
              <a:t>State that persists between activations. Excluded from agents.lock hashing — runtime state is not identity. ontology.db lives here.</a:t>
            </a:r>
            <a:endParaRPr lang="en-US" sz="900" dirty="0"/>
          </a:p>
        </p:txBody>
      </p:sp>
      <p:sp>
        <p:nvSpPr>
          <p:cNvPr id="17" name="Shape 15"/>
          <p:cNvSpPr/>
          <p:nvPr/>
        </p:nvSpPr>
        <p:spPr>
          <a:xfrm>
            <a:off x="4937760" y="1234440"/>
            <a:ext cx="3931920" cy="2971800"/>
          </a:xfrm>
          <a:prstGeom prst="rect">
            <a:avLst/>
          </a:prstGeom>
          <a:solidFill>
            <a:srgbClr val="050D18"/>
          </a:solidFill>
          <a:ln/>
        </p:spPr>
      </p:sp>
      <p:sp>
        <p:nvSpPr>
          <p:cNvPr id="18" name="Text 16"/>
          <p:cNvSpPr/>
          <p:nvPr/>
        </p:nvSpPr>
        <p:spPr>
          <a:xfrm>
            <a:off x="5074920" y="1325880"/>
            <a:ext cx="3657600" cy="2788920"/>
          </a:xfrm>
          <a:prstGeom prst="rect">
            <a:avLst/>
          </a:prstGeom>
          <a:noFill/>
          <a:ln/>
        </p:spPr>
        <p:txBody>
          <a:bodyPr wrap="square" lIns="0" tIns="0" rIns="0" bIns="0" rtlCol="0" anchor="t"/>
          <a:lstStyle/>
          <a:p>
            <a:pPr marL="0" indent="0">
              <a:lnSpc>
                <a:spcPct val="118000"/>
              </a:lnSpc>
              <a:buNone/>
            </a:pPr>
            <a:r>
              <a:rPr lang="en-US" sz="900" dirty="0">
                <a:solidFill>
                  <a:srgbClr val="6B8FAE"/>
                </a:solidFill>
                <a:latin typeface="Courier New" pitchFamily="34" charset="0"/>
                <a:ea typeface="Courier New" pitchFamily="34" charset="-122"/>
                <a:cs typeface="Courier New" pitchFamily="34" charset="-120"/>
              </a:rPr>
              <a:t>---
</a:t>
            </a:r>
            <a:r>
              <a:rPr lang="en-US" sz="900" b="1" dirty="0">
                <a:solidFill>
                  <a:srgbClr val="1C7293"/>
                </a:solidFill>
                <a:latin typeface="Courier New" pitchFamily="34" charset="0"/>
                <a:ea typeface="Courier New" pitchFamily="34" charset="-122"/>
                <a:cs typeface="Courier New" pitchFamily="34" charset="-120"/>
              </a:rPr>
              <a:t>kind: </a:t>
            </a:r>
            <a:r>
              <a:rPr lang="en-US" sz="900" dirty="0">
                <a:solidFill>
                  <a:srgbClr val="FFFFFF"/>
                </a:solidFill>
                <a:latin typeface="Courier New" pitchFamily="34" charset="0"/>
                <a:ea typeface="Courier New" pitchFamily="34" charset="-122"/>
                <a:cs typeface="Courier New" pitchFamily="34" charset="-120"/>
              </a:rPr>
              <a:t>agent
</a:t>
            </a:r>
            <a:r>
              <a:rPr lang="en-US" sz="900" b="1" dirty="0">
                <a:solidFill>
                  <a:srgbClr val="1C7293"/>
                </a:solidFill>
                <a:latin typeface="Courier New" pitchFamily="34" charset="0"/>
                <a:ea typeface="Courier New" pitchFamily="34" charset="-122"/>
                <a:cs typeface="Courier New" pitchFamily="34" charset="-120"/>
              </a:rPr>
              <a:t>name: </a:t>
            </a:r>
            <a:r>
              <a:rPr lang="en-US" sz="900" dirty="0">
                <a:solidFill>
                  <a:srgbClr val="FFFFFF"/>
                </a:solidFill>
                <a:latin typeface="Courier New" pitchFamily="34" charset="0"/>
                <a:ea typeface="Courier New" pitchFamily="34" charset="-122"/>
                <a:cs typeface="Courier New" pitchFamily="34" charset="-120"/>
              </a:rPr>
              <a:t>ads-manager
</a:t>
            </a:r>
            <a:r>
              <a:rPr lang="en-US" sz="900" b="1" dirty="0">
                <a:solidFill>
                  <a:srgbClr val="1C7293"/>
                </a:solidFill>
                <a:latin typeface="Courier New" pitchFamily="34" charset="0"/>
                <a:ea typeface="Courier New" pitchFamily="34" charset="-122"/>
                <a:cs typeface="Courier New" pitchFamily="34" charset="-120"/>
              </a:rPr>
              <a:t>executor: </a:t>
            </a:r>
            <a:r>
              <a:rPr lang="en-US" sz="900" dirty="0">
                <a:solidFill>
                  <a:srgbClr val="E05252"/>
                </a:solidFill>
                <a:latin typeface="Courier New" pitchFamily="34" charset="0"/>
                <a:ea typeface="Courier New" pitchFamily="34" charset="-122"/>
                <a:cs typeface="Courier New" pitchFamily="34" charset="-120"/>
              </a:rPr>
              <a:t>remote
</a:t>
            </a:r>
            <a:r>
              <a:rPr lang="en-US" sz="900" b="1" dirty="0">
                <a:solidFill>
                  <a:srgbClr val="1C7293"/>
                </a:solidFill>
                <a:latin typeface="Courier New" pitchFamily="34" charset="0"/>
                <a:ea typeface="Courier New" pitchFamily="34" charset="-122"/>
                <a:cs typeface="Courier New" pitchFamily="34" charset="-120"/>
              </a:rPr>
              <a:t>models: </a:t>
            </a:r>
            <a:r>
              <a:rPr lang="en-US" sz="900" dirty="0">
                <a:solidFill>
                  <a:srgbClr val="02C39A"/>
                </a:solidFill>
                <a:latin typeface="Courier New" pitchFamily="34" charset="0"/>
                <a:ea typeface="Courier New" pitchFamily="34" charset="-122"/>
                <a:cs typeface="Courier New" pitchFamily="34" charset="-120"/>
              </a:rPr>
              <a:t>[tiny]
</a:t>
            </a:r>
            <a:r>
              <a:rPr lang="en-US" sz="900" b="1" dirty="0">
                <a:solidFill>
                  <a:srgbClr val="E69B2F"/>
                </a:solidFill>
                <a:latin typeface="Courier New" pitchFamily="34" charset="0"/>
                <a:ea typeface="Courier New" pitchFamily="34" charset="-122"/>
                <a:cs typeface="Courier New" pitchFamily="34" charset="-120"/>
              </a:rPr>
              <a:t>fills:
</a:t>
            </a:r>
            <a:r>
              <a:rPr lang="en-US" sz="900" dirty="0">
                <a:solidFill>
                  <a:srgbClr val="AACCDD"/>
                </a:solidFill>
                <a:latin typeface="Courier New" pitchFamily="34" charset="0"/>
                <a:ea typeface="Courier New" pitchFamily="34" charset="-122"/>
                <a:cs typeface="Courier New" pitchFamily="34" charset="-120"/>
              </a:rPr>
              <a:t>  - ../../roles/budget-steward
  - ../../roles/creative-manager
</a:t>
            </a:r>
            <a:r>
              <a:rPr lang="en-US" sz="900" b="1" dirty="0">
                <a:solidFill>
                  <a:srgbClr val="1C7293"/>
                </a:solidFill>
                <a:latin typeface="Courier New" pitchFamily="34" charset="0"/>
                <a:ea typeface="Courier New" pitchFamily="34" charset="-122"/>
                <a:cs typeface="Courier New" pitchFamily="34" charset="-120"/>
              </a:rPr>
              <a:t>metadata:
</a:t>
            </a:r>
            <a:r>
              <a:rPr lang="en-US" sz="900" dirty="0">
                <a:solidFill>
                  <a:srgbClr val="E05252"/>
                </a:solidFill>
                <a:latin typeface="Courier New" pitchFamily="34" charset="0"/>
                <a:ea typeface="Courier New" pitchFamily="34" charset="-122"/>
                <a:cs typeface="Courier New" pitchFamily="34" charset="-120"/>
              </a:rPr>
              <a:t>  remote:
</a:t>
            </a:r>
            <a:r>
              <a:rPr lang="en-US" sz="900" dirty="0">
                <a:solidFill>
                  <a:srgbClr val="AACCDD"/>
                </a:solidFill>
                <a:latin typeface="Courier New" pitchFamily="34" charset="0"/>
                <a:ea typeface="Courier New" pitchFamily="34" charset="-122"/>
                <a:cs typeface="Courier New" pitchFamily="34" charset="-120"/>
              </a:rPr>
              <a:t>    endpoint_env: "ADS_AI_ENDPOINT"
    model_env:    "ADS_AI_MODEL"
    auth_env:     "ADS_AI_KEY"
</a:t>
            </a:r>
            <a:r>
              <a:rPr lang="en-US" sz="900" b="1" dirty="0">
                <a:solidFill>
                  <a:srgbClr val="1C7293"/>
                </a:solidFill>
                <a:latin typeface="Courier New" pitchFamily="34" charset="0"/>
                <a:ea typeface="Courier New" pitchFamily="34" charset="-122"/>
                <a:cs typeface="Courier New" pitchFamily="34" charset="-120"/>
              </a:rPr>
              <a:t>  schedule: </a:t>
            </a:r>
            <a:r>
              <a:rPr lang="en-US" sz="900" dirty="0">
                <a:solidFill>
                  <a:srgbClr val="02C39A"/>
                </a:solidFill>
                <a:latin typeface="Courier New" pitchFamily="34" charset="0"/>
                <a:ea typeface="Courier New" pitchFamily="34" charset="-122"/>
                <a:cs typeface="Courier New" pitchFamily="34" charset="-120"/>
              </a:rPr>
              <a:t>"0 6 * * 1-5"
</a:t>
            </a:r>
            <a:r>
              <a:rPr lang="en-US" sz="900" dirty="0">
                <a:solidFill>
                  <a:srgbClr val="6B8FAE"/>
                </a:solidFill>
                <a:latin typeface="Courier New" pitchFamily="34" charset="0"/>
                <a:ea typeface="Courier New" pitchFamily="34" charset="-122"/>
                <a:cs typeface="Courier New" pitchFamily="34" charset="-120"/>
              </a:rPr>
              <a:t>---</a:t>
            </a:r>
            <a:endParaRPr lang="en-US" sz="900" dirty="0"/>
          </a:p>
        </p:txBody>
      </p:sp>
      <p:sp>
        <p:nvSpPr>
          <p:cNvPr id="19" name="Shape 17"/>
          <p:cNvSpPr/>
          <p:nvPr/>
        </p:nvSpPr>
        <p:spPr>
          <a:xfrm>
            <a:off x="457200" y="4297680"/>
            <a:ext cx="8458200" cy="685800"/>
          </a:xfrm>
          <a:prstGeom prst="rect">
            <a:avLst/>
          </a:prstGeom>
          <a:solidFill>
            <a:srgbClr val="1A0505"/>
          </a:solidFill>
          <a:ln w="12700">
            <a:solidFill>
              <a:srgbClr val="E05252"/>
            </a:solidFill>
            <a:prstDash val="solid"/>
          </a:ln>
        </p:spPr>
      </p:sp>
      <p:sp>
        <p:nvSpPr>
          <p:cNvPr id="20" name="Text 18"/>
          <p:cNvSpPr/>
          <p:nvPr/>
        </p:nvSpPr>
        <p:spPr>
          <a:xfrm>
            <a:off x="594360" y="4352544"/>
            <a:ext cx="8229600" cy="256032"/>
          </a:xfrm>
          <a:prstGeom prst="rect">
            <a:avLst/>
          </a:prstGeom>
          <a:noFill/>
          <a:ln/>
        </p:spPr>
        <p:txBody>
          <a:bodyPr wrap="square" lIns="0" tIns="0" rIns="0" bIns="0" rtlCol="0" anchor="ctr"/>
          <a:lstStyle/>
          <a:p>
            <a:pPr marL="0" indent="0">
              <a:buNone/>
            </a:pPr>
            <a:r>
              <a:rPr lang="en-US" sz="1300" b="1" dirty="0">
                <a:solidFill>
                  <a:srgbClr val="E05252"/>
                </a:solidFill>
                <a:latin typeface="Calibri" pitchFamily="34" charset="0"/>
                <a:ea typeface="Calibri" pitchFamily="34" charset="-122"/>
                <a:cs typeface="Calibri" pitchFamily="34" charset="-120"/>
              </a:rPr>
              <a:t>No authority block  =  intentional design, not an omission</a:t>
            </a:r>
            <a:endParaRPr lang="en-US" sz="1300" dirty="0"/>
          </a:p>
        </p:txBody>
      </p:sp>
      <p:sp>
        <p:nvSpPr>
          <p:cNvPr id="21" name="Text 19"/>
          <p:cNvSpPr/>
          <p:nvPr/>
        </p:nvSpPr>
        <p:spPr>
          <a:xfrm>
            <a:off x="594360" y="4617720"/>
            <a:ext cx="8229600" cy="310896"/>
          </a:xfrm>
          <a:prstGeom prst="rect">
            <a:avLst/>
          </a:prstGeom>
          <a:noFill/>
          <a:ln/>
        </p:spPr>
        <p:txBody>
          <a:bodyPr wrap="square" lIns="0" tIns="0" rIns="0" bIns="0" rtlCol="0" anchor="ctr"/>
          <a:lstStyle/>
          <a:p>
            <a:pPr marL="0" indent="0">
              <a:buNone/>
            </a:pPr>
            <a:r>
              <a:rPr lang="en-US" sz="1050" dirty="0">
                <a:solidFill>
                  <a:srgbClr val="DDBBBB"/>
                </a:solidFill>
                <a:latin typeface="Calibri" pitchFamily="34" charset="0"/>
                <a:ea typeface="Calibri" pitchFamily="34" charset="-122"/>
                <a:cs typeface="Calibri" pitchFamily="34" charset="-120"/>
              </a:rPr>
              <a:t>Decision rights belong to roles. Hard limits belong to tools. The agent is replaceable precisely because it carries none of the policy itself.</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B2A"/>
          </a:solidFill>
          <a:ln/>
        </p:spPr>
      </p:sp>
      <p:sp>
        <p:nvSpPr>
          <p:cNvPr id="3" name="Text 1"/>
          <p:cNvSpPr/>
          <p:nvPr/>
        </p:nvSpPr>
        <p:spPr>
          <a:xfrm>
            <a:off x="457200" y="256032"/>
            <a:ext cx="8229600" cy="594360"/>
          </a:xfrm>
          <a:prstGeom prst="rect">
            <a:avLst/>
          </a:prstGeom>
          <a:noFill/>
          <a:ln/>
        </p:spPr>
        <p:txBody>
          <a:bodyPr wrap="square" lIns="0" tIns="0" rIns="0" bIns="0"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Executors: llm and remote</a:t>
            </a:r>
            <a:endParaRPr lang="en-US" sz="3600" dirty="0"/>
          </a:p>
        </p:txBody>
      </p:sp>
      <p:sp>
        <p:nvSpPr>
          <p:cNvPr id="4" name="Text 2"/>
          <p:cNvSpPr/>
          <p:nvPr/>
        </p:nvSpPr>
        <p:spPr>
          <a:xfrm>
            <a:off x="457200" y="886968"/>
            <a:ext cx="8229600" cy="274320"/>
          </a:xfrm>
          <a:prstGeom prst="rect">
            <a:avLst/>
          </a:prstGeom>
          <a:noFill/>
          <a:ln/>
        </p:spPr>
        <p:txBody>
          <a:bodyPr wrap="square" lIns="0" tIns="0" rIns="0" bIns="0" rtlCol="0" anchor="ctr"/>
          <a:lstStyle/>
          <a:p>
            <a:pPr marL="0" indent="0">
              <a:buNone/>
            </a:pPr>
            <a:r>
              <a:rPr lang="en-US" sz="1300" i="1" dirty="0">
                <a:solidFill>
                  <a:srgbClr val="02C39A"/>
                </a:solidFill>
                <a:latin typeface="Calibri" pitchFamily="34" charset="0"/>
                <a:ea typeface="Calibri" pitchFamily="34" charset="-122"/>
                <a:cs typeface="Calibri" pitchFamily="34" charset="-120"/>
              </a:rPr>
              <a:t>One compiled AGENTS.md. Two transport paths. One field to switch between them.</a:t>
            </a:r>
            <a:endParaRPr lang="en-US" sz="1300" dirty="0"/>
          </a:p>
        </p:txBody>
      </p:sp>
      <p:sp>
        <p:nvSpPr>
          <p:cNvPr id="5" name="Shape 3"/>
          <p:cNvSpPr/>
          <p:nvPr/>
        </p:nvSpPr>
        <p:spPr>
          <a:xfrm>
            <a:off x="457200" y="1234440"/>
            <a:ext cx="3931920" cy="1664208"/>
          </a:xfrm>
          <a:prstGeom prst="rect">
            <a:avLst/>
          </a:prstGeom>
          <a:solidFill>
            <a:srgbClr val="065A82"/>
          </a:solidFill>
          <a:ln/>
        </p:spPr>
      </p:sp>
      <p:sp>
        <p:nvSpPr>
          <p:cNvPr id="6" name="Text 4"/>
          <p:cNvSpPr/>
          <p:nvPr/>
        </p:nvSpPr>
        <p:spPr>
          <a:xfrm>
            <a:off x="640080" y="1335024"/>
            <a:ext cx="3566160" cy="384048"/>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executor: llm</a:t>
            </a:r>
            <a:endParaRPr lang="en-US" sz="1800" dirty="0"/>
          </a:p>
        </p:txBody>
      </p:sp>
      <p:sp>
        <p:nvSpPr>
          <p:cNvPr id="7" name="Text 5"/>
          <p:cNvSpPr/>
          <p:nvPr/>
        </p:nvSpPr>
        <p:spPr>
          <a:xfrm>
            <a:off x="640080" y="1737360"/>
            <a:ext cx="3566160" cy="237744"/>
          </a:xfrm>
          <a:prstGeom prst="rect">
            <a:avLst/>
          </a:prstGeom>
          <a:noFill/>
          <a:ln/>
        </p:spPr>
        <p:txBody>
          <a:bodyPr wrap="square" lIns="0" tIns="0" rIns="0" bIns="0" rtlCol="0" anchor="ctr"/>
          <a:lstStyle/>
          <a:p>
            <a:pPr marL="0" indent="0">
              <a:buNone/>
            </a:pPr>
            <a:r>
              <a:rPr lang="en-US" sz="1100" i="1" dirty="0">
                <a:solidFill>
                  <a:srgbClr val="02C39A"/>
                </a:solidFill>
                <a:latin typeface="Calibri" pitchFamily="34" charset="0"/>
                <a:ea typeface="Calibri" pitchFamily="34" charset="-122"/>
                <a:cs typeface="Calibri" pitchFamily="34" charset="-120"/>
              </a:rPr>
              <a:t>default — local</a:t>
            </a:r>
            <a:endParaRPr lang="en-US" sz="1100" dirty="0"/>
          </a:p>
        </p:txBody>
      </p:sp>
      <p:sp>
        <p:nvSpPr>
          <p:cNvPr id="8" name="Text 6"/>
          <p:cNvSpPr/>
          <p:nvPr/>
        </p:nvSpPr>
        <p:spPr>
          <a:xfrm>
            <a:off x="640080" y="2011680"/>
            <a:ext cx="3566160" cy="804672"/>
          </a:xfrm>
          <a:prstGeom prst="rect">
            <a:avLst/>
          </a:prstGeom>
          <a:noFill/>
          <a:ln/>
        </p:spPr>
        <p:txBody>
          <a:bodyPr wrap="square" lIns="0" tIns="0" rIns="0" bIns="0" rtlCol="0" anchor="ctr"/>
          <a:lstStyle/>
          <a:p>
            <a:pPr marL="0" indent="0">
              <a:buNone/>
            </a:pPr>
            <a:r>
              <a:rPr lang="en-US" sz="1050" dirty="0">
                <a:solidFill>
                  <a:srgbClr val="AACCDD"/>
                </a:solidFill>
                <a:latin typeface="Calibri" pitchFamily="34" charset="0"/>
                <a:ea typeface="Calibri" pitchFamily="34" charset="-122"/>
                <a:cs typeface="Calibri" pitchFamily="34" charset="-120"/>
              </a:rPr>
              <a:t>compile_agent writes AGENTS.md.</a:t>
            </a:r>
            <a:endParaRPr lang="en-US" sz="1050" dirty="0"/>
          </a:p>
          <a:p>
            <a:pPr marL="0" indent="0">
              <a:buNone/>
            </a:pPr>
            <a:r>
              <a:rPr lang="en-US" sz="1050" dirty="0">
                <a:solidFill>
                  <a:srgbClr val="AACCDD"/>
                </a:solidFill>
                <a:latin typeface="Calibri" pitchFamily="34" charset="0"/>
                <a:ea typeface="Calibri" pitchFamily="34" charset="-122"/>
                <a:cs typeface="Calibri" pitchFamily="34" charset="-120"/>
              </a:rPr>
              <a:t>--system-prompt-file hands it to Claude Code</a:t>
            </a:r>
            <a:endParaRPr lang="en-US" sz="1050" dirty="0"/>
          </a:p>
          <a:p>
            <a:pPr marL="0" indent="0">
              <a:buNone/>
            </a:pPr>
            <a:r>
              <a:rPr lang="en-US" sz="1050" dirty="0">
                <a:solidFill>
                  <a:srgbClr val="AACCDD"/>
                </a:solidFill>
                <a:latin typeface="Calibri" pitchFamily="34" charset="0"/>
                <a:ea typeface="Calibri" pitchFamily="34" charset="-122"/>
                <a:cs typeface="Calibri" pitchFamily="34" charset="-120"/>
              </a:rPr>
              <a:t>as the complete operating system prompt.</a:t>
            </a:r>
            <a:endParaRPr lang="en-US" sz="1050" dirty="0"/>
          </a:p>
          <a:p>
            <a:pPr marL="0" indent="0">
              <a:buNone/>
            </a:pPr>
            <a:r>
              <a:rPr lang="en-US" sz="1050" dirty="0">
                <a:solidFill>
                  <a:srgbClr val="AACCDD"/>
                </a:solidFill>
                <a:latin typeface="Calibri" pitchFamily="34" charset="0"/>
                <a:ea typeface="Calibri" pitchFamily="34" charset="-122"/>
                <a:cs typeface="Calibri" pitchFamily="34" charset="-120"/>
              </a:rPr>
              <a:t>Agent exits when the run completes.</a:t>
            </a:r>
            <a:endParaRPr lang="en-US" sz="1050" dirty="0"/>
          </a:p>
        </p:txBody>
      </p:sp>
      <p:sp>
        <p:nvSpPr>
          <p:cNvPr id="9" name="Shape 7"/>
          <p:cNvSpPr/>
          <p:nvPr/>
        </p:nvSpPr>
        <p:spPr>
          <a:xfrm>
            <a:off x="4754880" y="1234440"/>
            <a:ext cx="3931920" cy="1664208"/>
          </a:xfrm>
          <a:prstGeom prst="rect">
            <a:avLst/>
          </a:prstGeom>
          <a:solidFill>
            <a:srgbClr val="1C7293"/>
          </a:solidFill>
          <a:ln/>
        </p:spPr>
      </p:sp>
      <p:sp>
        <p:nvSpPr>
          <p:cNvPr id="10" name="Text 8"/>
          <p:cNvSpPr/>
          <p:nvPr/>
        </p:nvSpPr>
        <p:spPr>
          <a:xfrm>
            <a:off x="4937760" y="1335024"/>
            <a:ext cx="3566160" cy="384048"/>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executor: remote</a:t>
            </a:r>
            <a:endParaRPr lang="en-US" sz="1800" dirty="0"/>
          </a:p>
        </p:txBody>
      </p:sp>
      <p:sp>
        <p:nvSpPr>
          <p:cNvPr id="11" name="Text 9"/>
          <p:cNvSpPr/>
          <p:nvPr/>
        </p:nvSpPr>
        <p:spPr>
          <a:xfrm>
            <a:off x="4937760" y="1737360"/>
            <a:ext cx="3566160" cy="237744"/>
          </a:xfrm>
          <a:prstGeom prst="rect">
            <a:avLst/>
          </a:prstGeom>
          <a:noFill/>
          <a:ln/>
        </p:spPr>
        <p:txBody>
          <a:bodyPr wrap="square" lIns="0" tIns="0" rIns="0" bIns="0" rtlCol="0" anchor="ctr"/>
          <a:lstStyle/>
          <a:p>
            <a:pPr marL="0" indent="0">
              <a:buNone/>
            </a:pPr>
            <a:r>
              <a:rPr lang="en-US" sz="1100" i="1" dirty="0">
                <a:solidFill>
                  <a:srgbClr val="02C39A"/>
                </a:solidFill>
                <a:latin typeface="Calibri" pitchFamily="34" charset="0"/>
                <a:ea typeface="Calibri" pitchFamily="34" charset="-122"/>
                <a:cs typeface="Calibri" pitchFamily="34" charset="-120"/>
              </a:rPr>
              <a:t>OpenAI-compatible endpoint</a:t>
            </a:r>
            <a:endParaRPr lang="en-US" sz="1100" dirty="0"/>
          </a:p>
        </p:txBody>
      </p:sp>
      <p:sp>
        <p:nvSpPr>
          <p:cNvPr id="12" name="Text 10"/>
          <p:cNvSpPr/>
          <p:nvPr/>
        </p:nvSpPr>
        <p:spPr>
          <a:xfrm>
            <a:off x="4937760" y="2011680"/>
            <a:ext cx="3566160" cy="804672"/>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Same AGENTS.md POSTed as system prompt.</a:t>
            </a:r>
            <a:endParaRPr lang="en-US" sz="1050" dirty="0"/>
          </a:p>
          <a:p>
            <a:pPr marL="0" indent="0">
              <a:buNone/>
            </a:pPr>
            <a:r>
              <a:rPr lang="en-US" sz="1050" dirty="0">
                <a:solidFill>
                  <a:srgbClr val="FFFFFF"/>
                </a:solidFill>
                <a:latin typeface="Calibri" pitchFamily="34" charset="0"/>
                <a:ea typeface="Calibri" pitchFamily="34" charset="-122"/>
                <a:cs typeface="Calibri" pitchFamily="34" charset="-120"/>
              </a:rPr>
              <a:t>Endpoint, model, key named via env vars</a:t>
            </a:r>
            <a:endParaRPr lang="en-US" sz="1050" dirty="0"/>
          </a:p>
          <a:p>
            <a:pPr marL="0" indent="0">
              <a:buNone/>
            </a:pPr>
            <a:r>
              <a:rPr lang="en-US" sz="1050" dirty="0">
                <a:solidFill>
                  <a:srgbClr val="FFFFFF"/>
                </a:solidFill>
                <a:latin typeface="Calibri" pitchFamily="34" charset="0"/>
                <a:ea typeface="Calibri" pitchFamily="34" charset="-122"/>
                <a:cs typeface="Calibri" pitchFamily="34" charset="-120"/>
              </a:rPr>
              <a:t>in metadata.remote. Any OpenAI-compatible</a:t>
            </a:r>
            <a:endParaRPr lang="en-US" sz="1050" dirty="0"/>
          </a:p>
          <a:p>
            <a:pPr marL="0" indent="0">
              <a:buNone/>
            </a:pPr>
            <a:r>
              <a:rPr lang="en-US" sz="1050" dirty="0">
                <a:solidFill>
                  <a:srgbClr val="FFFFFF"/>
                </a:solidFill>
                <a:latin typeface="Calibri" pitchFamily="34" charset="0"/>
                <a:ea typeface="Calibri" pitchFamily="34" charset="-122"/>
                <a:cs typeface="Calibri" pitchFamily="34" charset="-120"/>
              </a:rPr>
              <a:t>API — hosted, open-source, specialized.</a:t>
            </a:r>
            <a:endParaRPr lang="en-US" sz="1050" dirty="0"/>
          </a:p>
        </p:txBody>
      </p:sp>
      <p:sp>
        <p:nvSpPr>
          <p:cNvPr id="13" name="Text 11"/>
          <p:cNvSpPr/>
          <p:nvPr/>
        </p:nvSpPr>
        <p:spPr>
          <a:xfrm>
            <a:off x="457200" y="2990088"/>
            <a:ext cx="8229600" cy="256032"/>
          </a:xfrm>
          <a:prstGeom prst="rect">
            <a:avLst/>
          </a:prstGeom>
          <a:noFill/>
          <a:ln/>
        </p:spPr>
        <p:txBody>
          <a:bodyPr wrap="square" lIns="0" tIns="0" rIns="0" bIns="0" rtlCol="0" anchor="ctr"/>
          <a:lstStyle/>
          <a:p>
            <a:pPr marL="0" indent="0" algn="ctr">
              <a:buNone/>
            </a:pPr>
            <a:r>
              <a:rPr lang="en-US" sz="1100" i="1" dirty="0">
                <a:solidFill>
                  <a:srgbClr val="6B8FAE"/>
                </a:solidFill>
                <a:latin typeface="Calibri" pitchFamily="34" charset="0"/>
                <a:ea typeface="Calibri" pitchFamily="34" charset="-122"/>
                <a:cs typeface="Calibri" pitchFamily="34" charset="-120"/>
              </a:rPr>
              <a:t>Same compile step. Same payload. Only the transport changes. Switching: change one field.</a:t>
            </a:r>
            <a:endParaRPr lang="en-US" sz="1100" dirty="0"/>
          </a:p>
        </p:txBody>
      </p:sp>
      <p:sp>
        <p:nvSpPr>
          <p:cNvPr id="14" name="Text 12"/>
          <p:cNvSpPr/>
          <p:nvPr/>
        </p:nvSpPr>
        <p:spPr>
          <a:xfrm>
            <a:off x="457200" y="3319272"/>
            <a:ext cx="8229600" cy="347472"/>
          </a:xfrm>
          <a:prstGeom prst="rect">
            <a:avLst/>
          </a:prstGeom>
          <a:noFill/>
          <a:ln/>
        </p:spPr>
        <p:txBody>
          <a:bodyPr wrap="square" lIns="0" tIns="0" rIns="0" bIns="0" rtlCol="0" anchor="ctr"/>
          <a:lstStyle/>
          <a:p>
            <a:pPr marL="0" indent="0">
              <a:buNone/>
            </a:pPr>
            <a:r>
              <a:rPr lang="en-US" sz="1500" b="1" dirty="0">
                <a:solidFill>
                  <a:srgbClr val="E05252"/>
                </a:solidFill>
                <a:latin typeface="Cambria" pitchFamily="34" charset="0"/>
                <a:ea typeface="Cambria" pitchFamily="34" charset="-122"/>
                <a:cs typeface="Cambria" pitchFamily="34" charset="-120"/>
              </a:rPr>
              <a:t>Two Non-Negotiables for executor: remote</a:t>
            </a:r>
            <a:endParaRPr lang="en-US" sz="1500" dirty="0"/>
          </a:p>
        </p:txBody>
      </p:sp>
      <p:sp>
        <p:nvSpPr>
          <p:cNvPr id="15" name="Shape 13"/>
          <p:cNvSpPr/>
          <p:nvPr/>
        </p:nvSpPr>
        <p:spPr>
          <a:xfrm>
            <a:off x="457200" y="3721608"/>
            <a:ext cx="4160520" cy="1261872"/>
          </a:xfrm>
          <a:prstGeom prst="rect">
            <a:avLst/>
          </a:prstGeom>
          <a:solidFill>
            <a:srgbClr val="1A0505"/>
          </a:solidFill>
          <a:ln w="12700">
            <a:solidFill>
              <a:srgbClr val="E05252"/>
            </a:solidFill>
            <a:prstDash val="solid"/>
          </a:ln>
        </p:spPr>
      </p:sp>
      <p:sp>
        <p:nvSpPr>
          <p:cNvPr id="16" name="Text 14"/>
          <p:cNvSpPr/>
          <p:nvPr/>
        </p:nvSpPr>
        <p:spPr>
          <a:xfrm>
            <a:off x="594360" y="3776472"/>
            <a:ext cx="3886200" cy="274320"/>
          </a:xfrm>
          <a:prstGeom prst="rect">
            <a:avLst/>
          </a:prstGeom>
          <a:noFill/>
          <a:ln/>
        </p:spPr>
        <p:txBody>
          <a:bodyPr wrap="square" lIns="0" tIns="0" rIns="0" bIns="0" rtlCol="0" anchor="ctr"/>
          <a:lstStyle/>
          <a:p>
            <a:pPr marL="0" indent="0">
              <a:buNone/>
            </a:pPr>
            <a:r>
              <a:rPr lang="en-US" sz="1150" b="1" dirty="0">
                <a:solidFill>
                  <a:srgbClr val="E05252"/>
                </a:solidFill>
                <a:latin typeface="Calibri" pitchFamily="34" charset="0"/>
                <a:ea typeface="Calibri" pitchFamily="34" charset="-122"/>
                <a:cs typeface="Calibri" pitchFamily="34" charset="-120"/>
              </a:rPr>
              <a:t>① Authority is only as strong as the gateway</a:t>
            </a:r>
            <a:endParaRPr lang="en-US" sz="1150" dirty="0"/>
          </a:p>
        </p:txBody>
      </p:sp>
      <p:sp>
        <p:nvSpPr>
          <p:cNvPr id="17" name="Text 15"/>
          <p:cNvSpPr/>
          <p:nvPr/>
        </p:nvSpPr>
        <p:spPr>
          <a:xfrm>
            <a:off x="594360" y="4087368"/>
            <a:ext cx="3886200" cy="841248"/>
          </a:xfrm>
          <a:prstGeom prst="rect">
            <a:avLst/>
          </a:prstGeom>
          <a:noFill/>
          <a:ln/>
        </p:spPr>
        <p:txBody>
          <a:bodyPr wrap="square" lIns="0" tIns="0" rIns="0" bIns="0" rtlCol="0" anchor="ctr"/>
          <a:lstStyle/>
          <a:p>
            <a:pPr marL="0" indent="0">
              <a:buNone/>
            </a:pPr>
            <a:r>
              <a:rPr lang="en-US" sz="1000" dirty="0">
                <a:solidFill>
                  <a:srgbClr val="DDBBBB"/>
                </a:solidFill>
                <a:latin typeface="Calibri" pitchFamily="34" charset="0"/>
                <a:ea typeface="Calibri" pitchFamily="34" charset="-122"/>
                <a:cs typeface="Calibri" pitchFamily="34" charset="-120"/>
              </a:rPr>
              <a:t>A remote model can disregard its system prompt. The never list is advisory — not enforced by the runtime. The tool gateway is the ONLY hard boundary for remote agents. Put the teeth in the tool layer, not the prompt.</a:t>
            </a:r>
            <a:endParaRPr lang="en-US" sz="1000" dirty="0"/>
          </a:p>
        </p:txBody>
      </p:sp>
      <p:sp>
        <p:nvSpPr>
          <p:cNvPr id="18" name="Shape 16"/>
          <p:cNvSpPr/>
          <p:nvPr/>
        </p:nvSpPr>
        <p:spPr>
          <a:xfrm>
            <a:off x="4754880" y="3721608"/>
            <a:ext cx="4160520" cy="1261872"/>
          </a:xfrm>
          <a:prstGeom prst="rect">
            <a:avLst/>
          </a:prstGeom>
          <a:solidFill>
            <a:srgbClr val="1A0505"/>
          </a:solidFill>
          <a:ln w="12700">
            <a:solidFill>
              <a:srgbClr val="E05252"/>
            </a:solidFill>
            <a:prstDash val="solid"/>
          </a:ln>
        </p:spPr>
      </p:sp>
      <p:sp>
        <p:nvSpPr>
          <p:cNvPr id="19" name="Text 17"/>
          <p:cNvSpPr/>
          <p:nvPr/>
        </p:nvSpPr>
        <p:spPr>
          <a:xfrm>
            <a:off x="4892040" y="3776472"/>
            <a:ext cx="3886200" cy="274320"/>
          </a:xfrm>
          <a:prstGeom prst="rect">
            <a:avLst/>
          </a:prstGeom>
          <a:noFill/>
          <a:ln/>
        </p:spPr>
        <p:txBody>
          <a:bodyPr wrap="square" lIns="0" tIns="0" rIns="0" bIns="0" rtlCol="0" anchor="ctr"/>
          <a:lstStyle/>
          <a:p>
            <a:pPr marL="0" indent="0">
              <a:buNone/>
            </a:pPr>
            <a:r>
              <a:rPr lang="en-US" sz="1150" b="1" dirty="0">
                <a:solidFill>
                  <a:srgbClr val="E05252"/>
                </a:solidFill>
                <a:latin typeface="Calibri" pitchFamily="34" charset="0"/>
                <a:ea typeface="Calibri" pitchFamily="34" charset="-122"/>
                <a:cs typeface="Calibri" pitchFamily="34" charset="-120"/>
              </a:rPr>
              <a:t>② Memory schema must be fully documented</a:t>
            </a:r>
            <a:endParaRPr lang="en-US" sz="1150" dirty="0"/>
          </a:p>
        </p:txBody>
      </p:sp>
      <p:sp>
        <p:nvSpPr>
          <p:cNvPr id="20" name="Text 18"/>
          <p:cNvSpPr/>
          <p:nvPr/>
        </p:nvSpPr>
        <p:spPr>
          <a:xfrm>
            <a:off x="4892040" y="4087368"/>
            <a:ext cx="3886200" cy="841248"/>
          </a:xfrm>
          <a:prstGeom prst="rect">
            <a:avLst/>
          </a:prstGeom>
          <a:noFill/>
          <a:ln/>
        </p:spPr>
        <p:txBody>
          <a:bodyPr wrap="square" lIns="0" tIns="0" rIns="0" bIns="0" rtlCol="0" anchor="ctr"/>
          <a:lstStyle/>
          <a:p>
            <a:pPr marL="0" indent="0">
              <a:buNone/>
            </a:pPr>
            <a:r>
              <a:rPr lang="en-US" sz="1000" dirty="0">
                <a:solidFill>
                  <a:srgbClr val="DDBBBB"/>
                </a:solidFill>
                <a:latin typeface="Calibri" pitchFamily="34" charset="0"/>
                <a:ea typeface="Calibri" pitchFamily="34" charset="-122"/>
                <a:cs typeface="Calibri" pitchFamily="34" charset="-120"/>
              </a:rPr>
              <a:t>The runner injects the role memory section into the system prompt. If field names, types, or constraints are missing from ROLE.md, the remote model invents them — silently corrupting the entity store.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65A82"/>
          </a:solidFill>
          <a:ln/>
        </p:spPr>
      </p:sp>
      <p:sp>
        <p:nvSpPr>
          <p:cNvPr id="3" name="Text 1"/>
          <p:cNvSpPr/>
          <p:nvPr/>
        </p:nvSpPr>
        <p:spPr>
          <a:xfrm>
            <a:off x="457200" y="256032"/>
            <a:ext cx="8229600" cy="594360"/>
          </a:xfrm>
          <a:prstGeom prst="rect">
            <a:avLst/>
          </a:prstGeom>
          <a:noFill/>
          <a:ln/>
        </p:spPr>
        <p:txBody>
          <a:bodyPr wrap="square" lIns="0" tIns="0" rIns="0" bIns="0"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From Zero to Running Agent</a:t>
            </a:r>
            <a:endParaRPr lang="en-US" sz="3600" dirty="0"/>
          </a:p>
        </p:txBody>
      </p:sp>
      <p:sp>
        <p:nvSpPr>
          <p:cNvPr id="4" name="Text 2"/>
          <p:cNvSpPr/>
          <p:nvPr/>
        </p:nvSpPr>
        <p:spPr>
          <a:xfrm>
            <a:off x="457200" y="886968"/>
            <a:ext cx="8229600" cy="274320"/>
          </a:xfrm>
          <a:prstGeom prst="rect">
            <a:avLst/>
          </a:prstGeom>
          <a:noFill/>
          <a:ln/>
        </p:spPr>
        <p:txBody>
          <a:bodyPr wrap="square" lIns="0" tIns="0" rIns="0" bIns="0" rtlCol="0" anchor="ctr"/>
          <a:lstStyle/>
          <a:p>
            <a:pPr marL="0" indent="0">
              <a:buNone/>
            </a:pPr>
            <a:r>
              <a:rPr lang="en-US" sz="1300" i="1" dirty="0">
                <a:solidFill>
                  <a:srgbClr val="02C39A"/>
                </a:solidFill>
                <a:latin typeface="Calibri" pitchFamily="34" charset="0"/>
                <a:ea typeface="Calibri" pitchFamily="34" charset="-122"/>
                <a:cs typeface="Calibri" pitchFamily="34" charset="-120"/>
              </a:rPr>
              <a:t>Three steps. One command per step.</a:t>
            </a:r>
            <a:endParaRPr lang="en-US" sz="1300" dirty="0"/>
          </a:p>
        </p:txBody>
      </p:sp>
      <p:sp>
        <p:nvSpPr>
          <p:cNvPr id="5" name="Shape 3"/>
          <p:cNvSpPr/>
          <p:nvPr/>
        </p:nvSpPr>
        <p:spPr>
          <a:xfrm>
            <a:off x="457200" y="1271016"/>
            <a:ext cx="402336" cy="402336"/>
          </a:xfrm>
          <a:prstGeom prst="ellipse">
            <a:avLst/>
          </a:prstGeom>
          <a:solidFill>
            <a:srgbClr val="02C39A"/>
          </a:solidFill>
          <a:ln/>
        </p:spPr>
      </p:sp>
      <p:sp>
        <p:nvSpPr>
          <p:cNvPr id="6" name="Text 4"/>
          <p:cNvSpPr/>
          <p:nvPr/>
        </p:nvSpPr>
        <p:spPr>
          <a:xfrm>
            <a:off x="457200" y="1261872"/>
            <a:ext cx="402336" cy="402336"/>
          </a:xfrm>
          <a:prstGeom prst="rect">
            <a:avLst/>
          </a:prstGeom>
          <a:noFill/>
          <a:ln/>
        </p:spPr>
        <p:txBody>
          <a:bodyPr wrap="square" lIns="0" tIns="0" rIns="0" bIns="0" rtlCol="0" anchor="ctr"/>
          <a:lstStyle/>
          <a:p>
            <a:pPr marL="0" indent="0" algn="ctr">
              <a:buNone/>
            </a:pPr>
            <a:r>
              <a:rPr lang="en-US" sz="1500" b="1" dirty="0">
                <a:solidFill>
                  <a:srgbClr val="0D1B2A"/>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960120" y="1234440"/>
            <a:ext cx="786384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Install the skill</a:t>
            </a:r>
            <a:endParaRPr lang="en-US" sz="1400" dirty="0"/>
          </a:p>
        </p:txBody>
      </p:sp>
      <p:sp>
        <p:nvSpPr>
          <p:cNvPr id="8" name="Text 6"/>
          <p:cNvSpPr/>
          <p:nvPr/>
        </p:nvSpPr>
        <p:spPr>
          <a:xfrm>
            <a:off x="960120" y="1508760"/>
            <a:ext cx="7863840" cy="201168"/>
          </a:xfrm>
          <a:prstGeom prst="rect">
            <a:avLst/>
          </a:prstGeom>
          <a:noFill/>
          <a:ln/>
        </p:spPr>
        <p:txBody>
          <a:bodyPr wrap="square" lIns="0" tIns="0" rIns="0" bIns="0" rtlCol="0" anchor="ctr"/>
          <a:lstStyle/>
          <a:p>
            <a:pPr marL="0" indent="0">
              <a:buNone/>
            </a:pPr>
            <a:r>
              <a:rPr lang="en-US" sz="1000" i="1" dirty="0">
                <a:solidFill>
                  <a:srgbClr val="02C39A"/>
                </a:solidFill>
                <a:latin typeface="Calibri" pitchFamily="34" charset="0"/>
                <a:ea typeface="Calibri" pitchFamily="34" charset="-122"/>
                <a:cs typeface="Calibri" pitchFamily="34" charset="-120"/>
              </a:rPr>
              <a:t>Universal — Claude Code, Cursor, Copilot, Codex, any MCP-compatible host</a:t>
            </a:r>
            <a:endParaRPr lang="en-US" sz="1000" dirty="0"/>
          </a:p>
        </p:txBody>
      </p:sp>
      <p:sp>
        <p:nvSpPr>
          <p:cNvPr id="9" name="Shape 7"/>
          <p:cNvSpPr/>
          <p:nvPr/>
        </p:nvSpPr>
        <p:spPr>
          <a:xfrm>
            <a:off x="960120" y="1746504"/>
            <a:ext cx="7863840" cy="310896"/>
          </a:xfrm>
          <a:prstGeom prst="rect">
            <a:avLst/>
          </a:prstGeom>
          <a:solidFill>
            <a:srgbClr val="0D1B2A"/>
          </a:solidFill>
          <a:ln/>
        </p:spPr>
      </p:sp>
      <p:sp>
        <p:nvSpPr>
          <p:cNvPr id="10" name="Text 8"/>
          <p:cNvSpPr/>
          <p:nvPr/>
        </p:nvSpPr>
        <p:spPr>
          <a:xfrm>
            <a:off x="1033272" y="1764792"/>
            <a:ext cx="7717536" cy="256032"/>
          </a:xfrm>
          <a:prstGeom prst="rect">
            <a:avLst/>
          </a:prstGeom>
          <a:noFill/>
          <a:ln/>
        </p:spPr>
        <p:txBody>
          <a:bodyPr wrap="square" lIns="0" tIns="0" rIns="0" bIns="0" rtlCol="0" anchor="ctr"/>
          <a:lstStyle/>
          <a:p>
            <a:pPr marL="0" indent="0">
              <a:buNone/>
            </a:pPr>
            <a:r>
              <a:rPr lang="en-US" sz="900" dirty="0">
                <a:solidFill>
                  <a:srgbClr val="02C39A"/>
                </a:solidFill>
                <a:latin typeface="Courier New" pitchFamily="34" charset="0"/>
                <a:ea typeface="Courier New" pitchFamily="34" charset="-122"/>
                <a:cs typeface="Courier New" pitchFamily="34" charset="-120"/>
              </a:rPr>
              <a:t>npx skills add Chuck3PointZero/OAA --skill '*'</a:t>
            </a:r>
            <a:endParaRPr lang="en-US" sz="900" dirty="0"/>
          </a:p>
        </p:txBody>
      </p:sp>
      <p:sp>
        <p:nvSpPr>
          <p:cNvPr id="11" name="Text 9"/>
          <p:cNvSpPr/>
          <p:nvPr/>
        </p:nvSpPr>
        <p:spPr>
          <a:xfrm>
            <a:off x="960120" y="2093976"/>
            <a:ext cx="7863840" cy="201168"/>
          </a:xfrm>
          <a:prstGeom prst="rect">
            <a:avLst/>
          </a:prstGeom>
          <a:noFill/>
          <a:ln/>
        </p:spPr>
        <p:txBody>
          <a:bodyPr wrap="square" lIns="0" tIns="0" rIns="0" bIns="0" rtlCol="0" anchor="ctr"/>
          <a:lstStyle/>
          <a:p>
            <a:pPr marL="0" indent="0">
              <a:buNone/>
            </a:pPr>
            <a:r>
              <a:rPr lang="en-US" sz="950" i="1" dirty="0">
                <a:solidFill>
                  <a:srgbClr val="6B8FAE"/>
                </a:solidFill>
                <a:latin typeface="Calibri" pitchFamily="34" charset="0"/>
                <a:ea typeface="Calibri" pitchFamily="34" charset="-122"/>
                <a:cs typeface="Calibri" pitchFamily="34" charset="-120"/>
              </a:rPr>
              <a:t>Mention OAA or ask to create an agent hierarchy — the skill activates automatically.</a:t>
            </a:r>
            <a:endParaRPr lang="en-US" sz="950" dirty="0"/>
          </a:p>
        </p:txBody>
      </p:sp>
      <p:sp>
        <p:nvSpPr>
          <p:cNvPr id="12" name="Shape 10"/>
          <p:cNvSpPr/>
          <p:nvPr/>
        </p:nvSpPr>
        <p:spPr>
          <a:xfrm>
            <a:off x="457200" y="2432304"/>
            <a:ext cx="402336" cy="402336"/>
          </a:xfrm>
          <a:prstGeom prst="ellipse">
            <a:avLst/>
          </a:prstGeom>
          <a:solidFill>
            <a:srgbClr val="02C39A"/>
          </a:solidFill>
          <a:ln/>
        </p:spPr>
      </p:sp>
      <p:sp>
        <p:nvSpPr>
          <p:cNvPr id="13" name="Text 11"/>
          <p:cNvSpPr/>
          <p:nvPr/>
        </p:nvSpPr>
        <p:spPr>
          <a:xfrm>
            <a:off x="457200" y="2423160"/>
            <a:ext cx="402336" cy="402336"/>
          </a:xfrm>
          <a:prstGeom prst="rect">
            <a:avLst/>
          </a:prstGeom>
          <a:noFill/>
          <a:ln/>
        </p:spPr>
        <p:txBody>
          <a:bodyPr wrap="square" lIns="0" tIns="0" rIns="0" bIns="0" rtlCol="0" anchor="ctr"/>
          <a:lstStyle/>
          <a:p>
            <a:pPr marL="0" indent="0" algn="ctr">
              <a:buNone/>
            </a:pPr>
            <a:r>
              <a:rPr lang="en-US" sz="1500" b="1" dirty="0">
                <a:solidFill>
                  <a:srgbClr val="0D1B2A"/>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960120" y="2395728"/>
            <a:ext cx="786384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Add the MCP servers</a:t>
            </a:r>
            <a:endParaRPr lang="en-US" sz="1400" dirty="0"/>
          </a:p>
        </p:txBody>
      </p:sp>
      <p:sp>
        <p:nvSpPr>
          <p:cNvPr id="15" name="Text 13"/>
          <p:cNvSpPr/>
          <p:nvPr/>
        </p:nvSpPr>
        <p:spPr>
          <a:xfrm>
            <a:off x="960120" y="2670048"/>
            <a:ext cx="7863840" cy="201168"/>
          </a:xfrm>
          <a:prstGeom prst="rect">
            <a:avLst/>
          </a:prstGeom>
          <a:noFill/>
          <a:ln/>
        </p:spPr>
        <p:txBody>
          <a:bodyPr wrap="square" lIns="0" tIns="0" rIns="0" bIns="0" rtlCol="0" anchor="ctr"/>
          <a:lstStyle/>
          <a:p>
            <a:pPr marL="0" indent="0">
              <a:buNone/>
            </a:pPr>
            <a:r>
              <a:rPr lang="en-US" sz="1000" i="1" dirty="0">
                <a:solidFill>
                  <a:srgbClr val="02C39A"/>
                </a:solidFill>
                <a:latin typeface="Calibri" pitchFamily="34" charset="0"/>
                <a:ea typeface="Calibri" pitchFamily="34" charset="-122"/>
                <a:cs typeface="Calibri" pitchFamily="34" charset="-120"/>
              </a:rPr>
              <a:t>Unlocks compile_agent, validate_graph, run_agent, and domain memory</a:t>
            </a:r>
            <a:endParaRPr lang="en-US" sz="1000" dirty="0"/>
          </a:p>
        </p:txBody>
      </p:sp>
      <p:sp>
        <p:nvSpPr>
          <p:cNvPr id="16" name="Shape 14"/>
          <p:cNvSpPr/>
          <p:nvPr/>
        </p:nvSpPr>
        <p:spPr>
          <a:xfrm>
            <a:off x="960120" y="2907792"/>
            <a:ext cx="7863840" cy="493776"/>
          </a:xfrm>
          <a:prstGeom prst="rect">
            <a:avLst/>
          </a:prstGeom>
          <a:solidFill>
            <a:srgbClr val="0D1B2A"/>
          </a:solidFill>
          <a:ln/>
        </p:spPr>
      </p:sp>
      <p:sp>
        <p:nvSpPr>
          <p:cNvPr id="17" name="Text 15"/>
          <p:cNvSpPr/>
          <p:nvPr/>
        </p:nvSpPr>
        <p:spPr>
          <a:xfrm>
            <a:off x="1033272" y="2926080"/>
            <a:ext cx="7717536" cy="438912"/>
          </a:xfrm>
          <a:prstGeom prst="rect">
            <a:avLst/>
          </a:prstGeom>
          <a:noFill/>
          <a:ln/>
        </p:spPr>
        <p:txBody>
          <a:bodyPr wrap="square" lIns="0" tIns="0" rIns="0" bIns="0" rtlCol="0" anchor="t"/>
          <a:lstStyle/>
          <a:p>
            <a:pPr marL="0" indent="0">
              <a:buNone/>
            </a:pPr>
            <a:r>
              <a:rPr lang="en-US" sz="800" dirty="0">
                <a:solidFill>
                  <a:srgbClr val="02C39A"/>
                </a:solidFill>
                <a:latin typeface="Courier New" pitchFamily="34" charset="0"/>
                <a:ea typeface="Courier New" pitchFamily="34" charset="-122"/>
                <a:cs typeface="Courier New" pitchFamily="34" charset="-120"/>
              </a:rPr>
              <a:t>claude mcp add oaa-harness -- npx -y github:Chuck3PointZero/OAA#v0.4.0:harness</a:t>
            </a:r>
            <a:endParaRPr lang="en-US" sz="800" dirty="0"/>
          </a:p>
          <a:p>
            <a:pPr marL="0" indent="0">
              <a:buNone/>
            </a:pPr>
            <a:r>
              <a:rPr lang="en-US" sz="800" dirty="0">
                <a:solidFill>
                  <a:srgbClr val="02C39A"/>
                </a:solidFill>
                <a:latin typeface="Courier New" pitchFamily="34" charset="0"/>
                <a:ea typeface="Courier New" pitchFamily="34" charset="-122"/>
                <a:cs typeface="Courier New" pitchFamily="34" charset="-120"/>
              </a:rPr>
              <a:t>claude mcp add oaa-ontology -- env NODE_OPTIONS=--experimental-sqlite npx -y github:Chuck3PointZero/OAA#v0.4.0:ontology</a:t>
            </a:r>
            <a:endParaRPr lang="en-US" sz="800" dirty="0"/>
          </a:p>
        </p:txBody>
      </p:sp>
      <p:sp>
        <p:nvSpPr>
          <p:cNvPr id="18" name="Text 16"/>
          <p:cNvSpPr/>
          <p:nvPr/>
        </p:nvSpPr>
        <p:spPr>
          <a:xfrm>
            <a:off x="960120" y="3438144"/>
            <a:ext cx="7863840" cy="201168"/>
          </a:xfrm>
          <a:prstGeom prst="rect">
            <a:avLst/>
          </a:prstGeom>
          <a:noFill/>
          <a:ln/>
        </p:spPr>
        <p:txBody>
          <a:bodyPr wrap="square" lIns="0" tIns="0" rIns="0" bIns="0" rtlCol="0" anchor="ctr"/>
          <a:lstStyle/>
          <a:p>
            <a:pPr marL="0" indent="0">
              <a:buNone/>
            </a:pPr>
            <a:r>
              <a:rPr lang="en-US" sz="950" i="1" dirty="0">
                <a:solidFill>
                  <a:srgbClr val="6B8FAE"/>
                </a:solidFill>
                <a:latin typeface="Calibri" pitchFamily="34" charset="0"/>
                <a:ea typeface="Calibri" pitchFamily="34" charset="-122"/>
                <a:cs typeface="Calibri" pitchFamily="34" charset="-120"/>
              </a:rPr>
              <a:t>oaa-ontology requires Node 22.5+. Adds the SQLite domain vocabulary store for derived concept queries.</a:t>
            </a:r>
            <a:endParaRPr lang="en-US" sz="950" dirty="0"/>
          </a:p>
        </p:txBody>
      </p:sp>
      <p:sp>
        <p:nvSpPr>
          <p:cNvPr id="19" name="Shape 17"/>
          <p:cNvSpPr/>
          <p:nvPr/>
        </p:nvSpPr>
        <p:spPr>
          <a:xfrm>
            <a:off x="457200" y="3694176"/>
            <a:ext cx="402336" cy="402336"/>
          </a:xfrm>
          <a:prstGeom prst="ellipse">
            <a:avLst/>
          </a:prstGeom>
          <a:solidFill>
            <a:srgbClr val="02C39A"/>
          </a:solidFill>
          <a:ln/>
        </p:spPr>
      </p:sp>
      <p:sp>
        <p:nvSpPr>
          <p:cNvPr id="20" name="Text 18"/>
          <p:cNvSpPr/>
          <p:nvPr/>
        </p:nvSpPr>
        <p:spPr>
          <a:xfrm>
            <a:off x="457200" y="3685032"/>
            <a:ext cx="402336" cy="402336"/>
          </a:xfrm>
          <a:prstGeom prst="rect">
            <a:avLst/>
          </a:prstGeom>
          <a:noFill/>
          <a:ln/>
        </p:spPr>
        <p:txBody>
          <a:bodyPr wrap="square" lIns="0" tIns="0" rIns="0" bIns="0" rtlCol="0" anchor="ctr"/>
          <a:lstStyle/>
          <a:p>
            <a:pPr marL="0" indent="0" algn="ctr">
              <a:buNone/>
            </a:pPr>
            <a:r>
              <a:rPr lang="en-US" sz="1500" b="1" dirty="0">
                <a:solidFill>
                  <a:srgbClr val="0D1B2A"/>
                </a:solidFill>
                <a:latin typeface="Calibri" pitchFamily="34" charset="0"/>
                <a:ea typeface="Calibri" pitchFamily="34" charset="-122"/>
                <a:cs typeface="Calibri" pitchFamily="34" charset="-120"/>
              </a:rPr>
              <a:t>3</a:t>
            </a:r>
            <a:endParaRPr lang="en-US" sz="1500" dirty="0"/>
          </a:p>
        </p:txBody>
      </p:sp>
      <p:sp>
        <p:nvSpPr>
          <p:cNvPr id="21" name="Text 19"/>
          <p:cNvSpPr/>
          <p:nvPr/>
        </p:nvSpPr>
        <p:spPr>
          <a:xfrm>
            <a:off x="960120" y="3657600"/>
            <a:ext cx="786384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Compile and run</a:t>
            </a:r>
            <a:endParaRPr lang="en-US" sz="1400" dirty="0"/>
          </a:p>
        </p:txBody>
      </p:sp>
      <p:sp>
        <p:nvSpPr>
          <p:cNvPr id="22" name="Text 20"/>
          <p:cNvSpPr/>
          <p:nvPr/>
        </p:nvSpPr>
        <p:spPr>
          <a:xfrm>
            <a:off x="960120" y="3931920"/>
            <a:ext cx="7863840" cy="201168"/>
          </a:xfrm>
          <a:prstGeom prst="rect">
            <a:avLst/>
          </a:prstGeom>
          <a:noFill/>
          <a:ln/>
        </p:spPr>
        <p:txBody>
          <a:bodyPr wrap="square" lIns="0" tIns="0" rIns="0" bIns="0" rtlCol="0" anchor="ctr"/>
          <a:lstStyle/>
          <a:p>
            <a:pPr marL="0" indent="0">
              <a:buNone/>
            </a:pPr>
            <a:r>
              <a:rPr lang="en-US" sz="1000" i="1" dirty="0">
                <a:solidFill>
                  <a:srgbClr val="02C39A"/>
                </a:solidFill>
                <a:latin typeface="Calibri" pitchFamily="34" charset="0"/>
                <a:ea typeface="Calibri" pitchFamily="34" charset="-122"/>
                <a:cs typeface="Calibri" pitchFamily="34" charset="-120"/>
              </a:rPr>
              <a:t>AGENTS.md IS the payload — hand it to any LLM as its complete operating instructions</a:t>
            </a:r>
            <a:endParaRPr lang="en-US" sz="1000" dirty="0"/>
          </a:p>
        </p:txBody>
      </p:sp>
      <p:sp>
        <p:nvSpPr>
          <p:cNvPr id="23" name="Shape 21"/>
          <p:cNvSpPr/>
          <p:nvPr/>
        </p:nvSpPr>
        <p:spPr>
          <a:xfrm>
            <a:off x="960120" y="4169664"/>
            <a:ext cx="7863840" cy="310896"/>
          </a:xfrm>
          <a:prstGeom prst="rect">
            <a:avLst/>
          </a:prstGeom>
          <a:solidFill>
            <a:srgbClr val="0D1B2A"/>
          </a:solidFill>
          <a:ln/>
        </p:spPr>
      </p:sp>
      <p:sp>
        <p:nvSpPr>
          <p:cNvPr id="24" name="Text 22"/>
          <p:cNvSpPr/>
          <p:nvPr/>
        </p:nvSpPr>
        <p:spPr>
          <a:xfrm>
            <a:off x="1033272" y="4187952"/>
            <a:ext cx="7717536" cy="256032"/>
          </a:xfrm>
          <a:prstGeom prst="rect">
            <a:avLst/>
          </a:prstGeom>
          <a:noFill/>
          <a:ln/>
        </p:spPr>
        <p:txBody>
          <a:bodyPr wrap="square" lIns="0" tIns="0" rIns="0" bIns="0" rtlCol="0" anchor="ctr"/>
          <a:lstStyle/>
          <a:p>
            <a:pPr marL="0" indent="0">
              <a:buNone/>
            </a:pPr>
            <a:r>
              <a:rPr lang="en-US" sz="850" dirty="0">
                <a:solidFill>
                  <a:srgbClr val="02C39A"/>
                </a:solidFill>
                <a:latin typeface="Courier New" pitchFamily="34" charset="0"/>
                <a:ea typeface="Courier New" pitchFamily="34" charset="-122"/>
                <a:cs typeface="Courier New" pitchFamily="34" charset="-120"/>
              </a:rPr>
              <a:t>claude -p "Begin." --permission-mode dontAsk --system-prompt-file AGENTS.md --mcp-config mcp-config.json --strict-mcp-config</a:t>
            </a:r>
            <a:endParaRPr lang="en-US" sz="850" dirty="0"/>
          </a:p>
        </p:txBody>
      </p:sp>
      <p:sp>
        <p:nvSpPr>
          <p:cNvPr id="25" name="Text 23"/>
          <p:cNvSpPr/>
          <p:nvPr/>
        </p:nvSpPr>
        <p:spPr>
          <a:xfrm>
            <a:off x="960120" y="4517136"/>
            <a:ext cx="7863840" cy="201168"/>
          </a:xfrm>
          <a:prstGeom prst="rect">
            <a:avLst/>
          </a:prstGeom>
          <a:noFill/>
          <a:ln/>
        </p:spPr>
        <p:txBody>
          <a:bodyPr wrap="square" lIns="0" tIns="0" rIns="0" bIns="0" rtlCol="0" anchor="ctr"/>
          <a:lstStyle/>
          <a:p>
            <a:pPr marL="0" indent="0">
              <a:buNone/>
            </a:pPr>
            <a:r>
              <a:rPr lang="en-US" sz="950" i="1" dirty="0">
                <a:solidFill>
                  <a:srgbClr val="6B8FAE"/>
                </a:solidFill>
                <a:latin typeface="Calibri" pitchFamily="34" charset="0"/>
                <a:ea typeface="Calibri" pitchFamily="34" charset="-122"/>
                <a:cs typeface="Calibri" pitchFamily="34" charset="-120"/>
              </a:rPr>
              <a:t>--system-prompt-file REPLACES the default prompt. --strict-mcp-config scopes tools to exactly what AGENTS.md names.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3461</Words>
  <Application>Microsoft Office PowerPoint</Application>
  <PresentationFormat>On-screen Show (16:9)</PresentationFormat>
  <Paragraphs>307</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Organizational Agent Architecture — Tutorial</dc:title>
  <dc:subject>PptxGenJS Presentation</dc:subject>
  <dc:creator>PptxGenJS</dc:creator>
  <cp:lastModifiedBy>Chuck Kosta</cp:lastModifiedBy>
  <cp:revision>2</cp:revision>
  <dcterms:created xsi:type="dcterms:W3CDTF">2026-07-17T10:43:26Z</dcterms:created>
  <dcterms:modified xsi:type="dcterms:W3CDTF">2026-07-17T11:02:21Z</dcterms:modified>
</cp:coreProperties>
</file>